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0:00–0:15</a:t>
            </a:r>
          </a:p>
          <a:p/>
          <a:p>
            <a:r>
              <a:t>ENGLISH SCRIPT</a:t>
            </a:r>
          </a:p>
          <a:p>
            <a:r>
              <a:t>Hello, I’m presenting Shared Campus, a multiplayer campus map that offers small, low-pressure ways for people to connect through their phones and a public display.</a:t>
            </a:r>
          </a:p>
          <a:p/>
          <a:p>
            <a:r>
              <a:t>中文理解版</a:t>
            </a:r>
          </a:p>
          <a:p>
            <a:r>
              <a:t>大家好，今天展示的是 Shared Campus：一个希望降低初次交流压力的多人校园地图。参与者用自己的手机加入，在公共大屏上看见彼此，并选择一个简短的共同活动。</a:t>
            </a:r>
          </a:p>
          <a:p/>
          <a:p>
            <a:r>
              <a:t>PRESENTER CUE</a:t>
            </a:r>
          </a:p>
          <a:p>
            <a:r>
              <a:t>介绍项目，不要逐个列举功能。填上你的名字。</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0:15–0:35</a:t>
            </a:r>
          </a:p>
          <a:p/>
          <a:p>
            <a:r>
              <a:t>ENGLISH SCRIPT</a:t>
            </a:r>
          </a:p>
          <a:p>
            <a:r>
              <a:t>My primary focus is connection, particularly between international students who do not yet know each other. A shared action can make the first interaction easier. Playful outcomes support joy, while wishes invite reflection. These are design intentions, not measured social outcomes.</a:t>
            </a:r>
          </a:p>
          <a:p/>
          <a:p>
            <a:r>
              <a:t>中文理解版</a:t>
            </a:r>
          </a:p>
          <a:p>
            <a:r>
              <a:t>核心社会目标是连接，特别是不熟悉彼此的国际学生之间的第一次互动。我没有要求陌生人先开口聊天，而是提供可以共同完成的小事。趣味结果带来快乐，许愿树提供表达与反思的空间。这些是设计目标，不代表已经测量并证明能改善孤独感或归属感。</a:t>
            </a:r>
          </a:p>
          <a:p/>
          <a:p>
            <a:r>
              <a:t>PRESENTER CUE</a:t>
            </a:r>
          </a:p>
          <a:p>
            <a:r>
              <a:t>清楚说出 Connection 是主要焦点；不要把设计动机说成调研结论。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0:35–0:50</a:t>
            </a:r>
          </a:p>
          <a:p/>
          <a:p>
            <a:r>
              <a:t>ENGLISH SCRIPT</a:t>
            </a:r>
          </a:p>
          <a:p>
            <a:r>
              <a:t>Visitors scan a QR code, choose a nickname and avatar, then explore. Each phone follows its own player; the public screen shows the shared world. One short encounter is designed to fit within about two minutes.</a:t>
            </a:r>
          </a:p>
          <a:p/>
          <a:p>
            <a:r>
              <a:t>中文理解版</a:t>
            </a:r>
          </a:p>
          <a:p>
            <a:r>
              <a:t>入口流程很简单：扫码、选择昵称和角色、进入地图。公共大屏让参与者看见彼此，手机则跟随自己的角色。第一次简短互动以约两分钟内为目标。参与者可以合作、留言许愿、听琴，也可以先观察。</a:t>
            </a:r>
          </a:p>
          <a:p/>
          <a:p>
            <a:r>
              <a:t>PRESENTER CUE</a:t>
            </a:r>
          </a:p>
          <a:p>
            <a:r>
              <a:t>指出“两分钟”指一次简短参与，不是要求在两分钟内体验完全部地图。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0:50–1:20</a:t>
            </a:r>
          </a:p>
          <a:p/>
          <a:p>
            <a:r>
              <a:t>ENGLISH SCRIPT</a:t>
            </a:r>
          </a:p>
          <a:p>
            <a:r>
              <a:t>Players choose from three characters and see each other moving independently. Chat appears above their heads and clears after five seconds. At the wishing tree, anyone can hang a wish. Others see a short, swaying preview, open the full note with its nickname and date, and add a blessing.</a:t>
            </a:r>
          </a:p>
          <a:p/>
          <a:p>
            <a:r>
              <a:t>中文理解版</a:t>
            </a:r>
          </a:p>
          <a:p>
            <a:r>
              <a:t>玩家选择三种角色，在同一地图里独立移动、看见彼此。聊天气泡显示在头顶，5秒后消失。许愿树支持挂愿望；其他人可看简短摆动预览，点开完整内容、昵称与日期，并送上祝福。</a:t>
            </a:r>
          </a:p>
          <a:p/>
          <a:p>
            <a:r>
              <a:t>PRESENTER CUE</a:t>
            </a:r>
          </a:p>
          <a:p>
            <a:r>
              <a:t>强调聊天与许愿是两种不同的表达：即时交流与保留在树上的留言。纸条仅预览4–5个英文词；每人对同一愿望祝福一次。</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1:20–1:50</a:t>
            </a:r>
          </a:p>
          <a:p/>
          <a:p>
            <a:r>
              <a:t>ENGLISH SCRIPT</a:t>
            </a:r>
          </a:p>
          <a:p>
            <a:r>
              <a:t>The drink shop matches two named players. They alternate four choices, with three options at each stage, then receive the same named drink. Fishing requires a different cooperation: one player moves the float vertically, the other horizontally. Staying over the ripples builds progress. Success reveals one of four named fish; failure offers another try.</a:t>
            </a:r>
          </a:p>
          <a:p/>
          <a:p>
            <a:r>
              <a:t>中文理解版</a:t>
            </a:r>
          </a:p>
          <a:p>
            <a:r>
              <a:t>饮品店匹配两名显示昵称的玩家，四道程序轮流选择，每道三个选项，共同得到同一杯有名字的饮品。钓鱼则由一人控制上下、一人控制左右，对准涟漪积累进度。成功随机获得四种有名字的鱼之一，失败可以重试。</a:t>
            </a:r>
          </a:p>
          <a:p/>
          <a:p>
            <a:r>
              <a:t>PRESENTER CUE</a:t>
            </a:r>
          </a:p>
          <a:p>
            <a:r>
              <a:t>饮品：基底/风味/配料/装饰，81种组合。钓鱼：倒计时后开始，20%初始进度，对准+10%/秒，偏离−4%/秒，降至0失败。目标3.5秒换位，容错范围扩大10%。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1:50–2:15</a:t>
            </a:r>
          </a:p>
          <a:p/>
          <a:p>
            <a:r>
              <a:t>ENGLISH SCRIPT</a:t>
            </a:r>
          </a:p>
          <a:p>
            <a:r>
              <a:t>The piano stays within the map. One person plays twenty-one keys while others listen. A moving icon signals the performance, and tapping an occupied piano shows the performer’s name. After eight seconds without a note, the seat becomes available. Muting, clear exits and proximity cues let visitors choose how much to participate.</a:t>
            </a:r>
          </a:p>
          <a:p/>
          <a:p>
            <a:r>
              <a:t>中文理解版</a:t>
            </a:r>
          </a:p>
          <a:p>
            <a:r>
              <a:t>钢琴以地图内面板打开。一人演奏21个音键，其他人聆听。图标动态提示正在演奏；点击被占用的钢琴会显示演奏者昵称。8秒不按音符自动让位。静音、明确退出与靠近提示支持不同参与程度。</a:t>
            </a:r>
          </a:p>
          <a:p/>
          <a:p>
            <a:r>
              <a:t>PRESENTER CUE</a:t>
            </a:r>
          </a:p>
          <a:p>
            <a:r>
              <a:t>地图仍可见；旁观者不会打开同步键盘。靠近活动入口会出现提醒。说明观看、听琴也属于参与方式。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2:15–3:30</a:t>
            </a:r>
          </a:p>
          <a:p/>
          <a:p>
            <a:r>
              <a:t>ENGLISH SCRIPT</a:t>
            </a:r>
          </a:p>
          <a:p>
            <a:r>
              <a:t>This short film shows how people enter the shared space and move from noticing each other to participating together.</a:t>
            </a:r>
          </a:p>
          <a:p/>
          <a:p>
            <a:r>
              <a:t>中文理解版</a:t>
            </a:r>
          </a:p>
          <a:p>
            <a:r>
              <a:t>这段短片展示参与者如何进入共享空间，并从注意到彼此，走向共同参与。</a:t>
            </a:r>
          </a:p>
          <a:p/>
          <a:p>
            <a:r>
              <a:t>PRESENTER CUE</a:t>
            </a:r>
          </a:p>
          <a:p>
            <a:r>
              <a:t>播放你实拍的75秒展示视频。当前文件没有嵌入真实参与者视频，必须替换此页占位。不要朗读拍摄分镜。</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3:30–4:30</a:t>
            </a:r>
          </a:p>
          <a:p/>
          <a:p>
            <a:r>
              <a:t>ENGLISH SCRIPT</a:t>
            </a:r>
          </a:p>
          <a:p>
            <a:r>
              <a:t>Now I’ll demonstrate the drink activity with two phones. Each person makes alternating choices, and both receive the drink they created together.</a:t>
            </a:r>
          </a:p>
          <a:p/>
          <a:p>
            <a:r>
              <a:t>中文理解版</a:t>
            </a:r>
          </a:p>
          <a:p>
            <a:r>
              <a:t>现在用两台手机现场演示饮品制作。两人轮流选择，最后共同得到制作完成的饮品。</a:t>
            </a:r>
          </a:p>
          <a:p/>
          <a:p>
            <a:r>
              <a:t>PRESENTER CUE</a:t>
            </a:r>
          </a:p>
          <a:p>
            <a:r>
              <a:t>提前让两台手机加入 showcase 房间并到饮品店附近。进入匹配→A选基底→B选风味→A选配料→B选装饰→同时展示同一饮品结果→返回地图。控制在60秒内。</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4:30–5:15</a:t>
            </a:r>
          </a:p>
          <a:p/>
          <a:p>
            <a:r>
              <a:t>ENGLISH SCRIPT</a:t>
            </a:r>
          </a:p>
          <a:p>
            <a:r>
              <a:t>Here I use the course’s six principles. Sensory Feedback appears in piano sound. Embodied Interaction connects dragging to movement. Social Dynamics comes from shared presence and split roles. Resilience and Motivation shaped easier fishing and retry. Proactivity and Clarity appear in proximity glow and turn messages. Ethics and Inclusion informed temporary identities, mute and clear exits. The lectures’ CSCW perspective explains the shared roles; affordances and signifiers explain how people discover actions. However, phone and network requirements still exclude some visitors.</a:t>
            </a:r>
          </a:p>
          <a:p/>
          <a:p>
            <a:r>
              <a:t>中文理解版</a:t>
            </a:r>
          </a:p>
          <a:p>
            <a:r>
              <a:t>这里使用课堂中六项原则。感官反馈体现在钢琴声音；具身互动体现在拖动与移动的对应；社会动态来自共同在场与角色分工；韧性与动机促成更宽松的钓鱼和重试；主动引导与清晰性体现在靠近发光及轮次提示；伦理与包容影响了临时身份、静音和退出设计。课件的CSCW视角帮助解释共享角色，affordances和signifiers解释人们怎样发现可做的事。不过，手机和网络要求仍会排除部分访客。</a:t>
            </a:r>
          </a:p>
          <a:p/>
          <a:p>
            <a:r>
              <a:t>PRESENTER CUE</a:t>
            </a:r>
          </a:p>
          <a:p>
            <a:r>
              <a:t>六项名称已核实：Session 2 PDF第6页、Session 3 PDF第8页；Session 5第6–7页也列出同一框架。CSCW来自Session 2第8页；affordances/signifiers来自Session 5第10页。具身互动仅是手机触控与映射，不要夸大为全身沉浸；未实现触觉反馈。伦理设计不等于全面可访问，公共昵称与愿望仍需隐私、内容和可访问性反思。</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5:15–5:30</a:t>
            </a:r>
          </a:p>
          <a:p/>
          <a:p>
            <a:r>
              <a:t>ENGLISH SCRIPT</a:t>
            </a:r>
          </a:p>
          <a:p>
            <a:r>
              <a:t>A familiar illustrated campus provides the narrative setting. Soft colours, consistent icons, proximity glow and sound connect the different activities into one welcoming place.</a:t>
            </a:r>
          </a:p>
          <a:p/>
          <a:p>
            <a:r>
              <a:t>中文理解版</a:t>
            </a:r>
          </a:p>
          <a:p>
            <a:r>
              <a:t>体验没有使用线性剧情，而是把熟悉的校园作为叙事框架。暖色、插画角色和统一活动图标营造友好的氛围。靠近时发光的入口引导探索；饮品、意外的鱼和音乐带来小小的感官回报，公共大屏则把个人行动呈现在同一个场景里。</a:t>
            </a:r>
          </a:p>
          <a:p/>
          <a:p>
            <a:r>
              <a:t>PRESENTER CUE</a:t>
            </a:r>
          </a:p>
          <a:p>
            <a:r>
              <a:t>结合截图说明视觉和声音怎样服务体验，不只说“好看”。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5:30–5:55</a:t>
            </a:r>
          </a:p>
          <a:p/>
          <a:p>
            <a:r>
              <a:t>ENGLISH SCRIPT</a:t>
            </a:r>
          </a:p>
          <a:p>
            <a:r>
              <a:t>My initial concept used cultural prompts, shared visuals and tokens. I kept the connection goal, but moved to free exploration and short activities without tokens. Device feedback shaped clearer multiplayer presence, thirty-five percent phone zoom, gentler fishing and the piano’s automatic release.</a:t>
            </a:r>
          </a:p>
          <a:p/>
          <a:p>
            <a:r>
              <a:t>中文理解版</a:t>
            </a:r>
          </a:p>
          <a:p>
            <a:r>
              <a:t>最初概念提出文化相关提示、共享视觉结果和代币。最终版本保留连接目标，但改为可探索地图与短活动，没有加入代币。设备反馈促成更清楚的共同在场、更大的手机视角与更宽松的钓鱼。钢琴变为地图上的操作面板，8秒无音符后自动让位；未使用的路灯占位被移除。</a:t>
            </a:r>
          </a:p>
          <a:p/>
          <a:p>
            <a:r>
              <a:t>PRESENTER CUE</a:t>
            </a:r>
          </a:p>
          <a:p>
            <a:r>
              <a:t>初始概念依据Social Interactive.pptx第5、7、8页：日常生活/文化提示、共享地图、代币想法。若该文件不是正式A1提交版，展示前与提交版核对；不宣称这些是导师要求改动。技术迭代依据开发记录和设备反馈，不虚构正式访谈或观众人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5:55–6:15</a:t>
            </a:r>
          </a:p>
          <a:p/>
          <a:p>
            <a:r>
              <a:t>ENGLISH SCRIPT</a:t>
            </a:r>
          </a:p>
          <a:p>
            <a:r>
              <a:t>p5.js renders the world, Firebase shares state, and GitHub Pages hosts it. Checks included simulated clients, browsers and actual phone feedback. Reliable internet and a recorded fallback remain necessary for exhibition.</a:t>
            </a:r>
          </a:p>
          <a:p/>
          <a:p>
            <a:r>
              <a:t>中文理解版</a:t>
            </a:r>
          </a:p>
          <a:p>
            <a:r>
              <a:t>原有p5.js项目仍然是基础。Firebase同步玩家位置和活动状态，GitHub Pages托管页面。手机负责个人操作，大屏提供共同视角。开发检查包括独立模拟客户端与浏览器测试；实际手机测试也在修复后确认了iPhone出声。展览时仍需准备稳定网络、充足电量和录像备份。</a:t>
            </a:r>
          </a:p>
          <a:p/>
          <a:p>
            <a:r>
              <a:t>PRESENTER CUE</a:t>
            </a:r>
          </a:p>
          <a:p>
            <a:r>
              <a:t>不要把26项自动测试说成26位用户；不要声称在所有设备、所有网络环境下都稳定。</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6:15–6:45</a:t>
            </a:r>
          </a:p>
          <a:p/>
          <a:p>
            <a:r>
              <a:t>ENGLISH SCRIPT</a:t>
            </a:r>
          </a:p>
          <a:p>
            <a:r>
              <a:t>People can watch, listen, leave a wish or cooperate. The value is in these small invitations. I used generative AI for parts of the code, debugging, artwork and presentation, then selected, tested and refined its outputs. Next, I would observe whether unfamiliar participants can begin an interaction independently, rather than adding more activities.</a:t>
            </a:r>
          </a:p>
          <a:p/>
          <a:p>
            <a:r>
              <a:t>中文理解版</a:t>
            </a:r>
          </a:p>
          <a:p>
            <a:r>
              <a:t>最终体验提供不同程度的社交投入：观看、聆听、留下愿望，或共同合作。价值不在功能数量，而在这些功能创造的小邀请。我在部分代码、调试、活动素材及演示准备中使用了生成式AI，再进行选择、测试与调整。下一步更值得观察不熟悉的参与者是否能独立开始有意义的互动，而不是继续堆加功能。</a:t>
            </a:r>
          </a:p>
          <a:p/>
          <a:p>
            <a:r>
              <a:t>PRESENTER CUE</a:t>
            </a:r>
          </a:p>
          <a:p>
            <a:r>
              <a:t>务必核实并补齐AI来源、导师批准和单元允许范围。不要把AI辅助内容宣称为完全独立编写或手绘。</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6:45–6:55</a:t>
            </a:r>
          </a:p>
          <a:p/>
          <a:p>
            <a:r>
              <a:t>ENGLISH SCRIPT</a:t>
            </a:r>
          </a:p>
          <a:p>
            <a:r>
              <a:t>Thank you. I’d like to invite you to try the map together.</a:t>
            </a:r>
          </a:p>
          <a:p/>
          <a:p>
            <a:r>
              <a:t>中文理解版</a:t>
            </a:r>
          </a:p>
          <a:p>
            <a:r>
              <a:t>谢谢，欢迎大家一起体验这个地图。</a:t>
            </a:r>
          </a:p>
          <a:p/>
          <a:p>
            <a:r>
              <a:t>PRESENTER CUE</a:t>
            </a:r>
          </a:p>
          <a:p>
            <a:r>
              <a:t>参考资料页保留在屏幕上；不逐条朗读参考文献。</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APPENDIX — do not present</a:t>
            </a:r>
          </a:p>
          <a:p/>
          <a:p>
            <a:r>
              <a:t>ENGLISH SCRIPT</a:t>
            </a:r>
          </a:p>
          <a:p/>
          <a:p/>
          <a:p>
            <a:r>
              <a:t>中文理解版</a:t>
            </a:r>
          </a:p>
          <a:p/>
          <a:p/>
          <a:p>
            <a:r>
              <a:t>PRESENTER CUE</a:t>
            </a:r>
          </a:p>
          <a:p>
            <a:r>
              <a:t>备查页，不计入课堂展示。按brief还需封面、独立development documentation PDF、MP4及SharePoint可访问链接；这套PPT不替代过程文档。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hyperlink" Target="https://itsangelia.github.io/public-map-project/campus-f3cd85c8e3d0eaa9.html?mode=display&amp;room=showcase" TargetMode="Externa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pic>
        <p:nvPicPr>
          <p:cNvPr id="4" name="Picture 3" descr="fishing-map-overview.png"/>
          <p:cNvPicPr>
            <a:picLocks noChangeAspect="1"/>
          </p:cNvPicPr>
          <p:nvPr/>
        </p:nvPicPr>
        <p:blipFill>
          <a:blip r:embed="rId2"/>
          <a:stretch>
            <a:fillRect/>
          </a:stretch>
        </p:blipFill>
        <p:spPr>
          <a:xfrm>
            <a:off x="4724400" y="956733"/>
            <a:ext cx="7010399" cy="4868333"/>
          </a:xfrm>
          <a:prstGeom prst="rect">
            <a:avLst/>
          </a:prstGeom>
        </p:spPr>
      </p:pic>
      <p:sp>
        <p:nvSpPr>
          <p:cNvPr id="5" name="Rectangle 4"/>
          <p:cNvSpPr/>
          <p:nvPr/>
        </p:nvSpPr>
        <p:spPr>
          <a:xfrm>
            <a:off x="0" y="0"/>
            <a:ext cx="4724400" cy="6324600"/>
          </a:xfrm>
          <a:prstGeom prst="rect">
            <a:avLst/>
          </a:prstGeom>
          <a:solidFill>
            <a:srgbClr val="FF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1500" y="701040"/>
            <a:ext cx="38862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EXHIBITION SHOWCASE</a:t>
            </a:r>
          </a:p>
        </p:txBody>
      </p:sp>
      <p:sp>
        <p:nvSpPr>
          <p:cNvPr id="7" name="TextBox 6"/>
          <p:cNvSpPr txBox="1"/>
          <p:nvPr/>
        </p:nvSpPr>
        <p:spPr>
          <a:xfrm>
            <a:off x="571500" y="1371600"/>
            <a:ext cx="4038600" cy="1758086"/>
          </a:xfrm>
          <a:prstGeom prst="rect">
            <a:avLst/>
          </a:prstGeom>
          <a:noFill/>
        </p:spPr>
        <p:txBody>
          <a:bodyPr wrap="none" lIns="0" rIns="0" tIns="0" bIns="0">
            <a:spAutoFit/>
          </a:bodyPr>
          <a:lstStyle/>
          <a:p>
            <a:pPr>
              <a:lnSpc>
                <a:spcPct val="105000"/>
              </a:lnSpc>
              <a:spcAft>
                <a:spcPts val="0"/>
              </a:spcAft>
              <a:defRPr sz="5220" b="1">
                <a:solidFill>
                  <a:srgbClr val="303A68"/>
                </a:solidFill>
                <a:latin typeface="Georgia"/>
              </a:defRPr>
            </a:pPr>
            <a:r>
              <a:t>Shared</a:t>
            </a:r>
          </a:p>
          <a:p>
            <a:pPr>
              <a:lnSpc>
                <a:spcPct val="105000"/>
              </a:lnSpc>
              <a:spcAft>
                <a:spcPts val="0"/>
              </a:spcAft>
              <a:defRPr sz="5220" b="1">
                <a:solidFill>
                  <a:srgbClr val="303A68"/>
                </a:solidFill>
                <a:latin typeface="Georgia"/>
              </a:defRPr>
            </a:pPr>
            <a:r>
              <a:t>Campus</a:t>
            </a:r>
          </a:p>
        </p:txBody>
      </p:sp>
      <p:sp>
        <p:nvSpPr>
          <p:cNvPr id="8" name="TextBox 7"/>
          <p:cNvSpPr txBox="1"/>
          <p:nvPr/>
        </p:nvSpPr>
        <p:spPr>
          <a:xfrm>
            <a:off x="571500" y="3390900"/>
            <a:ext cx="3657600" cy="802233"/>
          </a:xfrm>
          <a:prstGeom prst="rect">
            <a:avLst/>
          </a:prstGeom>
          <a:noFill/>
        </p:spPr>
        <p:txBody>
          <a:bodyPr wrap="none" lIns="0" rIns="0" tIns="0" bIns="0">
            <a:spAutoFit/>
          </a:bodyPr>
          <a:lstStyle/>
          <a:p>
            <a:pPr>
              <a:lnSpc>
                <a:spcPct val="105000"/>
              </a:lnSpc>
              <a:spcAft>
                <a:spcPts val="0"/>
              </a:spcAft>
              <a:defRPr sz="2280" b="0">
                <a:solidFill>
                  <a:srgbClr val="303A68"/>
                </a:solidFill>
                <a:latin typeface="Arial"/>
              </a:defRPr>
            </a:pPr>
            <a:r>
              <a:t>Small moments.</a:t>
            </a:r>
          </a:p>
          <a:p>
            <a:pPr>
              <a:lnSpc>
                <a:spcPct val="105000"/>
              </a:lnSpc>
              <a:spcAft>
                <a:spcPts val="0"/>
              </a:spcAft>
              <a:defRPr sz="2280" b="0">
                <a:solidFill>
                  <a:srgbClr val="303A68"/>
                </a:solidFill>
                <a:latin typeface="Arial"/>
              </a:defRPr>
            </a:pPr>
            <a:r>
              <a:t>Shared connections.</a:t>
            </a:r>
          </a:p>
        </p:txBody>
      </p:sp>
      <p:sp>
        <p:nvSpPr>
          <p:cNvPr id="9" name="TextBox 8"/>
          <p:cNvSpPr txBox="1"/>
          <p:nvPr/>
        </p:nvSpPr>
        <p:spPr>
          <a:xfrm>
            <a:off x="571500" y="4648200"/>
            <a:ext cx="3657600" cy="587654"/>
          </a:xfrm>
          <a:prstGeom prst="rect">
            <a:avLst/>
          </a:prstGeom>
          <a:noFill/>
        </p:spPr>
        <p:txBody>
          <a:bodyPr wrap="none" lIns="0" rIns="0" tIns="0" bIns="0">
            <a:spAutoFit/>
          </a:bodyPr>
          <a:lstStyle/>
          <a:p>
            <a:pPr>
              <a:lnSpc>
                <a:spcPct val="105000"/>
              </a:lnSpc>
              <a:spcAft>
                <a:spcPts val="0"/>
              </a:spcAft>
              <a:defRPr sz="1620" b="0">
                <a:solidFill>
                  <a:srgbClr val="4D4B46"/>
                </a:solidFill>
                <a:latin typeface="Arial"/>
              </a:defRPr>
            </a:pPr>
            <a:r>
              <a:t>A public map, personal phones</a:t>
            </a:r>
          </a:p>
          <a:p>
            <a:pPr>
              <a:lnSpc>
                <a:spcPct val="105000"/>
              </a:lnSpc>
              <a:spcAft>
                <a:spcPts val="0"/>
              </a:spcAft>
              <a:defRPr sz="1620" b="0">
                <a:solidFill>
                  <a:srgbClr val="4D4B46"/>
                </a:solidFill>
                <a:latin typeface="Arial"/>
              </a:defRPr>
            </a:pPr>
            <a:r>
              <a:t>and playful first encounters.</a:t>
            </a:r>
          </a:p>
        </p:txBody>
      </p:sp>
      <p:sp>
        <p:nvSpPr>
          <p:cNvPr id="10" name="TextBox 9"/>
          <p:cNvSpPr txBox="1"/>
          <p:nvPr/>
        </p:nvSpPr>
        <p:spPr>
          <a:xfrm>
            <a:off x="571500" y="5600700"/>
            <a:ext cx="3886200" cy="285292"/>
          </a:xfrm>
          <a:prstGeom prst="rect">
            <a:avLst/>
          </a:prstGeom>
          <a:noFill/>
        </p:spPr>
        <p:txBody>
          <a:bodyPr wrap="none" lIns="0" rIns="0" tIns="0" bIns="0">
            <a:spAutoFit/>
          </a:bodyPr>
          <a:lstStyle/>
          <a:p>
            <a:pPr>
              <a:lnSpc>
                <a:spcPct val="105000"/>
              </a:lnSpc>
              <a:spcAft>
                <a:spcPts val="0"/>
              </a:spcAft>
              <a:defRPr sz="1380" b="0">
                <a:solidFill>
                  <a:srgbClr val="76746E"/>
                </a:solidFill>
                <a:latin typeface="Arial"/>
              </a:defRPr>
            </a:pPr>
            <a:r>
              <a:t>[Your name] · A2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01 / SOCIAL FOCUS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small invitation to connect</a:t>
            </a:r>
          </a:p>
        </p:txBody>
      </p:sp>
      <p:sp>
        <p:nvSpPr>
          <p:cNvPr id="6" name="TextBox 5"/>
          <p:cNvSpPr txBox="1"/>
          <p:nvPr/>
        </p:nvSpPr>
        <p:spPr>
          <a:xfrm>
            <a:off x="609600" y="1805940"/>
            <a:ext cx="6400800" cy="1348435"/>
          </a:xfrm>
          <a:prstGeom prst="rect">
            <a:avLst/>
          </a:prstGeom>
          <a:noFill/>
        </p:spPr>
        <p:txBody>
          <a:bodyPr wrap="none" lIns="0" rIns="0" tIns="0" bIns="0">
            <a:spAutoFit/>
          </a:bodyPr>
          <a:lstStyle/>
          <a:p>
            <a:pPr>
              <a:lnSpc>
                <a:spcPct val="105000"/>
              </a:lnSpc>
              <a:spcAft>
                <a:spcPts val="0"/>
              </a:spcAft>
              <a:defRPr sz="2640" b="1">
                <a:solidFill>
                  <a:srgbClr val="303A68"/>
                </a:solidFill>
                <a:latin typeface="Arial"/>
              </a:defRPr>
            </a:pPr>
            <a:r>
              <a:t>How might a shared campus</a:t>
            </a:r>
          </a:p>
          <a:p>
            <a:pPr>
              <a:lnSpc>
                <a:spcPct val="105000"/>
              </a:lnSpc>
              <a:spcAft>
                <a:spcPts val="0"/>
              </a:spcAft>
              <a:defRPr sz="2640" b="1">
                <a:solidFill>
                  <a:srgbClr val="303A68"/>
                </a:solidFill>
                <a:latin typeface="Arial"/>
              </a:defRPr>
            </a:pPr>
            <a:r>
              <a:t>space make a first interaction</a:t>
            </a:r>
          </a:p>
          <a:p>
            <a:pPr>
              <a:lnSpc>
                <a:spcPct val="105000"/>
              </a:lnSpc>
              <a:spcAft>
                <a:spcPts val="0"/>
              </a:spcAft>
              <a:defRPr sz="2640" b="1">
                <a:solidFill>
                  <a:srgbClr val="303A68"/>
                </a:solidFill>
                <a:latin typeface="Arial"/>
              </a:defRPr>
            </a:pPr>
            <a:r>
              <a:t>easier?</a:t>
            </a:r>
          </a:p>
        </p:txBody>
      </p:sp>
      <p:sp>
        <p:nvSpPr>
          <p:cNvPr id="7" name="Rounded Rectangle 6"/>
          <p:cNvSpPr/>
          <p:nvPr/>
        </p:nvSpPr>
        <p:spPr>
          <a:xfrm>
            <a:off x="609600" y="3162300"/>
            <a:ext cx="342900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PRIMARY</a:t>
            </a:r>
          </a:p>
        </p:txBody>
      </p:sp>
      <p:sp>
        <p:nvSpPr>
          <p:cNvPr id="9" name="TextBox 8"/>
          <p:cNvSpPr txBox="1"/>
          <p:nvPr/>
        </p:nvSpPr>
        <p:spPr>
          <a:xfrm>
            <a:off x="7772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Connection</a:t>
            </a:r>
          </a:p>
        </p:txBody>
      </p:sp>
      <p:sp>
        <p:nvSpPr>
          <p:cNvPr id="10" name="TextBox 9"/>
          <p:cNvSpPr txBox="1"/>
          <p:nvPr/>
        </p:nvSpPr>
        <p:spPr>
          <a:xfrm>
            <a:off x="7772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A small shared action before a</a:t>
            </a:r>
          </a:p>
          <a:p>
            <a:pPr>
              <a:lnSpc>
                <a:spcPct val="105000"/>
              </a:lnSpc>
              <a:spcAft>
                <a:spcPts val="0"/>
              </a:spcAft>
              <a:defRPr sz="1500" b="0">
                <a:solidFill>
                  <a:srgbClr val="4D4B46"/>
                </a:solidFill>
                <a:latin typeface="Arial"/>
              </a:defRPr>
            </a:pPr>
            <a:r>
              <a:t>conversation.</a:t>
            </a:r>
          </a:p>
        </p:txBody>
      </p:sp>
      <p:sp>
        <p:nvSpPr>
          <p:cNvPr id="11" name="Rounded Rectangle 10"/>
          <p:cNvSpPr/>
          <p:nvPr/>
        </p:nvSpPr>
        <p:spPr>
          <a:xfrm>
            <a:off x="4381500" y="3162300"/>
            <a:ext cx="342900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91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SECONDARY</a:t>
            </a:r>
          </a:p>
        </p:txBody>
      </p:sp>
      <p:sp>
        <p:nvSpPr>
          <p:cNvPr id="13" name="TextBox 12"/>
          <p:cNvSpPr txBox="1"/>
          <p:nvPr/>
        </p:nvSpPr>
        <p:spPr>
          <a:xfrm>
            <a:off x="45491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Joy</a:t>
            </a:r>
          </a:p>
        </p:txBody>
      </p:sp>
      <p:sp>
        <p:nvSpPr>
          <p:cNvPr id="14" name="TextBox 13"/>
          <p:cNvSpPr txBox="1"/>
          <p:nvPr/>
        </p:nvSpPr>
        <p:spPr>
          <a:xfrm>
            <a:off x="45491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Playful choices and unexpected</a:t>
            </a:r>
          </a:p>
          <a:p>
            <a:pPr>
              <a:lnSpc>
                <a:spcPct val="105000"/>
              </a:lnSpc>
              <a:spcAft>
                <a:spcPts val="0"/>
              </a:spcAft>
              <a:defRPr sz="1500" b="0">
                <a:solidFill>
                  <a:srgbClr val="4D4B46"/>
                </a:solidFill>
                <a:latin typeface="Arial"/>
              </a:defRPr>
            </a:pPr>
            <a:r>
              <a:t>outcomes.</a:t>
            </a:r>
          </a:p>
        </p:txBody>
      </p:sp>
      <p:sp>
        <p:nvSpPr>
          <p:cNvPr id="15" name="Rounded Rectangle 14"/>
          <p:cNvSpPr/>
          <p:nvPr/>
        </p:nvSpPr>
        <p:spPr>
          <a:xfrm>
            <a:off x="8153399" y="3162300"/>
            <a:ext cx="3429000" cy="1981199"/>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3291840"/>
            <a:ext cx="30937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ALSO</a:t>
            </a:r>
          </a:p>
        </p:txBody>
      </p:sp>
      <p:sp>
        <p:nvSpPr>
          <p:cNvPr id="17" name="TextBox 16"/>
          <p:cNvSpPr txBox="1"/>
          <p:nvPr/>
        </p:nvSpPr>
        <p:spPr>
          <a:xfrm>
            <a:off x="8321040" y="3543300"/>
            <a:ext cx="30937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Reflection</a:t>
            </a:r>
          </a:p>
        </p:txBody>
      </p:sp>
      <p:sp>
        <p:nvSpPr>
          <p:cNvPr id="18" name="TextBox 17"/>
          <p:cNvSpPr txBox="1"/>
          <p:nvPr/>
        </p:nvSpPr>
        <p:spPr>
          <a:xfrm>
            <a:off x="8321040" y="3950207"/>
            <a:ext cx="30937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Leave a wish. Read someone</a:t>
            </a:r>
          </a:p>
          <a:p>
            <a:pPr>
              <a:lnSpc>
                <a:spcPct val="105000"/>
              </a:lnSpc>
              <a:spcAft>
                <a:spcPts val="0"/>
              </a:spcAft>
              <a:defRPr sz="1500" b="0">
                <a:solidFill>
                  <a:srgbClr val="4D4B46"/>
                </a:solidFill>
                <a:latin typeface="Arial"/>
              </a:defRPr>
            </a:pPr>
            <a:r>
              <a:t>else’s.</a:t>
            </a:r>
          </a:p>
        </p:txBody>
      </p:sp>
      <p:sp>
        <p:nvSpPr>
          <p:cNvPr id="19" name="TextBox 18"/>
          <p:cNvSpPr txBox="1"/>
          <p:nvPr/>
        </p:nvSpPr>
        <p:spPr>
          <a:xfrm>
            <a:off x="609600" y="5623560"/>
            <a:ext cx="10668000" cy="334060"/>
          </a:xfrm>
          <a:prstGeom prst="rect">
            <a:avLst/>
          </a:prstGeom>
          <a:noFill/>
        </p:spPr>
        <p:txBody>
          <a:bodyPr wrap="none" lIns="0" rIns="0" tIns="0" bIns="0">
            <a:spAutoFit/>
          </a:bodyPr>
          <a:lstStyle/>
          <a:p>
            <a:pPr>
              <a:lnSpc>
                <a:spcPct val="105000"/>
              </a:lnSpc>
              <a:spcAft>
                <a:spcPts val="0"/>
              </a:spcAft>
              <a:defRPr sz="1680" b="0">
                <a:solidFill>
                  <a:srgbClr val="76746E"/>
                </a:solidFill>
                <a:latin typeface="Arial"/>
              </a:defRPr>
            </a:pPr>
            <a:r>
              <a:t>Audience focus: international students and other campus visitors.</a:t>
            </a:r>
          </a:p>
        </p:txBody>
      </p:sp>
      <p:sp>
        <p:nvSpPr>
          <p:cNvPr id="20" name="TextBox 19"/>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02 / PARTICIPANT JOURNEY</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One shared place. Your own way in.</a:t>
            </a:r>
          </a:p>
        </p:txBody>
      </p:sp>
      <p:sp>
        <p:nvSpPr>
          <p:cNvPr id="6" name="Rounded Rectangle 5"/>
          <p:cNvSpPr/>
          <p:nvPr/>
        </p:nvSpPr>
        <p:spPr>
          <a:xfrm>
            <a:off x="57150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914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sp>
        <p:nvSpPr>
          <p:cNvPr id="8" name="TextBox 7"/>
          <p:cNvSpPr txBox="1"/>
          <p:nvPr/>
        </p:nvSpPr>
        <p:spPr>
          <a:xfrm>
            <a:off x="73914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Scan</a:t>
            </a:r>
          </a:p>
        </p:txBody>
      </p:sp>
      <p:sp>
        <p:nvSpPr>
          <p:cNvPr id="9" name="TextBox 8"/>
          <p:cNvSpPr txBox="1"/>
          <p:nvPr/>
        </p:nvSpPr>
        <p:spPr>
          <a:xfrm>
            <a:off x="73914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Use your own</a:t>
            </a:r>
          </a:p>
          <a:p>
            <a:pPr>
              <a:lnSpc>
                <a:spcPct val="105000"/>
              </a:lnSpc>
              <a:spcAft>
                <a:spcPts val="0"/>
              </a:spcAft>
              <a:defRPr sz="1500" b="0">
                <a:solidFill>
                  <a:srgbClr val="4D4B46"/>
                </a:solidFill>
                <a:latin typeface="Arial"/>
              </a:defRPr>
            </a:pPr>
            <a:r>
              <a:t>phone.</a:t>
            </a:r>
          </a:p>
        </p:txBody>
      </p:sp>
      <p:sp>
        <p:nvSpPr>
          <p:cNvPr id="10" name="Rounded Rectangle 9"/>
          <p:cNvSpPr/>
          <p:nvPr/>
        </p:nvSpPr>
        <p:spPr>
          <a:xfrm>
            <a:off x="2811780" y="1943100"/>
            <a:ext cx="211836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942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12" name="TextBox 11"/>
          <p:cNvSpPr txBox="1"/>
          <p:nvPr/>
        </p:nvSpPr>
        <p:spPr>
          <a:xfrm>
            <a:off x="297942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Choose</a:t>
            </a:r>
          </a:p>
        </p:txBody>
      </p:sp>
      <p:sp>
        <p:nvSpPr>
          <p:cNvPr id="13" name="TextBox 12"/>
          <p:cNvSpPr txBox="1"/>
          <p:nvPr/>
        </p:nvSpPr>
        <p:spPr>
          <a:xfrm>
            <a:off x="297942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Nickname +</a:t>
            </a:r>
          </a:p>
          <a:p>
            <a:pPr>
              <a:lnSpc>
                <a:spcPct val="105000"/>
              </a:lnSpc>
              <a:spcAft>
                <a:spcPts val="0"/>
              </a:spcAft>
              <a:defRPr sz="1500" b="0">
                <a:solidFill>
                  <a:srgbClr val="4D4B46"/>
                </a:solidFill>
                <a:latin typeface="Arial"/>
              </a:defRPr>
            </a:pPr>
            <a:r>
              <a:t>avatar.</a:t>
            </a:r>
          </a:p>
        </p:txBody>
      </p:sp>
      <p:sp>
        <p:nvSpPr>
          <p:cNvPr id="14" name="Rounded Rectangle 13"/>
          <p:cNvSpPr/>
          <p:nvPr/>
        </p:nvSpPr>
        <p:spPr>
          <a:xfrm>
            <a:off x="505206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970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16" name="TextBox 15"/>
          <p:cNvSpPr txBox="1"/>
          <p:nvPr/>
        </p:nvSpPr>
        <p:spPr>
          <a:xfrm>
            <a:off x="521970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Explore</a:t>
            </a:r>
          </a:p>
        </p:txBody>
      </p:sp>
      <p:sp>
        <p:nvSpPr>
          <p:cNvPr id="17" name="TextBox 16"/>
          <p:cNvSpPr txBox="1"/>
          <p:nvPr/>
        </p:nvSpPr>
        <p:spPr>
          <a:xfrm>
            <a:off x="521970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See others</a:t>
            </a:r>
          </a:p>
          <a:p>
            <a:pPr>
              <a:lnSpc>
                <a:spcPct val="105000"/>
              </a:lnSpc>
              <a:spcAft>
                <a:spcPts val="0"/>
              </a:spcAft>
              <a:defRPr sz="1500" b="0">
                <a:solidFill>
                  <a:srgbClr val="4D4B46"/>
                </a:solidFill>
                <a:latin typeface="Arial"/>
              </a:defRPr>
            </a:pPr>
            <a:r>
              <a:t>nearby.</a:t>
            </a:r>
          </a:p>
        </p:txBody>
      </p:sp>
      <p:sp>
        <p:nvSpPr>
          <p:cNvPr id="18" name="Rounded Rectangle 17"/>
          <p:cNvSpPr/>
          <p:nvPr/>
        </p:nvSpPr>
        <p:spPr>
          <a:xfrm>
            <a:off x="7292340" y="1943100"/>
            <a:ext cx="2118360" cy="19811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998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20" name="TextBox 19"/>
          <p:cNvSpPr txBox="1"/>
          <p:nvPr/>
        </p:nvSpPr>
        <p:spPr>
          <a:xfrm>
            <a:off x="745998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Notice</a:t>
            </a:r>
          </a:p>
        </p:txBody>
      </p:sp>
      <p:sp>
        <p:nvSpPr>
          <p:cNvPr id="21" name="TextBox 20"/>
          <p:cNvSpPr txBox="1"/>
          <p:nvPr/>
        </p:nvSpPr>
        <p:spPr>
          <a:xfrm>
            <a:off x="745998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Follow a glowing</a:t>
            </a:r>
          </a:p>
          <a:p>
            <a:pPr>
              <a:lnSpc>
                <a:spcPct val="105000"/>
              </a:lnSpc>
              <a:spcAft>
                <a:spcPts val="0"/>
              </a:spcAft>
              <a:defRPr sz="1500" b="0">
                <a:solidFill>
                  <a:srgbClr val="4D4B46"/>
                </a:solidFill>
                <a:latin typeface="Arial"/>
              </a:defRPr>
            </a:pPr>
            <a:r>
              <a:t>invitation.</a:t>
            </a:r>
          </a:p>
        </p:txBody>
      </p:sp>
      <p:sp>
        <p:nvSpPr>
          <p:cNvPr id="22" name="Rounded Rectangle 21"/>
          <p:cNvSpPr/>
          <p:nvPr/>
        </p:nvSpPr>
        <p:spPr>
          <a:xfrm>
            <a:off x="9532620" y="1943100"/>
            <a:ext cx="2118360" cy="19811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00260" y="2072640"/>
            <a:ext cx="178308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24" name="TextBox 23"/>
          <p:cNvSpPr txBox="1"/>
          <p:nvPr/>
        </p:nvSpPr>
        <p:spPr>
          <a:xfrm>
            <a:off x="9700260" y="2324100"/>
            <a:ext cx="178308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Share</a:t>
            </a:r>
          </a:p>
        </p:txBody>
      </p:sp>
      <p:sp>
        <p:nvSpPr>
          <p:cNvPr id="25" name="TextBox 24"/>
          <p:cNvSpPr txBox="1"/>
          <p:nvPr/>
        </p:nvSpPr>
        <p:spPr>
          <a:xfrm>
            <a:off x="9700260" y="2731007"/>
            <a:ext cx="178308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Make, play, wish</a:t>
            </a:r>
          </a:p>
          <a:p>
            <a:pPr>
              <a:lnSpc>
                <a:spcPct val="105000"/>
              </a:lnSpc>
              <a:spcAft>
                <a:spcPts val="0"/>
              </a:spcAft>
              <a:defRPr sz="1500" b="0">
                <a:solidFill>
                  <a:srgbClr val="4D4B46"/>
                </a:solidFill>
                <a:latin typeface="Arial"/>
              </a:defRPr>
            </a:pPr>
            <a:r>
              <a:t>or listen.</a:t>
            </a:r>
          </a:p>
        </p:txBody>
      </p:sp>
      <p:sp>
        <p:nvSpPr>
          <p:cNvPr id="26" name="Rounded Rectangle 25"/>
          <p:cNvSpPr/>
          <p:nvPr/>
        </p:nvSpPr>
        <p:spPr>
          <a:xfrm>
            <a:off x="571500" y="4419600"/>
            <a:ext cx="11049000" cy="1181100"/>
          </a:xfrm>
          <a:prstGeom prst="roundRect">
            <a:avLst>
              <a:gd name="adj" fmla="val 14000"/>
            </a:avLst>
          </a:prstGeom>
          <a:solidFill>
            <a:srgbClr val="30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8200" y="4594860"/>
            <a:ext cx="10439400" cy="431596"/>
          </a:xfrm>
          <a:prstGeom prst="rect">
            <a:avLst/>
          </a:prstGeom>
          <a:noFill/>
        </p:spPr>
        <p:txBody>
          <a:bodyPr wrap="none" lIns="0" rIns="0" tIns="0" bIns="0">
            <a:spAutoFit/>
          </a:bodyPr>
          <a:lstStyle/>
          <a:p>
            <a:pPr>
              <a:lnSpc>
                <a:spcPct val="105000"/>
              </a:lnSpc>
              <a:spcAft>
                <a:spcPts val="0"/>
              </a:spcAft>
              <a:defRPr sz="2280" b="1">
                <a:solidFill>
                  <a:srgbClr val="FFFFFF"/>
                </a:solidFill>
                <a:latin typeface="Arial"/>
              </a:defRPr>
            </a:pPr>
            <a:r>
              <a:t>A first encounter in approximately two minutes or less.</a:t>
            </a:r>
          </a:p>
        </p:txBody>
      </p:sp>
      <p:sp>
        <p:nvSpPr>
          <p:cNvPr id="28" name="TextBox 27"/>
          <p:cNvSpPr txBox="1"/>
          <p:nvPr/>
        </p:nvSpPr>
        <p:spPr>
          <a:xfrm>
            <a:off x="838200" y="5052060"/>
            <a:ext cx="10439400" cy="324307"/>
          </a:xfrm>
          <a:prstGeom prst="rect">
            <a:avLst/>
          </a:prstGeom>
          <a:noFill/>
        </p:spPr>
        <p:txBody>
          <a:bodyPr wrap="none" lIns="0" rIns="0" tIns="0" bIns="0">
            <a:spAutoFit/>
          </a:bodyPr>
          <a:lstStyle/>
          <a:p>
            <a:pPr>
              <a:lnSpc>
                <a:spcPct val="105000"/>
              </a:lnSpc>
              <a:spcAft>
                <a:spcPts val="0"/>
              </a:spcAft>
              <a:defRPr sz="1620" b="0">
                <a:solidFill>
                  <a:srgbClr val="EBE6DD"/>
                </a:solidFill>
                <a:latin typeface="Arial"/>
              </a:defRPr>
            </a:pPr>
            <a:r>
              <a:t>The whole map can be explored at your own pace.</a:t>
            </a:r>
          </a:p>
        </p:txBody>
      </p:sp>
      <p:sp>
        <p:nvSpPr>
          <p:cNvPr id="29" name="TextBox 28"/>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EXPERIENCE / EXPRESSION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Meet, speak and leave a little hope</a:t>
            </a:r>
          </a:p>
        </p:txBody>
      </p:sp>
      <p:pic>
        <p:nvPicPr>
          <p:cNvPr id="6" name="Picture 5" descr="wishing-tree.png"/>
          <p:cNvPicPr>
            <a:picLocks noChangeAspect="1"/>
          </p:cNvPicPr>
          <p:nvPr/>
        </p:nvPicPr>
        <p:blipFill>
          <a:blip r:embed="rId2"/>
          <a:stretch>
            <a:fillRect/>
          </a:stretch>
        </p:blipFill>
        <p:spPr>
          <a:xfrm>
            <a:off x="7467599" y="2381250"/>
            <a:ext cx="3886200" cy="2590800"/>
          </a:xfrm>
          <a:prstGeom prst="rect">
            <a:avLst/>
          </a:prstGeom>
        </p:spPr>
      </p:pic>
      <p:sp>
        <p:nvSpPr>
          <p:cNvPr id="7" name="Rounded Rectangle 6"/>
          <p:cNvSpPr/>
          <p:nvPr/>
        </p:nvSpPr>
        <p:spPr>
          <a:xfrm>
            <a:off x="571500" y="1790700"/>
            <a:ext cx="3276600" cy="16764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9140" y="1920240"/>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JOIN + MOVE</a:t>
            </a:r>
          </a:p>
        </p:txBody>
      </p:sp>
      <p:sp>
        <p:nvSpPr>
          <p:cNvPr id="9" name="TextBox 8"/>
          <p:cNvSpPr txBox="1"/>
          <p:nvPr/>
        </p:nvSpPr>
        <p:spPr>
          <a:xfrm>
            <a:off x="739140" y="21717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Be present</a:t>
            </a:r>
          </a:p>
        </p:txBody>
      </p:sp>
      <p:sp>
        <p:nvSpPr>
          <p:cNvPr id="10" name="TextBox 9"/>
          <p:cNvSpPr txBox="1"/>
          <p:nvPr/>
        </p:nvSpPr>
        <p:spPr>
          <a:xfrm>
            <a:off x="739140" y="2578608"/>
            <a:ext cx="294132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QR entry, nickname, three</a:t>
            </a:r>
          </a:p>
          <a:p>
            <a:pPr>
              <a:lnSpc>
                <a:spcPct val="105000"/>
              </a:lnSpc>
              <a:spcAft>
                <a:spcPts val="0"/>
              </a:spcAft>
              <a:defRPr sz="1500" b="0">
                <a:solidFill>
                  <a:srgbClr val="4D4B46"/>
                </a:solidFill>
                <a:latin typeface="Arial"/>
              </a:defRPr>
            </a:pPr>
            <a:r>
              <a:t>avatars; independent</a:t>
            </a:r>
          </a:p>
          <a:p>
            <a:pPr>
              <a:lnSpc>
                <a:spcPct val="105000"/>
              </a:lnSpc>
              <a:spcAft>
                <a:spcPts val="0"/>
              </a:spcAft>
              <a:defRPr sz="1500" b="0">
                <a:solidFill>
                  <a:srgbClr val="4D4B46"/>
                </a:solidFill>
                <a:latin typeface="Arial"/>
              </a:defRPr>
            </a:pPr>
            <a:r>
              <a:t>movement.</a:t>
            </a:r>
          </a:p>
        </p:txBody>
      </p:sp>
      <p:sp>
        <p:nvSpPr>
          <p:cNvPr id="11" name="Rounded Rectangle 10"/>
          <p:cNvSpPr/>
          <p:nvPr/>
        </p:nvSpPr>
        <p:spPr>
          <a:xfrm>
            <a:off x="4114800" y="1790700"/>
            <a:ext cx="3276600" cy="16764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82440" y="1920240"/>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LIVE CHAT</a:t>
            </a:r>
          </a:p>
        </p:txBody>
      </p:sp>
      <p:sp>
        <p:nvSpPr>
          <p:cNvPr id="13" name="TextBox 12"/>
          <p:cNvSpPr txBox="1"/>
          <p:nvPr/>
        </p:nvSpPr>
        <p:spPr>
          <a:xfrm>
            <a:off x="4282440" y="21717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Speak in the map</a:t>
            </a:r>
          </a:p>
        </p:txBody>
      </p:sp>
      <p:sp>
        <p:nvSpPr>
          <p:cNvPr id="14" name="TextBox 13"/>
          <p:cNvSpPr txBox="1"/>
          <p:nvPr/>
        </p:nvSpPr>
        <p:spPr>
          <a:xfrm>
            <a:off x="4282440" y="25786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Shared head bubbles</a:t>
            </a:r>
          </a:p>
          <a:p>
            <a:pPr>
              <a:lnSpc>
                <a:spcPct val="105000"/>
              </a:lnSpc>
              <a:spcAft>
                <a:spcPts val="0"/>
              </a:spcAft>
              <a:defRPr sz="1500" b="0">
                <a:solidFill>
                  <a:srgbClr val="4D4B46"/>
                </a:solidFill>
                <a:latin typeface="Arial"/>
              </a:defRPr>
            </a:pPr>
            <a:r>
              <a:t>disappear after 5 seconds.</a:t>
            </a:r>
          </a:p>
        </p:txBody>
      </p:sp>
      <p:sp>
        <p:nvSpPr>
          <p:cNvPr id="15" name="Rounded Rectangle 14"/>
          <p:cNvSpPr/>
          <p:nvPr/>
        </p:nvSpPr>
        <p:spPr>
          <a:xfrm>
            <a:off x="571500" y="3733799"/>
            <a:ext cx="6819900" cy="1943100"/>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140" y="3863339"/>
            <a:ext cx="64846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WISHING TREE</a:t>
            </a:r>
          </a:p>
        </p:txBody>
      </p:sp>
      <p:sp>
        <p:nvSpPr>
          <p:cNvPr id="17" name="TextBox 16"/>
          <p:cNvSpPr txBox="1"/>
          <p:nvPr/>
        </p:nvSpPr>
        <p:spPr>
          <a:xfrm>
            <a:off x="739140" y="4114800"/>
            <a:ext cx="64846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A message someone can discover</a:t>
            </a:r>
          </a:p>
        </p:txBody>
      </p:sp>
      <p:sp>
        <p:nvSpPr>
          <p:cNvPr id="18" name="TextBox 17"/>
          <p:cNvSpPr txBox="1"/>
          <p:nvPr/>
        </p:nvSpPr>
        <p:spPr>
          <a:xfrm>
            <a:off x="739140" y="4521707"/>
            <a:ext cx="64846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Hang a wish. A 4–5-word preview sways; open the note for</a:t>
            </a:r>
          </a:p>
          <a:p>
            <a:pPr>
              <a:lnSpc>
                <a:spcPct val="105000"/>
              </a:lnSpc>
              <a:spcAft>
                <a:spcPts val="0"/>
              </a:spcAft>
              <a:defRPr sz="1500" b="0">
                <a:solidFill>
                  <a:srgbClr val="4D4B46"/>
                </a:solidFill>
                <a:latin typeface="Arial"/>
              </a:defRPr>
            </a:pPr>
            <a:r>
              <a:t>nickname, date and full text. Bless it once per player.</a:t>
            </a:r>
          </a:p>
        </p:txBody>
      </p:sp>
      <p:sp>
        <p:nvSpPr>
          <p:cNvPr id="19" name="TextBox 18"/>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EXPERIENCE / COOPERATION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Two players. Two kinds of cooperation.</a:t>
            </a:r>
          </a:p>
        </p:txBody>
      </p:sp>
      <p:pic>
        <p:nvPicPr>
          <p:cNvPr id="6" name="Picture 5" descr="drink-maker-online-finished.png"/>
          <p:cNvPicPr>
            <a:picLocks noChangeAspect="1"/>
          </p:cNvPicPr>
          <p:nvPr/>
        </p:nvPicPr>
        <p:blipFill>
          <a:blip r:embed="rId2"/>
          <a:stretch>
            <a:fillRect/>
          </a:stretch>
        </p:blipFill>
        <p:spPr>
          <a:xfrm>
            <a:off x="457561" y="1676400"/>
            <a:ext cx="1866177" cy="4038600"/>
          </a:xfrm>
          <a:prstGeom prst="rect">
            <a:avLst/>
          </a:prstGeom>
        </p:spPr>
      </p:pic>
      <p:sp>
        <p:nvSpPr>
          <p:cNvPr id="7" name="TextBox 6"/>
          <p:cNvSpPr txBox="1"/>
          <p:nvPr/>
        </p:nvSpPr>
        <p:spPr>
          <a:xfrm>
            <a:off x="2514600" y="1828800"/>
            <a:ext cx="3200400" cy="412089"/>
          </a:xfrm>
          <a:prstGeom prst="rect">
            <a:avLst/>
          </a:prstGeom>
          <a:noFill/>
        </p:spPr>
        <p:txBody>
          <a:bodyPr wrap="none" lIns="0" rIns="0" tIns="0" bIns="0">
            <a:spAutoFit/>
          </a:bodyPr>
          <a:lstStyle/>
          <a:p>
            <a:pPr>
              <a:lnSpc>
                <a:spcPct val="105000"/>
              </a:lnSpc>
              <a:spcAft>
                <a:spcPts val="0"/>
              </a:spcAft>
              <a:defRPr sz="2160" b="1">
                <a:solidFill>
                  <a:srgbClr val="303A68"/>
                </a:solidFill>
                <a:latin typeface="Arial"/>
              </a:defRPr>
            </a:pPr>
            <a:r>
              <a:t>Make a drink</a:t>
            </a:r>
          </a:p>
        </p:txBody>
      </p:sp>
      <p:sp>
        <p:nvSpPr>
          <p:cNvPr id="8" name="TextBox 7"/>
          <p:cNvSpPr txBox="1"/>
          <p:nvPr/>
        </p:nvSpPr>
        <p:spPr>
          <a:xfrm>
            <a:off x="2514600" y="2324100"/>
            <a:ext cx="3200400" cy="1328928"/>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Named player matching</a:t>
            </a:r>
          </a:p>
          <a:p>
            <a:pPr>
              <a:lnSpc>
                <a:spcPct val="105000"/>
              </a:lnSpc>
              <a:spcAft>
                <a:spcPts val="0"/>
              </a:spcAft>
              <a:defRPr sz="1560" b="0">
                <a:solidFill>
                  <a:srgbClr val="4D4B46"/>
                </a:solidFill>
                <a:latin typeface="Arial"/>
              </a:defRPr>
            </a:pPr>
            <a:r>
              <a:t>Four alternating turns</a:t>
            </a:r>
          </a:p>
          <a:p>
            <a:pPr>
              <a:lnSpc>
                <a:spcPct val="105000"/>
              </a:lnSpc>
              <a:spcAft>
                <a:spcPts val="0"/>
              </a:spcAft>
              <a:defRPr sz="1560" b="0">
                <a:solidFill>
                  <a:srgbClr val="4D4B46"/>
                </a:solidFill>
                <a:latin typeface="Arial"/>
              </a:defRPr>
            </a:pPr>
            <a:r>
              <a:t>Three options per stage</a:t>
            </a:r>
          </a:p>
          <a:p>
            <a:pPr>
              <a:lnSpc>
                <a:spcPct val="105000"/>
              </a:lnSpc>
              <a:spcAft>
                <a:spcPts val="0"/>
              </a:spcAft>
              <a:defRPr sz="1560" b="0">
                <a:solidFill>
                  <a:srgbClr val="4D4B46"/>
                </a:solidFill>
                <a:latin typeface="Arial"/>
              </a:defRPr>
            </a:pPr>
            <a:r>
              <a:t>Your turn notification</a:t>
            </a:r>
          </a:p>
          <a:p>
            <a:pPr>
              <a:lnSpc>
                <a:spcPct val="105000"/>
              </a:lnSpc>
              <a:spcAft>
                <a:spcPts val="0"/>
              </a:spcAft>
              <a:defRPr sz="1560" b="0">
                <a:solidFill>
                  <a:srgbClr val="4D4B46"/>
                </a:solidFill>
                <a:latin typeface="Arial"/>
              </a:defRPr>
            </a:pPr>
            <a:r>
              <a:t>A shared, named result</a:t>
            </a:r>
          </a:p>
        </p:txBody>
      </p:sp>
      <p:sp>
        <p:nvSpPr>
          <p:cNvPr id="9" name="TextBox 8"/>
          <p:cNvSpPr txBox="1"/>
          <p:nvPr/>
        </p:nvSpPr>
        <p:spPr>
          <a:xfrm>
            <a:off x="2514600" y="4305300"/>
            <a:ext cx="3200400" cy="548640"/>
          </a:xfrm>
          <a:prstGeom prst="rect">
            <a:avLst/>
          </a:prstGeom>
          <a:noFill/>
        </p:spPr>
        <p:txBody>
          <a:bodyPr wrap="none" lIns="0" rIns="0" tIns="0" bIns="0">
            <a:spAutoFit/>
          </a:bodyPr>
          <a:lstStyle/>
          <a:p>
            <a:pPr>
              <a:lnSpc>
                <a:spcPct val="105000"/>
              </a:lnSpc>
              <a:spcAft>
                <a:spcPts val="0"/>
              </a:spcAft>
              <a:defRPr sz="1500" b="1">
                <a:solidFill>
                  <a:srgbClr val="303A68"/>
                </a:solidFill>
                <a:latin typeface="Arial"/>
              </a:defRPr>
            </a:pPr>
            <a:r>
              <a:t>Base → flavour → topping →</a:t>
            </a:r>
          </a:p>
          <a:p>
            <a:pPr>
              <a:lnSpc>
                <a:spcPct val="105000"/>
              </a:lnSpc>
              <a:spcAft>
                <a:spcPts val="0"/>
              </a:spcAft>
              <a:defRPr sz="1500" b="1">
                <a:solidFill>
                  <a:srgbClr val="303A68"/>
                </a:solidFill>
                <a:latin typeface="Arial"/>
              </a:defRPr>
            </a:pPr>
            <a:r>
              <a:t>decoration</a:t>
            </a:r>
          </a:p>
        </p:txBody>
      </p:sp>
      <p:pic>
        <p:nvPicPr>
          <p:cNvPr id="10" name="Picture 9" descr="fishing-online-a.png"/>
          <p:cNvPicPr>
            <a:picLocks noChangeAspect="1"/>
          </p:cNvPicPr>
          <p:nvPr/>
        </p:nvPicPr>
        <p:blipFill>
          <a:blip r:embed="rId3"/>
          <a:stretch>
            <a:fillRect/>
          </a:stretch>
        </p:blipFill>
        <p:spPr>
          <a:xfrm>
            <a:off x="6096361" y="1676400"/>
            <a:ext cx="1866177" cy="4038600"/>
          </a:xfrm>
          <a:prstGeom prst="rect">
            <a:avLst/>
          </a:prstGeom>
        </p:spPr>
      </p:pic>
      <p:sp>
        <p:nvSpPr>
          <p:cNvPr id="11" name="TextBox 10"/>
          <p:cNvSpPr txBox="1"/>
          <p:nvPr/>
        </p:nvSpPr>
        <p:spPr>
          <a:xfrm>
            <a:off x="8191500" y="1828800"/>
            <a:ext cx="3352800" cy="412089"/>
          </a:xfrm>
          <a:prstGeom prst="rect">
            <a:avLst/>
          </a:prstGeom>
          <a:noFill/>
        </p:spPr>
        <p:txBody>
          <a:bodyPr wrap="none" lIns="0" rIns="0" tIns="0" bIns="0">
            <a:spAutoFit/>
          </a:bodyPr>
          <a:lstStyle/>
          <a:p>
            <a:pPr>
              <a:lnSpc>
                <a:spcPct val="105000"/>
              </a:lnSpc>
              <a:spcAft>
                <a:spcPts val="0"/>
              </a:spcAft>
              <a:defRPr sz="2160" b="1">
                <a:solidFill>
                  <a:srgbClr val="303A68"/>
                </a:solidFill>
                <a:latin typeface="Arial"/>
              </a:defRPr>
            </a:pPr>
            <a:r>
              <a:t>Catch together</a:t>
            </a:r>
          </a:p>
        </p:txBody>
      </p:sp>
      <p:sp>
        <p:nvSpPr>
          <p:cNvPr id="12" name="TextBox 11"/>
          <p:cNvSpPr txBox="1"/>
          <p:nvPr/>
        </p:nvSpPr>
        <p:spPr>
          <a:xfrm>
            <a:off x="8191500" y="2324100"/>
            <a:ext cx="3352800" cy="1328928"/>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Countdown to start</a:t>
            </a:r>
          </a:p>
          <a:p>
            <a:pPr>
              <a:lnSpc>
                <a:spcPct val="105000"/>
              </a:lnSpc>
              <a:spcAft>
                <a:spcPts val="0"/>
              </a:spcAft>
              <a:defRPr sz="1560" b="0">
                <a:solidFill>
                  <a:srgbClr val="4D4B46"/>
                </a:solidFill>
                <a:latin typeface="Arial"/>
              </a:defRPr>
            </a:pPr>
            <a:r>
              <a:t>Split vertical / horizontal control</a:t>
            </a:r>
          </a:p>
          <a:p>
            <a:pPr>
              <a:lnSpc>
                <a:spcPct val="105000"/>
              </a:lnSpc>
              <a:spcAft>
                <a:spcPts val="0"/>
              </a:spcAft>
              <a:defRPr sz="1560" b="0">
                <a:solidFill>
                  <a:srgbClr val="4D4B46"/>
                </a:solidFill>
                <a:latin typeface="Arial"/>
              </a:defRPr>
            </a:pPr>
            <a:r>
              <a:t>Aim the float at ripples</a:t>
            </a:r>
          </a:p>
          <a:p>
            <a:pPr>
              <a:lnSpc>
                <a:spcPct val="105000"/>
              </a:lnSpc>
              <a:spcAft>
                <a:spcPts val="0"/>
              </a:spcAft>
              <a:defRPr sz="1560" b="0">
                <a:solidFill>
                  <a:srgbClr val="4D4B46"/>
                </a:solidFill>
                <a:latin typeface="Arial"/>
              </a:defRPr>
            </a:pPr>
            <a:r>
              <a:t>Progress rises or falls</a:t>
            </a:r>
          </a:p>
          <a:p>
            <a:pPr>
              <a:lnSpc>
                <a:spcPct val="105000"/>
              </a:lnSpc>
              <a:spcAft>
                <a:spcPts val="0"/>
              </a:spcAft>
              <a:defRPr sz="1560" b="0">
                <a:solidFill>
                  <a:srgbClr val="4D4B46"/>
                </a:solidFill>
                <a:latin typeface="Arial"/>
              </a:defRPr>
            </a:pPr>
            <a:r>
              <a:t>Four named catches + retry</a:t>
            </a:r>
          </a:p>
        </p:txBody>
      </p:sp>
      <p:sp>
        <p:nvSpPr>
          <p:cNvPr id="13" name="TextBox 12"/>
          <p:cNvSpPr txBox="1"/>
          <p:nvPr/>
        </p:nvSpPr>
        <p:spPr>
          <a:xfrm>
            <a:off x="8191500" y="4495800"/>
            <a:ext cx="3352800" cy="529132"/>
          </a:xfrm>
          <a:prstGeom prst="rect">
            <a:avLst/>
          </a:prstGeom>
          <a:noFill/>
        </p:spPr>
        <p:txBody>
          <a:bodyPr wrap="none" lIns="0" rIns="0" tIns="0" bIns="0">
            <a:spAutoFit/>
          </a:bodyPr>
          <a:lstStyle/>
          <a:p>
            <a:pPr>
              <a:lnSpc>
                <a:spcPct val="105000"/>
              </a:lnSpc>
              <a:spcAft>
                <a:spcPts val="0"/>
              </a:spcAft>
              <a:defRPr sz="1439" b="1">
                <a:solidFill>
                  <a:srgbClr val="303A68"/>
                </a:solidFill>
                <a:latin typeface="Arial"/>
              </a:defRPr>
            </a:pPr>
            <a:r>
              <a:t>Start 20% · +10% / −4% per</a:t>
            </a:r>
          </a:p>
          <a:p>
            <a:pPr>
              <a:lnSpc>
                <a:spcPct val="105000"/>
              </a:lnSpc>
              <a:spcAft>
                <a:spcPts val="0"/>
              </a:spcAft>
              <a:defRPr sz="1439" b="1">
                <a:solidFill>
                  <a:srgbClr val="303A68"/>
                </a:solidFill>
                <a:latin typeface="Arial"/>
              </a:defRPr>
            </a:pPr>
            <a:r>
              <a:t>second</a:t>
            </a:r>
          </a:p>
        </p:txBody>
      </p:sp>
      <p:sp>
        <p:nvSpPr>
          <p:cNvPr id="14" name="TextBox 13"/>
          <p:cNvSpPr txBox="1"/>
          <p:nvPr/>
        </p:nvSpPr>
        <p:spPr>
          <a:xfrm>
            <a:off x="609600" y="5943600"/>
            <a:ext cx="10972800" cy="236524"/>
          </a:xfrm>
          <a:prstGeom prst="rect">
            <a:avLst/>
          </a:prstGeom>
          <a:noFill/>
        </p:spPr>
        <p:txBody>
          <a:bodyPr wrap="none" lIns="0" rIns="0" tIns="0" bIns="0">
            <a:spAutoFit/>
          </a:bodyPr>
          <a:lstStyle/>
          <a:p>
            <a:pPr>
              <a:lnSpc>
                <a:spcPct val="105000"/>
              </a:lnSpc>
              <a:spcAft>
                <a:spcPts val="0"/>
              </a:spcAft>
              <a:defRPr sz="1080" b="0">
                <a:solidFill>
                  <a:srgbClr val="76746E"/>
                </a:solidFill>
                <a:latin typeface="Arial"/>
              </a:defRPr>
            </a:pPr>
            <a:r>
              <a:t>Drink choices: sparkling water / milk tea / slush; strawberry / matcha / mango; pearls / coconut jelly / red bean; foam / ice cream / lemon.</a:t>
            </a:r>
          </a:p>
        </p:txBody>
      </p:sp>
      <p:sp>
        <p:nvSpPr>
          <p:cNvPr id="15" name="TextBox 14"/>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06</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EXPERIENCE / MUSIC + SHARED ACCESS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One performer. A shared audience.</a:t>
            </a:r>
          </a:p>
        </p:txBody>
      </p:sp>
      <p:pic>
        <p:nvPicPr>
          <p:cNvPr id="6" name="Picture 5" descr="piano-playing.png"/>
          <p:cNvPicPr>
            <a:picLocks noChangeAspect="1"/>
          </p:cNvPicPr>
          <p:nvPr/>
        </p:nvPicPr>
        <p:blipFill>
          <a:blip r:embed="rId2"/>
          <a:stretch>
            <a:fillRect/>
          </a:stretch>
        </p:blipFill>
        <p:spPr>
          <a:xfrm>
            <a:off x="740286" y="1638300"/>
            <a:ext cx="2024626" cy="4381500"/>
          </a:xfrm>
          <a:prstGeom prst="rect">
            <a:avLst/>
          </a:prstGeom>
        </p:spPr>
      </p:pic>
      <p:pic>
        <p:nvPicPr>
          <p:cNvPr id="7" name="Picture 6" descr="shared-piano.png"/>
          <p:cNvPicPr>
            <a:picLocks noChangeAspect="1"/>
          </p:cNvPicPr>
          <p:nvPr/>
        </p:nvPicPr>
        <p:blipFill>
          <a:blip r:embed="rId3"/>
          <a:stretch>
            <a:fillRect/>
          </a:stretch>
        </p:blipFill>
        <p:spPr>
          <a:xfrm>
            <a:off x="8763000" y="2092770"/>
            <a:ext cx="2590800" cy="2367659"/>
          </a:xfrm>
          <a:prstGeom prst="rect">
            <a:avLst/>
          </a:prstGeom>
        </p:spPr>
      </p:pic>
      <p:sp>
        <p:nvSpPr>
          <p:cNvPr id="8" name="TextBox 7"/>
          <p:cNvSpPr txBox="1"/>
          <p:nvPr/>
        </p:nvSpPr>
        <p:spPr>
          <a:xfrm>
            <a:off x="3352800" y="1905000"/>
            <a:ext cx="5181600" cy="431596"/>
          </a:xfrm>
          <a:prstGeom prst="rect">
            <a:avLst/>
          </a:prstGeom>
          <a:noFill/>
        </p:spPr>
        <p:txBody>
          <a:bodyPr wrap="none" lIns="0" rIns="0" tIns="0" bIns="0">
            <a:spAutoFit/>
          </a:bodyPr>
          <a:lstStyle/>
          <a:p>
            <a:pPr>
              <a:lnSpc>
                <a:spcPct val="105000"/>
              </a:lnSpc>
              <a:spcAft>
                <a:spcPts val="0"/>
              </a:spcAft>
              <a:defRPr sz="2280" b="1">
                <a:solidFill>
                  <a:srgbClr val="303A68"/>
                </a:solidFill>
                <a:latin typeface="Arial"/>
              </a:defRPr>
            </a:pPr>
            <a:r>
              <a:t>Play without leaving the map</a:t>
            </a:r>
          </a:p>
        </p:txBody>
      </p:sp>
      <p:sp>
        <p:nvSpPr>
          <p:cNvPr id="9" name="TextBox 8"/>
          <p:cNvSpPr txBox="1"/>
          <p:nvPr/>
        </p:nvSpPr>
        <p:spPr>
          <a:xfrm>
            <a:off x="3352800" y="2552700"/>
            <a:ext cx="4953000" cy="1699564"/>
          </a:xfrm>
          <a:prstGeom prst="rect">
            <a:avLst/>
          </a:prstGeom>
          <a:noFill/>
        </p:spPr>
        <p:txBody>
          <a:bodyPr wrap="none" lIns="0" rIns="0" tIns="0" bIns="0">
            <a:spAutoFit/>
          </a:bodyPr>
          <a:lstStyle/>
          <a:p>
            <a:pPr>
              <a:lnSpc>
                <a:spcPct val="105000"/>
              </a:lnSpc>
              <a:spcAft>
                <a:spcPts val="0"/>
              </a:spcAft>
              <a:defRPr sz="1680" b="0">
                <a:solidFill>
                  <a:srgbClr val="4D4B46"/>
                </a:solidFill>
                <a:latin typeface="Arial"/>
              </a:defRPr>
            </a:pPr>
            <a:r>
              <a:t>21 keys in an on-map panel</a:t>
            </a:r>
          </a:p>
          <a:p>
            <a:pPr>
              <a:lnSpc>
                <a:spcPct val="105000"/>
              </a:lnSpc>
              <a:spcAft>
                <a:spcPts val="0"/>
              </a:spcAft>
              <a:defRPr sz="1680" b="0">
                <a:solidFill>
                  <a:srgbClr val="4D4B46"/>
                </a:solidFill>
                <a:latin typeface="Arial"/>
              </a:defRPr>
            </a:pPr>
            <a:r>
              <a:t>One performer; others can listen</a:t>
            </a:r>
          </a:p>
          <a:p>
            <a:pPr>
              <a:lnSpc>
                <a:spcPct val="105000"/>
              </a:lnSpc>
              <a:spcAft>
                <a:spcPts val="0"/>
              </a:spcAft>
              <a:defRPr sz="1680" b="0">
                <a:solidFill>
                  <a:srgbClr val="4D4B46"/>
                </a:solidFill>
                <a:latin typeface="Arial"/>
              </a:defRPr>
            </a:pPr>
            <a:r>
              <a:t>Occupied notice shows the nickname</a:t>
            </a:r>
          </a:p>
          <a:p>
            <a:pPr>
              <a:lnSpc>
                <a:spcPct val="105000"/>
              </a:lnSpc>
              <a:spcAft>
                <a:spcPts val="0"/>
              </a:spcAft>
              <a:defRPr sz="1680" b="0">
                <a:solidFill>
                  <a:srgbClr val="4D4B46"/>
                </a:solidFill>
                <a:latin typeface="Arial"/>
              </a:defRPr>
            </a:pPr>
            <a:r>
              <a:t>Playing icon moves with musical notes</a:t>
            </a:r>
          </a:p>
          <a:p>
            <a:pPr>
              <a:lnSpc>
                <a:spcPct val="105000"/>
              </a:lnSpc>
              <a:spcAft>
                <a:spcPts val="0"/>
              </a:spcAft>
              <a:defRPr sz="1680" b="0">
                <a:solidFill>
                  <a:srgbClr val="4D4B46"/>
                </a:solidFill>
                <a:latin typeface="Arial"/>
              </a:defRPr>
            </a:pPr>
            <a:r>
              <a:t>8 seconds idle → seat released</a:t>
            </a:r>
          </a:p>
          <a:p>
            <a:pPr>
              <a:lnSpc>
                <a:spcPct val="105000"/>
              </a:lnSpc>
              <a:spcAft>
                <a:spcPts val="0"/>
              </a:spcAft>
              <a:defRPr sz="1680" b="0">
                <a:solidFill>
                  <a:srgbClr val="4D4B46"/>
                </a:solidFill>
                <a:latin typeface="Arial"/>
              </a:defRPr>
            </a:pPr>
            <a:r>
              <a:t>Sound control and a clear exit</a:t>
            </a:r>
          </a:p>
        </p:txBody>
      </p:sp>
      <p:sp>
        <p:nvSpPr>
          <p:cNvPr id="10" name="Rounded Rectangle 9"/>
          <p:cNvSpPr/>
          <p:nvPr/>
        </p:nvSpPr>
        <p:spPr>
          <a:xfrm>
            <a:off x="3352800" y="5067300"/>
            <a:ext cx="7848600" cy="8001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3300" y="5234940"/>
            <a:ext cx="7429500" cy="587654"/>
          </a:xfrm>
          <a:prstGeom prst="rect">
            <a:avLst/>
          </a:prstGeom>
          <a:noFill/>
        </p:spPr>
        <p:txBody>
          <a:bodyPr wrap="none" lIns="0" rIns="0" tIns="0" bIns="0">
            <a:spAutoFit/>
          </a:bodyPr>
          <a:lstStyle/>
          <a:p>
            <a:pPr>
              <a:lnSpc>
                <a:spcPct val="105000"/>
              </a:lnSpc>
              <a:spcAft>
                <a:spcPts val="0"/>
              </a:spcAft>
              <a:defRPr sz="1620" b="0">
                <a:solidFill>
                  <a:srgbClr val="303A68"/>
                </a:solidFill>
                <a:latin typeface="Arial"/>
              </a:defRPr>
            </a:pPr>
            <a:r>
              <a:t>All activity entrances share proximity cues and a route back to the</a:t>
            </a:r>
          </a:p>
          <a:p>
            <a:pPr>
              <a:lnSpc>
                <a:spcPct val="105000"/>
              </a:lnSpc>
              <a:spcAft>
                <a:spcPts val="0"/>
              </a:spcAft>
              <a:defRPr sz="1620" b="0">
                <a:solidFill>
                  <a:srgbClr val="303A68"/>
                </a:solidFill>
                <a:latin typeface="Arial"/>
              </a:defRPr>
            </a:pPr>
            <a:r>
              <a:t>map.</a:t>
            </a:r>
          </a:p>
        </p:txBody>
      </p:sp>
      <p:sp>
        <p:nvSpPr>
          <p:cNvPr id="12" name="TextBox 1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07</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03 / SHOWCASE FILM</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From noticing to participating</a:t>
            </a:r>
          </a:p>
        </p:txBody>
      </p:sp>
      <p:sp>
        <p:nvSpPr>
          <p:cNvPr id="6" name="Rounded Rectangle 5"/>
          <p:cNvSpPr/>
          <p:nvPr/>
        </p:nvSpPr>
        <p:spPr>
          <a:xfrm>
            <a:off x="571500" y="1638300"/>
            <a:ext cx="11049000" cy="4076699"/>
          </a:xfrm>
          <a:prstGeom prst="roundRect">
            <a:avLst>
              <a:gd name="adj" fmla="val 14000"/>
            </a:avLst>
          </a:prstGeom>
          <a:solidFill>
            <a:srgbClr val="30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900" y="2118360"/>
            <a:ext cx="9906000" cy="431596"/>
          </a:xfrm>
          <a:prstGeom prst="rect">
            <a:avLst/>
          </a:prstGeom>
          <a:noFill/>
        </p:spPr>
        <p:txBody>
          <a:bodyPr wrap="none" lIns="0" rIns="0" tIns="0" bIns="0">
            <a:spAutoFit/>
          </a:bodyPr>
          <a:lstStyle/>
          <a:p>
            <a:pPr>
              <a:lnSpc>
                <a:spcPct val="105000"/>
              </a:lnSpc>
              <a:spcAft>
                <a:spcPts val="0"/>
              </a:spcAft>
              <a:defRPr sz="2280" b="1">
                <a:solidFill>
                  <a:srgbClr val="FFFFFF"/>
                </a:solidFill>
                <a:latin typeface="Arial"/>
              </a:defRPr>
            </a:pPr>
            <a:r>
              <a:t>INSERT YOUR SHOWCASE VIDEO</a:t>
            </a:r>
          </a:p>
        </p:txBody>
      </p:sp>
      <p:sp>
        <p:nvSpPr>
          <p:cNvPr id="8" name="TextBox 7"/>
          <p:cNvSpPr txBox="1"/>
          <p:nvPr/>
        </p:nvSpPr>
        <p:spPr>
          <a:xfrm>
            <a:off x="1104900" y="2705100"/>
            <a:ext cx="9677400" cy="353568"/>
          </a:xfrm>
          <a:prstGeom prst="rect">
            <a:avLst/>
          </a:prstGeom>
          <a:noFill/>
        </p:spPr>
        <p:txBody>
          <a:bodyPr wrap="none" lIns="0" rIns="0" tIns="0" bIns="0">
            <a:spAutoFit/>
          </a:bodyPr>
          <a:lstStyle/>
          <a:p>
            <a:pPr>
              <a:lnSpc>
                <a:spcPct val="105000"/>
              </a:lnSpc>
              <a:spcAft>
                <a:spcPts val="0"/>
              </a:spcAft>
              <a:defRPr sz="1800" b="0">
                <a:solidFill>
                  <a:srgbClr val="EAE4D7"/>
                </a:solidFill>
                <a:latin typeface="Arial"/>
              </a:defRPr>
            </a:pPr>
            <a:r>
              <a:t>75 seconds / two participants + phones + public display</a:t>
            </a:r>
          </a:p>
        </p:txBody>
      </p:sp>
      <p:sp>
        <p:nvSpPr>
          <p:cNvPr id="9" name="TextBox 8"/>
          <p:cNvSpPr txBox="1"/>
          <p:nvPr/>
        </p:nvSpPr>
        <p:spPr>
          <a:xfrm>
            <a:off x="1104900" y="3467100"/>
            <a:ext cx="8991600" cy="470611"/>
          </a:xfrm>
          <a:prstGeom prst="rect">
            <a:avLst/>
          </a:prstGeom>
          <a:noFill/>
        </p:spPr>
        <p:txBody>
          <a:bodyPr wrap="none" lIns="0" rIns="0" tIns="0" bIns="0">
            <a:spAutoFit/>
          </a:bodyPr>
          <a:lstStyle/>
          <a:p>
            <a:pPr>
              <a:lnSpc>
                <a:spcPct val="105000"/>
              </a:lnSpc>
              <a:spcAft>
                <a:spcPts val="0"/>
              </a:spcAft>
              <a:defRPr sz="2520" b="1">
                <a:solidFill>
                  <a:srgbClr val="FFFFFF"/>
                </a:solidFill>
                <a:latin typeface="Arial"/>
              </a:defRPr>
            </a:pPr>
            <a:r>
              <a:t>Join → meet → collaborate → reflect → listen</a:t>
            </a:r>
          </a:p>
        </p:txBody>
      </p:sp>
      <p:sp>
        <p:nvSpPr>
          <p:cNvPr id="10" name="TextBox 9"/>
          <p:cNvSpPr txBox="1"/>
          <p:nvPr/>
        </p:nvSpPr>
        <p:spPr>
          <a:xfrm>
            <a:off x="1104900" y="4457700"/>
            <a:ext cx="9144000" cy="314553"/>
          </a:xfrm>
          <a:prstGeom prst="rect">
            <a:avLst/>
          </a:prstGeom>
          <a:noFill/>
        </p:spPr>
        <p:txBody>
          <a:bodyPr wrap="none" lIns="0" rIns="0" tIns="0" bIns="0">
            <a:spAutoFit/>
          </a:bodyPr>
          <a:lstStyle/>
          <a:p>
            <a:pPr>
              <a:lnSpc>
                <a:spcPct val="105000"/>
              </a:lnSpc>
              <a:spcAft>
                <a:spcPts val="0"/>
              </a:spcAft>
              <a:defRPr sz="1560" b="0">
                <a:solidFill>
                  <a:srgbClr val="EFDAD3"/>
                </a:solidFill>
                <a:latin typeface="Arial"/>
              </a:defRPr>
            </a:pPr>
            <a:r>
              <a:t>Replace this page with real recorded footage before presenting.</a:t>
            </a:r>
          </a:p>
        </p:txBody>
      </p:sp>
      <p:sp>
        <p:nvSpPr>
          <p:cNvPr id="11" name="TextBox 10"/>
          <p:cNvSpPr txBox="1"/>
          <p:nvPr/>
        </p:nvSpPr>
        <p:spPr>
          <a:xfrm>
            <a:off x="609600" y="6019800"/>
            <a:ext cx="10668000" cy="304800"/>
          </a:xfrm>
          <a:prstGeom prst="rect">
            <a:avLst/>
          </a:prstGeom>
          <a:noFill/>
        </p:spPr>
        <p:txBody>
          <a:bodyPr wrap="none" lIns="0" rIns="0" tIns="0" bIns="0">
            <a:spAutoFit/>
          </a:bodyPr>
          <a:lstStyle/>
          <a:p>
            <a:pPr>
              <a:lnSpc>
                <a:spcPct val="105000"/>
              </a:lnSpc>
              <a:spcAft>
                <a:spcPts val="0"/>
              </a:spcAft>
              <a:defRPr sz="1500" b="0">
                <a:solidFill>
                  <a:srgbClr val="76746E"/>
                </a:solidFill>
                <a:latin typeface="Arial"/>
              </a:defRPr>
            </a:pPr>
            <a:r>
              <a:t>Brief requirement: a 1–2 minute showcase video of the experience in use.</a:t>
            </a:r>
          </a:p>
        </p:txBody>
      </p:sp>
      <p:sp>
        <p:nvSpPr>
          <p:cNvPr id="12" name="TextBox 1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08</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04 / LIVE DEMONSTRATION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Two people. Four choices. One shared drink.</a:t>
            </a:r>
          </a:p>
        </p:txBody>
      </p:sp>
      <p:pic>
        <p:nvPicPr>
          <p:cNvPr id="6" name="Picture 5" descr="drink-maker-matching.png"/>
          <p:cNvPicPr>
            <a:picLocks noChangeAspect="1"/>
          </p:cNvPicPr>
          <p:nvPr/>
        </p:nvPicPr>
        <p:blipFill>
          <a:blip r:embed="rId2"/>
          <a:stretch>
            <a:fillRect/>
          </a:stretch>
        </p:blipFill>
        <p:spPr>
          <a:xfrm>
            <a:off x="784300" y="1752600"/>
            <a:ext cx="1936599" cy="4190999"/>
          </a:xfrm>
          <a:prstGeom prst="rect">
            <a:avLst/>
          </a:prstGeom>
        </p:spPr>
      </p:pic>
      <p:pic>
        <p:nvPicPr>
          <p:cNvPr id="7" name="Picture 6" descr="drink-maker-your-turn.png"/>
          <p:cNvPicPr>
            <a:picLocks noChangeAspect="1"/>
          </p:cNvPicPr>
          <p:nvPr/>
        </p:nvPicPr>
        <p:blipFill>
          <a:blip r:embed="rId3"/>
          <a:stretch>
            <a:fillRect/>
          </a:stretch>
        </p:blipFill>
        <p:spPr>
          <a:xfrm>
            <a:off x="3489400" y="1752600"/>
            <a:ext cx="1936599" cy="4190999"/>
          </a:xfrm>
          <a:prstGeom prst="rect">
            <a:avLst/>
          </a:prstGeom>
        </p:spPr>
      </p:pic>
      <p:pic>
        <p:nvPicPr>
          <p:cNvPr id="8" name="Picture 7" descr="drink-maker-online-finished.png"/>
          <p:cNvPicPr>
            <a:picLocks noChangeAspect="1"/>
          </p:cNvPicPr>
          <p:nvPr/>
        </p:nvPicPr>
        <p:blipFill>
          <a:blip r:embed="rId4"/>
          <a:stretch>
            <a:fillRect/>
          </a:stretch>
        </p:blipFill>
        <p:spPr>
          <a:xfrm>
            <a:off x="6194500" y="1752600"/>
            <a:ext cx="1936599" cy="4190999"/>
          </a:xfrm>
          <a:prstGeom prst="rect">
            <a:avLst/>
          </a:prstGeom>
        </p:spPr>
      </p:pic>
      <p:pic>
        <p:nvPicPr>
          <p:cNvPr id="9" name="Picture 8" descr="join-qr.png"/>
          <p:cNvPicPr>
            <a:picLocks noChangeAspect="1"/>
          </p:cNvPicPr>
          <p:nvPr/>
        </p:nvPicPr>
        <p:blipFill>
          <a:blip r:embed="rId5"/>
          <a:stretch>
            <a:fillRect/>
          </a:stretch>
        </p:blipFill>
        <p:spPr>
          <a:xfrm>
            <a:off x="9067800" y="2057400"/>
            <a:ext cx="2209800" cy="2209800"/>
          </a:xfrm>
          <a:prstGeom prst="rect">
            <a:avLst/>
          </a:prstGeom>
        </p:spPr>
      </p:pic>
      <p:sp>
        <p:nvSpPr>
          <p:cNvPr id="10" name="TextBox 9"/>
          <p:cNvSpPr txBox="1"/>
          <p:nvPr/>
        </p:nvSpPr>
        <p:spPr>
          <a:xfrm>
            <a:off x="8915400" y="4572000"/>
            <a:ext cx="25146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LIVE DEMO</a:t>
            </a:r>
          </a:p>
        </p:txBody>
      </p:sp>
      <p:sp>
        <p:nvSpPr>
          <p:cNvPr id="11" name="TextBox 10"/>
          <p:cNvSpPr txBox="1"/>
          <p:nvPr/>
        </p:nvSpPr>
        <p:spPr>
          <a:xfrm>
            <a:off x="8915400" y="4876800"/>
            <a:ext cx="251460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Room: showcase</a:t>
            </a:r>
          </a:p>
          <a:p>
            <a:pPr>
              <a:lnSpc>
                <a:spcPct val="105000"/>
              </a:lnSpc>
              <a:spcAft>
                <a:spcPts val="0"/>
              </a:spcAft>
              <a:defRPr sz="1500" b="0">
                <a:solidFill>
                  <a:srgbClr val="4D4B46"/>
                </a:solidFill>
                <a:latin typeface="Arial"/>
              </a:defRPr>
            </a:pPr>
            <a:r>
              <a:t>Two phones, one display</a:t>
            </a:r>
          </a:p>
          <a:p>
            <a:pPr>
              <a:lnSpc>
                <a:spcPct val="105000"/>
              </a:lnSpc>
              <a:spcAft>
                <a:spcPts val="0"/>
              </a:spcAft>
              <a:defRPr sz="1500" b="0">
                <a:solidFill>
                  <a:srgbClr val="4D4B46"/>
                </a:solidFill>
                <a:latin typeface="Arial"/>
              </a:defRPr>
            </a:pPr>
            <a:r>
              <a:t>Target: 60 seconds</a:t>
            </a:r>
          </a:p>
        </p:txBody>
      </p:sp>
      <p:sp>
        <p:nvSpPr>
          <p:cNvPr id="12" name="TextBox 11">
            <a:hlinkClick r:id="rId6"/>
          </p:cNvPr>
          <p:cNvSpPr txBox="1"/>
          <p:nvPr/>
        </p:nvSpPr>
        <p:spPr>
          <a:xfrm>
            <a:off x="8915400" y="5791200"/>
            <a:ext cx="25146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Open public display ↗</a:t>
            </a:r>
          </a:p>
        </p:txBody>
      </p:sp>
      <p:sp>
        <p:nvSpPr>
          <p:cNvPr id="13" name="TextBox 12"/>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09</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05 / SOCIAL UX REFLECTION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The six course principles, applied</a:t>
            </a:r>
          </a:p>
        </p:txBody>
      </p:sp>
      <p:sp>
        <p:nvSpPr>
          <p:cNvPr id="6" name="TextBox 5"/>
          <p:cNvSpPr txBox="1"/>
          <p:nvPr/>
        </p:nvSpPr>
        <p:spPr>
          <a:xfrm>
            <a:off x="609600" y="1409700"/>
            <a:ext cx="10668000" cy="295046"/>
          </a:xfrm>
          <a:prstGeom prst="rect">
            <a:avLst/>
          </a:prstGeom>
          <a:noFill/>
        </p:spPr>
        <p:txBody>
          <a:bodyPr wrap="none" lIns="0" rIns="0" tIns="0" bIns="0">
            <a:spAutoFit/>
          </a:bodyPr>
          <a:lstStyle/>
          <a:p>
            <a:pPr>
              <a:lnSpc>
                <a:spcPct val="105000"/>
              </a:lnSpc>
              <a:spcAft>
                <a:spcPts val="0"/>
              </a:spcAft>
              <a:defRPr sz="1439" b="0">
                <a:solidFill>
                  <a:srgbClr val="76746E"/>
                </a:solidFill>
                <a:latin typeface="Arial"/>
              </a:defRPr>
            </a:pPr>
            <a:r>
              <a:t>A course framework connected to concrete design decisions.</a:t>
            </a:r>
          </a:p>
        </p:txBody>
      </p:sp>
      <p:sp>
        <p:nvSpPr>
          <p:cNvPr id="7" name="Rounded Rectangle 6"/>
          <p:cNvSpPr/>
          <p:nvPr/>
        </p:nvSpPr>
        <p:spPr>
          <a:xfrm>
            <a:off x="571500" y="1905000"/>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914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01</a:t>
            </a:r>
          </a:p>
        </p:txBody>
      </p:sp>
      <p:sp>
        <p:nvSpPr>
          <p:cNvPr id="9" name="TextBox 8"/>
          <p:cNvSpPr txBox="1"/>
          <p:nvPr/>
        </p:nvSpPr>
        <p:spPr>
          <a:xfrm>
            <a:off x="73914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Sensory Feedback</a:t>
            </a:r>
          </a:p>
        </p:txBody>
      </p:sp>
      <p:sp>
        <p:nvSpPr>
          <p:cNvPr id="10" name="TextBox 9"/>
          <p:cNvSpPr txBox="1"/>
          <p:nvPr/>
        </p:nvSpPr>
        <p:spPr>
          <a:xfrm>
            <a:off x="73914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Piano sound confirms actions.</a:t>
            </a:r>
          </a:p>
        </p:txBody>
      </p:sp>
      <p:sp>
        <p:nvSpPr>
          <p:cNvPr id="11" name="Rounded Rectangle 10"/>
          <p:cNvSpPr/>
          <p:nvPr/>
        </p:nvSpPr>
        <p:spPr>
          <a:xfrm>
            <a:off x="4328160" y="1905000"/>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80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02</a:t>
            </a:r>
          </a:p>
        </p:txBody>
      </p:sp>
      <p:sp>
        <p:nvSpPr>
          <p:cNvPr id="13" name="TextBox 12"/>
          <p:cNvSpPr txBox="1"/>
          <p:nvPr/>
        </p:nvSpPr>
        <p:spPr>
          <a:xfrm>
            <a:off x="449580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Embodied Interaction</a:t>
            </a:r>
          </a:p>
        </p:txBody>
      </p:sp>
      <p:sp>
        <p:nvSpPr>
          <p:cNvPr id="14" name="TextBox 13"/>
          <p:cNvSpPr txBox="1"/>
          <p:nvPr/>
        </p:nvSpPr>
        <p:spPr>
          <a:xfrm>
            <a:off x="449580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Dragging maps to movement.</a:t>
            </a:r>
          </a:p>
        </p:txBody>
      </p:sp>
      <p:sp>
        <p:nvSpPr>
          <p:cNvPr id="15" name="Rounded Rectangle 14"/>
          <p:cNvSpPr/>
          <p:nvPr/>
        </p:nvSpPr>
        <p:spPr>
          <a:xfrm>
            <a:off x="8084820" y="1905000"/>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2460" y="2034540"/>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03</a:t>
            </a:r>
          </a:p>
        </p:txBody>
      </p:sp>
      <p:sp>
        <p:nvSpPr>
          <p:cNvPr id="17" name="TextBox 16"/>
          <p:cNvSpPr txBox="1"/>
          <p:nvPr/>
        </p:nvSpPr>
        <p:spPr>
          <a:xfrm>
            <a:off x="8252460" y="22860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Social Dynamics</a:t>
            </a:r>
          </a:p>
        </p:txBody>
      </p:sp>
      <p:sp>
        <p:nvSpPr>
          <p:cNvPr id="18" name="TextBox 17"/>
          <p:cNvSpPr txBox="1"/>
          <p:nvPr/>
        </p:nvSpPr>
        <p:spPr>
          <a:xfrm>
            <a:off x="8252460" y="2692908"/>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Co-presence and split roles.</a:t>
            </a:r>
          </a:p>
        </p:txBody>
      </p:sp>
      <p:sp>
        <p:nvSpPr>
          <p:cNvPr id="19" name="Rounded Rectangle 18"/>
          <p:cNvSpPr/>
          <p:nvPr/>
        </p:nvSpPr>
        <p:spPr>
          <a:xfrm>
            <a:off x="571500" y="3848099"/>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14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04</a:t>
            </a:r>
          </a:p>
        </p:txBody>
      </p:sp>
      <p:sp>
        <p:nvSpPr>
          <p:cNvPr id="21" name="TextBox 20"/>
          <p:cNvSpPr txBox="1"/>
          <p:nvPr/>
        </p:nvSpPr>
        <p:spPr>
          <a:xfrm>
            <a:off x="73914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Resilience &amp; Motivation</a:t>
            </a:r>
          </a:p>
        </p:txBody>
      </p:sp>
      <p:sp>
        <p:nvSpPr>
          <p:cNvPr id="22" name="TextBox 21"/>
          <p:cNvSpPr txBox="1"/>
          <p:nvPr/>
        </p:nvSpPr>
        <p:spPr>
          <a:xfrm>
            <a:off x="73914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Gentler fishing and retry.</a:t>
            </a:r>
          </a:p>
        </p:txBody>
      </p:sp>
      <p:sp>
        <p:nvSpPr>
          <p:cNvPr id="23" name="Rounded Rectangle 22"/>
          <p:cNvSpPr/>
          <p:nvPr/>
        </p:nvSpPr>
        <p:spPr>
          <a:xfrm>
            <a:off x="4328160" y="3848099"/>
            <a:ext cx="3581400" cy="17145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9580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05</a:t>
            </a:r>
          </a:p>
        </p:txBody>
      </p:sp>
      <p:sp>
        <p:nvSpPr>
          <p:cNvPr id="25" name="TextBox 24"/>
          <p:cNvSpPr txBox="1"/>
          <p:nvPr/>
        </p:nvSpPr>
        <p:spPr>
          <a:xfrm>
            <a:off x="449580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Proactivity &amp; Clarity</a:t>
            </a:r>
          </a:p>
        </p:txBody>
      </p:sp>
      <p:sp>
        <p:nvSpPr>
          <p:cNvPr id="26" name="TextBox 25"/>
          <p:cNvSpPr txBox="1"/>
          <p:nvPr/>
        </p:nvSpPr>
        <p:spPr>
          <a:xfrm>
            <a:off x="449580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Proximity glow and turn cues.</a:t>
            </a:r>
          </a:p>
        </p:txBody>
      </p:sp>
      <p:sp>
        <p:nvSpPr>
          <p:cNvPr id="27" name="Rounded Rectangle 26"/>
          <p:cNvSpPr/>
          <p:nvPr/>
        </p:nvSpPr>
        <p:spPr>
          <a:xfrm>
            <a:off x="8084820" y="3848099"/>
            <a:ext cx="3581400" cy="1714500"/>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52460" y="3977639"/>
            <a:ext cx="32461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06</a:t>
            </a:r>
          </a:p>
        </p:txBody>
      </p:sp>
      <p:sp>
        <p:nvSpPr>
          <p:cNvPr id="29" name="TextBox 28"/>
          <p:cNvSpPr txBox="1"/>
          <p:nvPr/>
        </p:nvSpPr>
        <p:spPr>
          <a:xfrm>
            <a:off x="8252460" y="4229100"/>
            <a:ext cx="32461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Ethics &amp; Inclusion</a:t>
            </a:r>
          </a:p>
        </p:txBody>
      </p:sp>
      <p:sp>
        <p:nvSpPr>
          <p:cNvPr id="30" name="TextBox 29"/>
          <p:cNvSpPr txBox="1"/>
          <p:nvPr/>
        </p:nvSpPr>
        <p:spPr>
          <a:xfrm>
            <a:off x="8252460" y="4636007"/>
            <a:ext cx="32461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Temporary IDs, mute and exits.</a:t>
            </a:r>
          </a:p>
        </p:txBody>
      </p:sp>
      <p:sp>
        <p:nvSpPr>
          <p:cNvPr id="31" name="TextBox 30"/>
          <p:cNvSpPr txBox="1"/>
          <p:nvPr/>
        </p:nvSpPr>
        <p:spPr>
          <a:xfrm>
            <a:off x="609600" y="5928360"/>
            <a:ext cx="10668000" cy="246278"/>
          </a:xfrm>
          <a:prstGeom prst="rect">
            <a:avLst/>
          </a:prstGeom>
          <a:noFill/>
        </p:spPr>
        <p:txBody>
          <a:bodyPr wrap="none" lIns="0" rIns="0" tIns="0" bIns="0">
            <a:spAutoFit/>
          </a:bodyPr>
          <a:lstStyle/>
          <a:p>
            <a:pPr>
              <a:lnSpc>
                <a:spcPct val="105000"/>
              </a:lnSpc>
              <a:spcAft>
                <a:spcPts val="0"/>
              </a:spcAft>
              <a:defRPr sz="1140" b="0">
                <a:solidFill>
                  <a:srgbClr val="76746E"/>
                </a:solidFill>
                <a:latin typeface="Arial"/>
              </a:defRPr>
            </a:pPr>
            <a:r>
              <a:t>Framework: Session 2, p. 6; Session 3, p. 8. Grounding: CSCW / affordances / signifiers (Sessions 2 &amp; 5).</a:t>
            </a:r>
          </a:p>
        </p:txBody>
      </p:sp>
      <p:sp>
        <p:nvSpPr>
          <p:cNvPr id="32" name="TextBox 31"/>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10</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06 / ATMOSPHERE + SENSORY EXPERIENCE</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familiar campus, with small invitations</a:t>
            </a:r>
          </a:p>
        </p:txBody>
      </p:sp>
      <p:pic>
        <p:nvPicPr>
          <p:cNvPr id="6" name="Picture 5" descr="piano-playing.png"/>
          <p:cNvPicPr>
            <a:picLocks noChangeAspect="1"/>
          </p:cNvPicPr>
          <p:nvPr/>
        </p:nvPicPr>
        <p:blipFill>
          <a:blip r:embed="rId2"/>
          <a:stretch>
            <a:fillRect/>
          </a:stretch>
        </p:blipFill>
        <p:spPr>
          <a:xfrm>
            <a:off x="7841467" y="1562100"/>
            <a:ext cx="2147864" cy="4648200"/>
          </a:xfrm>
          <a:prstGeom prst="rect">
            <a:avLst/>
          </a:prstGeom>
        </p:spPr>
      </p:pic>
      <p:sp>
        <p:nvSpPr>
          <p:cNvPr id="7" name="TextBox 6"/>
          <p:cNvSpPr txBox="1"/>
          <p:nvPr/>
        </p:nvSpPr>
        <p:spPr>
          <a:xfrm>
            <a:off x="609600" y="1866899"/>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A narrative setting</a:t>
            </a:r>
          </a:p>
        </p:txBody>
      </p:sp>
      <p:sp>
        <p:nvSpPr>
          <p:cNvPr id="8" name="TextBox 7"/>
          <p:cNvSpPr txBox="1"/>
          <p:nvPr/>
        </p:nvSpPr>
        <p:spPr>
          <a:xfrm>
            <a:off x="609600" y="23012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A shared campus rather than a linear quest.</a:t>
            </a:r>
          </a:p>
        </p:txBody>
      </p:sp>
      <p:sp>
        <p:nvSpPr>
          <p:cNvPr id="9" name="TextBox 8"/>
          <p:cNvSpPr txBox="1"/>
          <p:nvPr/>
        </p:nvSpPr>
        <p:spPr>
          <a:xfrm>
            <a:off x="609600" y="3200400"/>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Visual invitation</a:t>
            </a:r>
          </a:p>
        </p:txBody>
      </p:sp>
      <p:sp>
        <p:nvSpPr>
          <p:cNvPr id="10" name="TextBox 9"/>
          <p:cNvSpPr txBox="1"/>
          <p:nvPr/>
        </p:nvSpPr>
        <p:spPr>
          <a:xfrm>
            <a:off x="609600" y="36347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Consistent icons, soft colours and proximity glow.</a:t>
            </a:r>
          </a:p>
        </p:txBody>
      </p:sp>
      <p:sp>
        <p:nvSpPr>
          <p:cNvPr id="11" name="TextBox 10"/>
          <p:cNvSpPr txBox="1"/>
          <p:nvPr/>
        </p:nvSpPr>
        <p:spPr>
          <a:xfrm>
            <a:off x="609600" y="4533900"/>
            <a:ext cx="64770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Sensory reward</a:t>
            </a:r>
          </a:p>
        </p:txBody>
      </p:sp>
      <p:sp>
        <p:nvSpPr>
          <p:cNvPr id="12" name="TextBox 11"/>
          <p:cNvSpPr txBox="1"/>
          <p:nvPr/>
        </p:nvSpPr>
        <p:spPr>
          <a:xfrm>
            <a:off x="609600" y="4968240"/>
            <a:ext cx="6286500" cy="353568"/>
          </a:xfrm>
          <a:prstGeom prst="rect">
            <a:avLst/>
          </a:prstGeom>
          <a:noFill/>
        </p:spPr>
        <p:txBody>
          <a:bodyPr wrap="none" lIns="0" rIns="0" tIns="0" bIns="0">
            <a:spAutoFit/>
          </a:bodyPr>
          <a:lstStyle/>
          <a:p>
            <a:pPr>
              <a:lnSpc>
                <a:spcPct val="105000"/>
              </a:lnSpc>
              <a:spcAft>
                <a:spcPts val="0"/>
              </a:spcAft>
              <a:defRPr sz="1800" b="0">
                <a:solidFill>
                  <a:srgbClr val="4D4B46"/>
                </a:solidFill>
                <a:latin typeface="Arial"/>
              </a:defRPr>
            </a:pPr>
            <a:r>
              <a:t>A shared result, a surprising fish, a live melody.</a:t>
            </a:r>
          </a:p>
        </p:txBody>
      </p:sp>
      <p:sp>
        <p:nvSpPr>
          <p:cNvPr id="13" name="TextBox 12"/>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11</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07 / DEVELOPMENT + REFINEMENT</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From initial concept to refined interactions</a:t>
            </a:r>
          </a:p>
        </p:txBody>
      </p:sp>
      <p:sp>
        <p:nvSpPr>
          <p:cNvPr id="6" name="Rounded Rectangle 5"/>
          <p:cNvSpPr/>
          <p:nvPr/>
        </p:nvSpPr>
        <p:spPr>
          <a:xfrm>
            <a:off x="571500" y="17526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6760" y="19202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Concept shift</a:t>
            </a:r>
          </a:p>
        </p:txBody>
      </p:sp>
      <p:sp>
        <p:nvSpPr>
          <p:cNvPr id="8" name="TextBox 7"/>
          <p:cNvSpPr txBox="1"/>
          <p:nvPr/>
        </p:nvSpPr>
        <p:spPr>
          <a:xfrm>
            <a:off x="2667000" y="19202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Cultural prompts / shared visuals</a:t>
            </a:r>
          </a:p>
        </p:txBody>
      </p:sp>
      <p:sp>
        <p:nvSpPr>
          <p:cNvPr id="9" name="TextBox 8"/>
          <p:cNvSpPr txBox="1"/>
          <p:nvPr/>
        </p:nvSpPr>
        <p:spPr>
          <a:xfrm>
            <a:off x="6858000" y="19202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Free exploration + shared activities</a:t>
            </a:r>
          </a:p>
        </p:txBody>
      </p:sp>
      <p:sp>
        <p:nvSpPr>
          <p:cNvPr id="10" name="Rounded Rectangle 9"/>
          <p:cNvSpPr/>
          <p:nvPr/>
        </p:nvSpPr>
        <p:spPr>
          <a:xfrm>
            <a:off x="571500" y="2552700"/>
            <a:ext cx="11049000" cy="670560"/>
          </a:xfrm>
          <a:prstGeom prst="roundRect">
            <a:avLst>
              <a:gd name="adj" fmla="val 14000"/>
            </a:avLst>
          </a:prstGeom>
          <a:solidFill>
            <a:srgbClr val="F3E9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6760" y="27203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Reliability</a:t>
            </a:r>
          </a:p>
        </p:txBody>
      </p:sp>
      <p:sp>
        <p:nvSpPr>
          <p:cNvPr id="12" name="TextBox 11"/>
          <p:cNvSpPr txBox="1"/>
          <p:nvPr/>
        </p:nvSpPr>
        <p:spPr>
          <a:xfrm>
            <a:off x="2667000" y="27203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Missing players / messages</a:t>
            </a:r>
          </a:p>
        </p:txBody>
      </p:sp>
      <p:sp>
        <p:nvSpPr>
          <p:cNvPr id="13" name="TextBox 12"/>
          <p:cNvSpPr txBox="1"/>
          <p:nvPr/>
        </p:nvSpPr>
        <p:spPr>
          <a:xfrm>
            <a:off x="6858000" y="27203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Refined presence + shared state</a:t>
            </a:r>
          </a:p>
        </p:txBody>
      </p:sp>
      <p:sp>
        <p:nvSpPr>
          <p:cNvPr id="14" name="Rounded Rectangle 13"/>
          <p:cNvSpPr/>
          <p:nvPr/>
        </p:nvSpPr>
        <p:spPr>
          <a:xfrm>
            <a:off x="571500" y="33528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760" y="35204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Mobile view</a:t>
            </a:r>
          </a:p>
        </p:txBody>
      </p:sp>
      <p:sp>
        <p:nvSpPr>
          <p:cNvPr id="16" name="TextBox 15"/>
          <p:cNvSpPr txBox="1"/>
          <p:nvPr/>
        </p:nvSpPr>
        <p:spPr>
          <a:xfrm>
            <a:off x="2667000" y="35204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Small avatar / unused space</a:t>
            </a:r>
          </a:p>
        </p:txBody>
      </p:sp>
      <p:sp>
        <p:nvSpPr>
          <p:cNvPr id="17" name="TextBox 16"/>
          <p:cNvSpPr txBox="1"/>
          <p:nvPr/>
        </p:nvSpPr>
        <p:spPr>
          <a:xfrm>
            <a:off x="6858000" y="35204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35% zoom + full viewport</a:t>
            </a:r>
          </a:p>
        </p:txBody>
      </p:sp>
      <p:sp>
        <p:nvSpPr>
          <p:cNvPr id="18" name="Rounded Rectangle 17"/>
          <p:cNvSpPr/>
          <p:nvPr/>
        </p:nvSpPr>
        <p:spPr>
          <a:xfrm>
            <a:off x="571500" y="4152900"/>
            <a:ext cx="11049000" cy="670560"/>
          </a:xfrm>
          <a:prstGeom prst="roundRect">
            <a:avLst>
              <a:gd name="adj" fmla="val 14000"/>
            </a:avLst>
          </a:prstGeom>
          <a:solidFill>
            <a:srgbClr val="F3E9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760" y="43205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Cooperation</a:t>
            </a:r>
          </a:p>
        </p:txBody>
      </p:sp>
      <p:sp>
        <p:nvSpPr>
          <p:cNvPr id="20" name="TextBox 19"/>
          <p:cNvSpPr txBox="1"/>
          <p:nvPr/>
        </p:nvSpPr>
        <p:spPr>
          <a:xfrm>
            <a:off x="2667000" y="43205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Jerky / difficult fishing</a:t>
            </a:r>
          </a:p>
        </p:txBody>
      </p:sp>
      <p:sp>
        <p:nvSpPr>
          <p:cNvPr id="21" name="TextBox 20"/>
          <p:cNvSpPr txBox="1"/>
          <p:nvPr/>
        </p:nvSpPr>
        <p:spPr>
          <a:xfrm>
            <a:off x="6858000" y="43205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Smoothing + gentler timing</a:t>
            </a:r>
          </a:p>
        </p:txBody>
      </p:sp>
      <p:sp>
        <p:nvSpPr>
          <p:cNvPr id="22" name="Rounded Rectangle 21"/>
          <p:cNvSpPr/>
          <p:nvPr/>
        </p:nvSpPr>
        <p:spPr>
          <a:xfrm>
            <a:off x="571500" y="4953000"/>
            <a:ext cx="11049000" cy="67056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760" y="5120640"/>
            <a:ext cx="1790700" cy="324307"/>
          </a:xfrm>
          <a:prstGeom prst="rect">
            <a:avLst/>
          </a:prstGeom>
          <a:noFill/>
        </p:spPr>
        <p:txBody>
          <a:bodyPr wrap="none" lIns="0" rIns="0" tIns="0" bIns="0">
            <a:spAutoFit/>
          </a:bodyPr>
          <a:lstStyle/>
          <a:p>
            <a:pPr>
              <a:lnSpc>
                <a:spcPct val="105000"/>
              </a:lnSpc>
              <a:spcAft>
                <a:spcPts val="0"/>
              </a:spcAft>
              <a:defRPr sz="1620" b="1">
                <a:solidFill>
                  <a:srgbClr val="303A68"/>
                </a:solidFill>
                <a:latin typeface="Arial"/>
              </a:defRPr>
            </a:pPr>
            <a:r>
              <a:t>Shared access</a:t>
            </a:r>
          </a:p>
        </p:txBody>
      </p:sp>
      <p:sp>
        <p:nvSpPr>
          <p:cNvPr id="24" name="TextBox 23"/>
          <p:cNvSpPr txBox="1"/>
          <p:nvPr/>
        </p:nvSpPr>
        <p:spPr>
          <a:xfrm>
            <a:off x="2667000" y="5120640"/>
            <a:ext cx="3886200" cy="314553"/>
          </a:xfrm>
          <a:prstGeom prst="rect">
            <a:avLst/>
          </a:prstGeom>
          <a:noFill/>
        </p:spPr>
        <p:txBody>
          <a:bodyPr wrap="none" lIns="0" rIns="0" tIns="0" bIns="0">
            <a:spAutoFit/>
          </a:bodyPr>
          <a:lstStyle/>
          <a:p>
            <a:pPr>
              <a:lnSpc>
                <a:spcPct val="105000"/>
              </a:lnSpc>
              <a:spcAft>
                <a:spcPts val="0"/>
              </a:spcAft>
              <a:defRPr sz="1560" b="0">
                <a:solidFill>
                  <a:srgbClr val="4D4B46"/>
                </a:solidFill>
                <a:latin typeface="Arial"/>
              </a:defRPr>
            </a:pPr>
            <a:r>
              <a:t>Separate piano page / idle use</a:t>
            </a:r>
          </a:p>
        </p:txBody>
      </p:sp>
      <p:sp>
        <p:nvSpPr>
          <p:cNvPr id="25" name="TextBox 24"/>
          <p:cNvSpPr txBox="1"/>
          <p:nvPr/>
        </p:nvSpPr>
        <p:spPr>
          <a:xfrm>
            <a:off x="6858000" y="5120640"/>
            <a:ext cx="4495800" cy="314553"/>
          </a:xfrm>
          <a:prstGeom prst="rect">
            <a:avLst/>
          </a:prstGeom>
          <a:noFill/>
        </p:spPr>
        <p:txBody>
          <a:bodyPr wrap="none" lIns="0" rIns="0" tIns="0" bIns="0">
            <a:spAutoFit/>
          </a:bodyPr>
          <a:lstStyle/>
          <a:p>
            <a:pPr>
              <a:lnSpc>
                <a:spcPct val="105000"/>
              </a:lnSpc>
              <a:spcAft>
                <a:spcPts val="0"/>
              </a:spcAft>
              <a:defRPr sz="1560" b="0">
                <a:solidFill>
                  <a:srgbClr val="303A68"/>
                </a:solidFill>
                <a:latin typeface="Arial"/>
              </a:defRPr>
            </a:pPr>
            <a:r>
              <a:t>Map controls + 8-second release</a:t>
            </a:r>
          </a:p>
        </p:txBody>
      </p:sp>
      <p:sp>
        <p:nvSpPr>
          <p:cNvPr id="26" name="TextBox 25"/>
          <p:cNvSpPr txBox="1"/>
          <p:nvPr/>
        </p:nvSpPr>
        <p:spPr>
          <a:xfrm>
            <a:off x="609600" y="5981700"/>
            <a:ext cx="10668000" cy="265785"/>
          </a:xfrm>
          <a:prstGeom prst="rect">
            <a:avLst/>
          </a:prstGeom>
          <a:noFill/>
        </p:spPr>
        <p:txBody>
          <a:bodyPr wrap="none" lIns="0" rIns="0" tIns="0" bIns="0">
            <a:spAutoFit/>
          </a:bodyPr>
          <a:lstStyle/>
          <a:p>
            <a:pPr>
              <a:lnSpc>
                <a:spcPct val="105000"/>
              </a:lnSpc>
              <a:spcAft>
                <a:spcPts val="0"/>
              </a:spcAft>
              <a:defRPr sz="1260" b="0">
                <a:solidFill>
                  <a:srgbClr val="76746E"/>
                </a:solidFill>
                <a:latin typeface="Arial"/>
              </a:defRPr>
            </a:pPr>
            <a:r>
              <a:t>Initial concept: Social Interactive, slides 5, 7–8. Tokens not carried forward; unused streetlight placeholder removed.</a:t>
            </a:r>
          </a:p>
        </p:txBody>
      </p:sp>
      <p:sp>
        <p:nvSpPr>
          <p:cNvPr id="27" name="TextBox 26"/>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12</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08 / TECHNICAL IMPLEMENTATION</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A small architecture for shared participation</a:t>
            </a:r>
          </a:p>
        </p:txBody>
      </p:sp>
      <p:sp>
        <p:nvSpPr>
          <p:cNvPr id="6" name="Rounded Rectangle 5"/>
          <p:cNvSpPr/>
          <p:nvPr/>
        </p:nvSpPr>
        <p:spPr>
          <a:xfrm>
            <a:off x="571500" y="1866899"/>
            <a:ext cx="3276600" cy="1866899"/>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91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PERSONAL INPUT</a:t>
            </a:r>
          </a:p>
        </p:txBody>
      </p:sp>
      <p:sp>
        <p:nvSpPr>
          <p:cNvPr id="8" name="TextBox 7"/>
          <p:cNvSpPr txBox="1"/>
          <p:nvPr/>
        </p:nvSpPr>
        <p:spPr>
          <a:xfrm>
            <a:off x="7391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Phones</a:t>
            </a:r>
          </a:p>
        </p:txBody>
      </p:sp>
      <p:sp>
        <p:nvSpPr>
          <p:cNvPr id="9" name="TextBox 8"/>
          <p:cNvSpPr txBox="1"/>
          <p:nvPr/>
        </p:nvSpPr>
        <p:spPr>
          <a:xfrm>
            <a:off x="739140" y="2654808"/>
            <a:ext cx="2941320" cy="30480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Choose, move and interact.</a:t>
            </a:r>
          </a:p>
        </p:txBody>
      </p:sp>
      <p:sp>
        <p:nvSpPr>
          <p:cNvPr id="10" name="Rounded Rectangle 9"/>
          <p:cNvSpPr/>
          <p:nvPr/>
        </p:nvSpPr>
        <p:spPr>
          <a:xfrm>
            <a:off x="4457700" y="1866899"/>
            <a:ext cx="3276600" cy="1866899"/>
          </a:xfrm>
          <a:prstGeom prst="roundRect">
            <a:avLst>
              <a:gd name="adj" fmla="val 14000"/>
            </a:avLst>
          </a:prstGeom>
          <a:solidFill>
            <a:srgbClr val="EFDA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53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SHARED STATE</a:t>
            </a:r>
          </a:p>
        </p:txBody>
      </p:sp>
      <p:sp>
        <p:nvSpPr>
          <p:cNvPr id="12" name="TextBox 11"/>
          <p:cNvSpPr txBox="1"/>
          <p:nvPr/>
        </p:nvSpPr>
        <p:spPr>
          <a:xfrm>
            <a:off x="46253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Firebase</a:t>
            </a:r>
          </a:p>
        </p:txBody>
      </p:sp>
      <p:sp>
        <p:nvSpPr>
          <p:cNvPr id="13" name="TextBox 12"/>
          <p:cNvSpPr txBox="1"/>
          <p:nvPr/>
        </p:nvSpPr>
        <p:spPr>
          <a:xfrm>
            <a:off x="4625340" y="26548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Positions, turns, notes and</a:t>
            </a:r>
          </a:p>
          <a:p>
            <a:pPr>
              <a:lnSpc>
                <a:spcPct val="105000"/>
              </a:lnSpc>
              <a:spcAft>
                <a:spcPts val="0"/>
              </a:spcAft>
              <a:defRPr sz="1500" b="0">
                <a:solidFill>
                  <a:srgbClr val="4D4B46"/>
                </a:solidFill>
                <a:latin typeface="Arial"/>
              </a:defRPr>
            </a:pPr>
            <a:r>
              <a:t>wishes.</a:t>
            </a:r>
          </a:p>
        </p:txBody>
      </p:sp>
      <p:sp>
        <p:nvSpPr>
          <p:cNvPr id="14" name="Rounded Rectangle 13"/>
          <p:cNvSpPr/>
          <p:nvPr/>
        </p:nvSpPr>
        <p:spPr>
          <a:xfrm>
            <a:off x="8343900" y="1866899"/>
            <a:ext cx="3276600" cy="1866899"/>
          </a:xfrm>
          <a:prstGeom prst="roundRect">
            <a:avLst>
              <a:gd name="adj" fmla="val 14000"/>
            </a:avLst>
          </a:prstGeom>
          <a:solidFill>
            <a:srgbClr val="DAB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11540" y="1996439"/>
            <a:ext cx="294132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COMMON VIEW</a:t>
            </a:r>
          </a:p>
        </p:txBody>
      </p:sp>
      <p:sp>
        <p:nvSpPr>
          <p:cNvPr id="16" name="TextBox 15"/>
          <p:cNvSpPr txBox="1"/>
          <p:nvPr/>
        </p:nvSpPr>
        <p:spPr>
          <a:xfrm>
            <a:off x="8511540" y="2247900"/>
            <a:ext cx="2941320" cy="353568"/>
          </a:xfrm>
          <a:prstGeom prst="rect">
            <a:avLst/>
          </a:prstGeom>
          <a:noFill/>
        </p:spPr>
        <p:txBody>
          <a:bodyPr wrap="none" lIns="0" rIns="0" tIns="0" bIns="0">
            <a:spAutoFit/>
          </a:bodyPr>
          <a:lstStyle/>
          <a:p>
            <a:pPr>
              <a:lnSpc>
                <a:spcPct val="105000"/>
              </a:lnSpc>
              <a:spcAft>
                <a:spcPts val="0"/>
              </a:spcAft>
              <a:defRPr sz="1800" b="1">
                <a:solidFill>
                  <a:srgbClr val="303A68"/>
                </a:solidFill>
                <a:latin typeface="Arial"/>
              </a:defRPr>
            </a:pPr>
            <a:r>
              <a:t>Public display</a:t>
            </a:r>
          </a:p>
        </p:txBody>
      </p:sp>
      <p:sp>
        <p:nvSpPr>
          <p:cNvPr id="17" name="TextBox 16"/>
          <p:cNvSpPr txBox="1"/>
          <p:nvPr/>
        </p:nvSpPr>
        <p:spPr>
          <a:xfrm>
            <a:off x="8511540" y="2654808"/>
            <a:ext cx="2941320" cy="54864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See co-presence and shared</a:t>
            </a:r>
          </a:p>
          <a:p>
            <a:pPr>
              <a:lnSpc>
                <a:spcPct val="105000"/>
              </a:lnSpc>
              <a:spcAft>
                <a:spcPts val="0"/>
              </a:spcAft>
              <a:defRPr sz="1500" b="0">
                <a:solidFill>
                  <a:srgbClr val="4D4B46"/>
                </a:solidFill>
                <a:latin typeface="Arial"/>
              </a:defRPr>
            </a:pPr>
            <a:r>
              <a:t>outcomes.</a:t>
            </a:r>
          </a:p>
        </p:txBody>
      </p:sp>
      <p:sp>
        <p:nvSpPr>
          <p:cNvPr id="18" name="TextBox 17"/>
          <p:cNvSpPr txBox="1"/>
          <p:nvPr/>
        </p:nvSpPr>
        <p:spPr>
          <a:xfrm>
            <a:off x="3886200" y="2628900"/>
            <a:ext cx="533400" cy="470611"/>
          </a:xfrm>
          <a:prstGeom prst="rect">
            <a:avLst/>
          </a:prstGeom>
          <a:noFill/>
        </p:spPr>
        <p:txBody>
          <a:bodyPr wrap="none" lIns="0" rIns="0" tIns="0" bIns="0">
            <a:spAutoFit/>
          </a:bodyPr>
          <a:lstStyle/>
          <a:p>
            <a:pPr>
              <a:lnSpc>
                <a:spcPct val="105000"/>
              </a:lnSpc>
              <a:spcAft>
                <a:spcPts val="0"/>
              </a:spcAft>
              <a:defRPr sz="2520" b="0">
                <a:solidFill>
                  <a:srgbClr val="303A68"/>
                </a:solidFill>
                <a:latin typeface="Arial"/>
              </a:defRPr>
            </a:pPr>
            <a:r>
              <a:t>↔</a:t>
            </a:r>
          </a:p>
        </p:txBody>
      </p:sp>
      <p:sp>
        <p:nvSpPr>
          <p:cNvPr id="19" name="TextBox 18"/>
          <p:cNvSpPr txBox="1"/>
          <p:nvPr/>
        </p:nvSpPr>
        <p:spPr>
          <a:xfrm>
            <a:off x="7772400" y="2628900"/>
            <a:ext cx="533400" cy="470611"/>
          </a:xfrm>
          <a:prstGeom prst="rect">
            <a:avLst/>
          </a:prstGeom>
          <a:noFill/>
        </p:spPr>
        <p:txBody>
          <a:bodyPr wrap="none" lIns="0" rIns="0" tIns="0" bIns="0">
            <a:spAutoFit/>
          </a:bodyPr>
          <a:lstStyle/>
          <a:p>
            <a:pPr>
              <a:lnSpc>
                <a:spcPct val="105000"/>
              </a:lnSpc>
              <a:spcAft>
                <a:spcPts val="0"/>
              </a:spcAft>
              <a:defRPr sz="2520" b="0">
                <a:solidFill>
                  <a:srgbClr val="303A68"/>
                </a:solidFill>
                <a:latin typeface="Arial"/>
              </a:defRPr>
            </a:pPr>
            <a:r>
              <a:t>↔</a:t>
            </a:r>
          </a:p>
        </p:txBody>
      </p:sp>
      <p:sp>
        <p:nvSpPr>
          <p:cNvPr id="20" name="TextBox 19"/>
          <p:cNvSpPr txBox="1"/>
          <p:nvPr/>
        </p:nvSpPr>
        <p:spPr>
          <a:xfrm>
            <a:off x="609600" y="4267200"/>
            <a:ext cx="10515600" cy="402336"/>
          </a:xfrm>
          <a:prstGeom prst="rect">
            <a:avLst/>
          </a:prstGeom>
          <a:noFill/>
        </p:spPr>
        <p:txBody>
          <a:bodyPr wrap="none" lIns="0" rIns="0" tIns="0" bIns="0">
            <a:spAutoFit/>
          </a:bodyPr>
          <a:lstStyle/>
          <a:p>
            <a:pPr>
              <a:lnSpc>
                <a:spcPct val="105000"/>
              </a:lnSpc>
              <a:spcAft>
                <a:spcPts val="0"/>
              </a:spcAft>
              <a:defRPr sz="2100" b="1">
                <a:solidFill>
                  <a:srgbClr val="303A68"/>
                </a:solidFill>
                <a:latin typeface="Arial"/>
              </a:defRPr>
            </a:pPr>
            <a:r>
              <a:t>p5.js renders the world. GitHub Pages hosts the site.</a:t>
            </a:r>
          </a:p>
        </p:txBody>
      </p:sp>
      <p:sp>
        <p:nvSpPr>
          <p:cNvPr id="21" name="TextBox 20"/>
          <p:cNvSpPr txBox="1"/>
          <p:nvPr/>
        </p:nvSpPr>
        <p:spPr>
          <a:xfrm>
            <a:off x="609600" y="4838700"/>
            <a:ext cx="105156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Verification: 26 local checks + browser checks + reported device trials.</a:t>
            </a:r>
          </a:p>
        </p:txBody>
      </p:sp>
      <p:sp>
        <p:nvSpPr>
          <p:cNvPr id="22" name="TextBox 21"/>
          <p:cNvSpPr txBox="1"/>
          <p:nvPr/>
        </p:nvSpPr>
        <p:spPr>
          <a:xfrm>
            <a:off x="609600" y="5334000"/>
            <a:ext cx="105156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Exhibition needs: stable internet, charged phones and a recorded fallback.</a:t>
            </a:r>
          </a:p>
        </p:txBody>
      </p:sp>
      <p:sp>
        <p:nvSpPr>
          <p:cNvPr id="23" name="TextBox 22"/>
          <p:cNvSpPr txBox="1"/>
          <p:nvPr/>
        </p:nvSpPr>
        <p:spPr>
          <a:xfrm>
            <a:off x="609600" y="5829300"/>
            <a:ext cx="10515600" cy="285292"/>
          </a:xfrm>
          <a:prstGeom prst="rect">
            <a:avLst/>
          </a:prstGeom>
          <a:noFill/>
        </p:spPr>
        <p:txBody>
          <a:bodyPr wrap="none" lIns="0" rIns="0" tIns="0" bIns="0">
            <a:spAutoFit/>
          </a:bodyPr>
          <a:lstStyle/>
          <a:p>
            <a:pPr>
              <a:lnSpc>
                <a:spcPct val="105000"/>
              </a:lnSpc>
              <a:spcAft>
                <a:spcPts val="0"/>
              </a:spcAft>
              <a:defRPr sz="1380" b="0">
                <a:solidFill>
                  <a:srgbClr val="76746E"/>
                </a:solidFill>
                <a:latin typeface="Arial"/>
              </a:defRPr>
            </a:pPr>
            <a:r>
              <a:t>Automated checks are not a substitute for audience evaluation.</a:t>
            </a:r>
          </a:p>
        </p:txBody>
      </p:sp>
      <p:sp>
        <p:nvSpPr>
          <p:cNvPr id="24" name="TextBox 23"/>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13</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09 / REFLECTION + AUTHORSHIP</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Small invitations. Shared experiences.</a:t>
            </a:r>
          </a:p>
        </p:txBody>
      </p:sp>
      <p:sp>
        <p:nvSpPr>
          <p:cNvPr id="6" name="TextBox 5"/>
          <p:cNvSpPr txBox="1"/>
          <p:nvPr/>
        </p:nvSpPr>
        <p:spPr>
          <a:xfrm>
            <a:off x="609600" y="1790700"/>
            <a:ext cx="6858000" cy="977798"/>
          </a:xfrm>
          <a:prstGeom prst="rect">
            <a:avLst/>
          </a:prstGeom>
          <a:noFill/>
        </p:spPr>
        <p:txBody>
          <a:bodyPr wrap="none" lIns="0" rIns="0" tIns="0" bIns="0">
            <a:spAutoFit/>
          </a:bodyPr>
          <a:lstStyle/>
          <a:p>
            <a:pPr>
              <a:lnSpc>
                <a:spcPct val="105000"/>
              </a:lnSpc>
              <a:spcAft>
                <a:spcPts val="0"/>
              </a:spcAft>
              <a:defRPr sz="2820" b="1">
                <a:solidFill>
                  <a:srgbClr val="303A68"/>
                </a:solidFill>
                <a:latin typeface="Georgia"/>
              </a:defRPr>
            </a:pPr>
            <a:r>
              <a:t>Watch. Listen. Leave a wish.</a:t>
            </a:r>
          </a:p>
          <a:p>
            <a:pPr>
              <a:lnSpc>
                <a:spcPct val="105000"/>
              </a:lnSpc>
              <a:spcAft>
                <a:spcPts val="0"/>
              </a:spcAft>
              <a:defRPr sz="2820" b="1">
                <a:solidFill>
                  <a:srgbClr val="303A68"/>
                </a:solidFill>
                <a:latin typeface="Georgia"/>
              </a:defRPr>
            </a:pPr>
            <a:r>
              <a:t>Or do something together.</a:t>
            </a:r>
          </a:p>
        </p:txBody>
      </p:sp>
      <p:sp>
        <p:nvSpPr>
          <p:cNvPr id="7" name="TextBox 6"/>
          <p:cNvSpPr txBox="1"/>
          <p:nvPr/>
        </p:nvSpPr>
        <p:spPr>
          <a:xfrm>
            <a:off x="609600" y="3162300"/>
            <a:ext cx="6858000" cy="724204"/>
          </a:xfrm>
          <a:prstGeom prst="rect">
            <a:avLst/>
          </a:prstGeom>
          <a:noFill/>
        </p:spPr>
        <p:txBody>
          <a:bodyPr wrap="none" lIns="0" rIns="0" tIns="0" bIns="0">
            <a:spAutoFit/>
          </a:bodyPr>
          <a:lstStyle/>
          <a:p>
            <a:pPr>
              <a:lnSpc>
                <a:spcPct val="105000"/>
              </a:lnSpc>
              <a:spcAft>
                <a:spcPts val="0"/>
              </a:spcAft>
              <a:defRPr sz="2039" b="0">
                <a:solidFill>
                  <a:srgbClr val="4D4B46"/>
                </a:solidFill>
                <a:latin typeface="Arial"/>
              </a:defRPr>
            </a:pPr>
            <a:r>
              <a:t>Next evaluation:</a:t>
            </a:r>
          </a:p>
          <a:p>
            <a:pPr>
              <a:lnSpc>
                <a:spcPct val="105000"/>
              </a:lnSpc>
              <a:spcAft>
                <a:spcPts val="0"/>
              </a:spcAft>
              <a:defRPr sz="2039" b="0">
                <a:solidFill>
                  <a:srgbClr val="4D4B46"/>
                </a:solidFill>
                <a:latin typeface="Arial"/>
              </a:defRPr>
            </a:pPr>
            <a:r>
              <a:t>Can unfamiliar participants begin independently?</a:t>
            </a:r>
          </a:p>
        </p:txBody>
      </p:sp>
      <p:sp>
        <p:nvSpPr>
          <p:cNvPr id="8" name="TextBox 7"/>
          <p:cNvSpPr txBox="1"/>
          <p:nvPr/>
        </p:nvSpPr>
        <p:spPr>
          <a:xfrm>
            <a:off x="609600" y="4457700"/>
            <a:ext cx="6743700" cy="665683"/>
          </a:xfrm>
          <a:prstGeom prst="rect">
            <a:avLst/>
          </a:prstGeom>
          <a:noFill/>
        </p:spPr>
        <p:txBody>
          <a:bodyPr wrap="none" lIns="0" rIns="0" tIns="0" bIns="0">
            <a:spAutoFit/>
          </a:bodyPr>
          <a:lstStyle/>
          <a:p>
            <a:pPr>
              <a:lnSpc>
                <a:spcPct val="105000"/>
              </a:lnSpc>
              <a:spcAft>
                <a:spcPts val="0"/>
              </a:spcAft>
              <a:defRPr sz="1859" b="0">
                <a:solidFill>
                  <a:srgbClr val="4D4B46"/>
                </a:solidFill>
                <a:latin typeface="Arial"/>
              </a:defRPr>
            </a:pPr>
            <a:r>
              <a:t>AI-assisted development was selected, tested and</a:t>
            </a:r>
          </a:p>
          <a:p>
            <a:pPr>
              <a:lnSpc>
                <a:spcPct val="105000"/>
              </a:lnSpc>
              <a:spcAft>
                <a:spcPts val="0"/>
              </a:spcAft>
              <a:defRPr sz="1859" b="0">
                <a:solidFill>
                  <a:srgbClr val="4D4B46"/>
                </a:solidFill>
                <a:latin typeface="Arial"/>
              </a:defRPr>
            </a:pPr>
            <a:r>
              <a:t>refined — not treated as finished output.</a:t>
            </a:r>
          </a:p>
        </p:txBody>
      </p:sp>
      <p:sp>
        <p:nvSpPr>
          <p:cNvPr id="9" name="Rounded Rectangle 8"/>
          <p:cNvSpPr/>
          <p:nvPr/>
        </p:nvSpPr>
        <p:spPr>
          <a:xfrm>
            <a:off x="7924799" y="1752600"/>
            <a:ext cx="3619500" cy="3924300"/>
          </a:xfrm>
          <a:prstGeom prst="roundRect">
            <a:avLst>
              <a:gd name="adj" fmla="val 14000"/>
            </a:avLst>
          </a:prstGeom>
          <a:solidFill>
            <a:srgbClr val="E0E6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3399" y="1981199"/>
            <a:ext cx="3124200" cy="285292"/>
          </a:xfrm>
          <a:prstGeom prst="rect">
            <a:avLst/>
          </a:prstGeom>
          <a:noFill/>
        </p:spPr>
        <p:txBody>
          <a:bodyPr wrap="none" lIns="0" rIns="0" tIns="0" bIns="0">
            <a:spAutoFit/>
          </a:bodyPr>
          <a:lstStyle/>
          <a:p>
            <a:pPr>
              <a:lnSpc>
                <a:spcPct val="105000"/>
              </a:lnSpc>
              <a:spcAft>
                <a:spcPts val="0"/>
              </a:spcAft>
              <a:defRPr sz="1380" b="1">
                <a:solidFill>
                  <a:srgbClr val="303A68"/>
                </a:solidFill>
                <a:latin typeface="Arial"/>
              </a:defRPr>
            </a:pPr>
            <a:r>
              <a:t>AI USE</a:t>
            </a:r>
          </a:p>
        </p:txBody>
      </p:sp>
      <p:sp>
        <p:nvSpPr>
          <p:cNvPr id="11" name="TextBox 10"/>
          <p:cNvSpPr txBox="1"/>
          <p:nvPr/>
        </p:nvSpPr>
        <p:spPr>
          <a:xfrm>
            <a:off x="8153399" y="2438400"/>
            <a:ext cx="3048000" cy="968044"/>
          </a:xfrm>
          <a:prstGeom prst="rect">
            <a:avLst/>
          </a:prstGeom>
          <a:noFill/>
        </p:spPr>
        <p:txBody>
          <a:bodyPr wrap="none" lIns="0" rIns="0" tIns="0" bIns="0">
            <a:spAutoFit/>
          </a:bodyPr>
          <a:lstStyle/>
          <a:p>
            <a:pPr>
              <a:lnSpc>
                <a:spcPct val="105000"/>
              </a:lnSpc>
              <a:spcAft>
                <a:spcPts val="0"/>
              </a:spcAft>
              <a:defRPr sz="1859" b="0">
                <a:solidFill>
                  <a:srgbClr val="4D4B46"/>
                </a:solidFill>
                <a:latin typeface="Arial"/>
              </a:defRPr>
            </a:pPr>
            <a:r>
              <a:t>Code + debugging</a:t>
            </a:r>
          </a:p>
          <a:p>
            <a:pPr>
              <a:lnSpc>
                <a:spcPct val="105000"/>
              </a:lnSpc>
              <a:spcAft>
                <a:spcPts val="0"/>
              </a:spcAft>
              <a:defRPr sz="1859" b="0">
                <a:solidFill>
                  <a:srgbClr val="4D4B46"/>
                </a:solidFill>
                <a:latin typeface="Arial"/>
              </a:defRPr>
            </a:pPr>
            <a:r>
              <a:t>Some activity artwork</a:t>
            </a:r>
          </a:p>
          <a:p>
            <a:pPr>
              <a:lnSpc>
                <a:spcPct val="105000"/>
              </a:lnSpc>
              <a:spcAft>
                <a:spcPts val="0"/>
              </a:spcAft>
              <a:defRPr sz="1859" b="0">
                <a:solidFill>
                  <a:srgbClr val="4D4B46"/>
                </a:solidFill>
                <a:latin typeface="Arial"/>
              </a:defRPr>
            </a:pPr>
            <a:r>
              <a:t>Presentation drafting</a:t>
            </a:r>
          </a:p>
        </p:txBody>
      </p:sp>
      <p:sp>
        <p:nvSpPr>
          <p:cNvPr id="12" name="TextBox 11"/>
          <p:cNvSpPr txBox="1"/>
          <p:nvPr/>
        </p:nvSpPr>
        <p:spPr>
          <a:xfrm>
            <a:off x="8153399" y="3924300"/>
            <a:ext cx="3048000" cy="79248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Confirm tutor approval,</a:t>
            </a:r>
          </a:p>
          <a:p>
            <a:pPr>
              <a:lnSpc>
                <a:spcPct val="105000"/>
              </a:lnSpc>
              <a:spcAft>
                <a:spcPts val="0"/>
              </a:spcAft>
              <a:defRPr sz="1500" b="0">
                <a:solidFill>
                  <a:srgbClr val="4D4B46"/>
                </a:solidFill>
                <a:latin typeface="Arial"/>
              </a:defRPr>
            </a:pPr>
            <a:r>
              <a:t>permitted use and the required</a:t>
            </a:r>
          </a:p>
          <a:p>
            <a:pPr>
              <a:lnSpc>
                <a:spcPct val="105000"/>
              </a:lnSpc>
              <a:spcAft>
                <a:spcPts val="0"/>
              </a:spcAft>
              <a:defRPr sz="1500" b="0">
                <a:solidFill>
                  <a:srgbClr val="4D4B46"/>
                </a:solidFill>
                <a:latin typeface="Arial"/>
              </a:defRPr>
            </a:pPr>
            <a:r>
              <a:t>declaration before submission.</a:t>
            </a:r>
          </a:p>
        </p:txBody>
      </p:sp>
      <p:sp>
        <p:nvSpPr>
          <p:cNvPr id="13" name="TextBox 12"/>
          <p:cNvSpPr txBox="1"/>
          <p:nvPr/>
        </p:nvSpPr>
        <p:spPr>
          <a:xfrm>
            <a:off x="609600" y="5829300"/>
            <a:ext cx="10668000" cy="275539"/>
          </a:xfrm>
          <a:prstGeom prst="rect">
            <a:avLst/>
          </a:prstGeom>
          <a:noFill/>
        </p:spPr>
        <p:txBody>
          <a:bodyPr wrap="none" lIns="0" rIns="0" tIns="0" bIns="0">
            <a:spAutoFit/>
          </a:bodyPr>
          <a:lstStyle/>
          <a:p>
            <a:pPr>
              <a:lnSpc>
                <a:spcPct val="105000"/>
              </a:lnSpc>
              <a:spcAft>
                <a:spcPts val="0"/>
              </a:spcAft>
              <a:defRPr sz="1320" b="0">
                <a:solidFill>
                  <a:srgbClr val="76746E"/>
                </a:solidFill>
                <a:latin typeface="Arial"/>
              </a:defRPr>
            </a:pPr>
            <a:r>
              <a:t>Impact on belonging has not yet been established through an independent participant study.</a:t>
            </a:r>
          </a:p>
        </p:txBody>
      </p:sp>
      <p:sp>
        <p:nvSpPr>
          <p:cNvPr id="14" name="TextBox 13"/>
          <p:cNvSpPr txBox="1"/>
          <p:nvPr/>
        </p:nvSpPr>
        <p:spPr>
          <a:xfrm>
            <a:off x="609600" y="6248400"/>
            <a:ext cx="10668000" cy="197510"/>
          </a:xfrm>
          <a:prstGeom prst="rect">
            <a:avLst/>
          </a:prstGeom>
          <a:noFill/>
        </p:spPr>
        <p:txBody>
          <a:bodyPr wrap="none" lIns="0" rIns="0" tIns="0" bIns="0">
            <a:spAutoFit/>
          </a:bodyPr>
          <a:lstStyle/>
          <a:p>
            <a:pPr>
              <a:lnSpc>
                <a:spcPct val="105000"/>
              </a:lnSpc>
              <a:spcAft>
                <a:spcPts val="0"/>
              </a:spcAft>
              <a:defRPr sz="840" b="0">
                <a:solidFill>
                  <a:srgbClr val="76746E"/>
                </a:solidFill>
                <a:latin typeface="Arial"/>
              </a:defRPr>
            </a:pPr>
            <a:r>
              <a:t>Images: prototype assets / controlled browser screenshots, project repository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14</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REFERENCES + CREDITS</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Thank you. Try it together.</a:t>
            </a:r>
          </a:p>
        </p:txBody>
      </p:sp>
      <p:sp>
        <p:nvSpPr>
          <p:cNvPr id="6" name="TextBox 5"/>
          <p:cNvSpPr txBox="1"/>
          <p:nvPr/>
        </p:nvSpPr>
        <p:spPr>
          <a:xfrm>
            <a:off x="609600" y="1790700"/>
            <a:ext cx="10515600" cy="363321"/>
          </a:xfrm>
          <a:prstGeom prst="rect">
            <a:avLst/>
          </a:prstGeom>
          <a:noFill/>
        </p:spPr>
        <p:txBody>
          <a:bodyPr wrap="none" lIns="0" rIns="0" tIns="0" bIns="0">
            <a:spAutoFit/>
          </a:bodyPr>
          <a:lstStyle/>
          <a:p>
            <a:pPr>
              <a:lnSpc>
                <a:spcPct val="105000"/>
              </a:lnSpc>
              <a:spcAft>
                <a:spcPts val="0"/>
              </a:spcAft>
              <a:defRPr sz="1859" b="1">
                <a:solidFill>
                  <a:srgbClr val="303A68"/>
                </a:solidFill>
                <a:latin typeface="Arial"/>
              </a:defRPr>
            </a:pPr>
            <a:r>
              <a:t>Course sources</a:t>
            </a:r>
          </a:p>
        </p:txBody>
      </p:sp>
      <p:sp>
        <p:nvSpPr>
          <p:cNvPr id="7" name="TextBox 6"/>
          <p:cNvSpPr txBox="1"/>
          <p:nvPr/>
        </p:nvSpPr>
        <p:spPr>
          <a:xfrm>
            <a:off x="609600" y="2209800"/>
            <a:ext cx="10515600" cy="103632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GRDE2053. A2 assignment brief, pp. 1–5. Supplied course document, n.d.</a:t>
            </a:r>
          </a:p>
          <a:p>
            <a:pPr>
              <a:lnSpc>
                <a:spcPct val="105000"/>
              </a:lnSpc>
              <a:spcAft>
                <a:spcPts val="0"/>
              </a:spcAft>
              <a:defRPr sz="1500" b="0">
                <a:solidFill>
                  <a:srgbClr val="4D4B46"/>
                </a:solidFill>
                <a:latin typeface="Arial"/>
              </a:defRPr>
            </a:pPr>
            <a:r>
              <a:t>GRDE2053. SIE–DCI A2 Exhibition Showcase marking rubric. Supplied course document, n.d.</a:t>
            </a:r>
          </a:p>
          <a:p>
            <a:pPr>
              <a:lnSpc>
                <a:spcPct val="105000"/>
              </a:lnSpc>
              <a:spcAft>
                <a:spcPts val="0"/>
              </a:spcAft>
              <a:defRPr sz="1500" b="0">
                <a:solidFill>
                  <a:srgbClr val="4D4B46"/>
                </a:solidFill>
                <a:latin typeface="Arial"/>
              </a:defRPr>
            </a:pPr>
            <a:r>
              <a:t>GRDE2053. Sessions 2 (p. 6), 3 (p. 8) and 5 (slides 6–10). Course slides, n.d.</a:t>
            </a:r>
          </a:p>
          <a:p>
            <a:pPr>
              <a:lnSpc>
                <a:spcPct val="105000"/>
              </a:lnSpc>
              <a:spcAft>
                <a:spcPts val="0"/>
              </a:spcAft>
              <a:defRPr sz="1500" b="0">
                <a:solidFill>
                  <a:srgbClr val="4D4B46"/>
                </a:solidFill>
                <a:latin typeface="Arial"/>
              </a:defRPr>
            </a:pPr>
            <a:r>
              <a:t>Initial concept: Social Interactive.pptx, slides 5, 7–8. User-supplied concept deck, n.d.</a:t>
            </a:r>
          </a:p>
        </p:txBody>
      </p:sp>
      <p:sp>
        <p:nvSpPr>
          <p:cNvPr id="8" name="TextBox 7"/>
          <p:cNvSpPr txBox="1"/>
          <p:nvPr/>
        </p:nvSpPr>
        <p:spPr>
          <a:xfrm>
            <a:off x="609600" y="3733799"/>
            <a:ext cx="10515600" cy="363321"/>
          </a:xfrm>
          <a:prstGeom prst="rect">
            <a:avLst/>
          </a:prstGeom>
          <a:noFill/>
        </p:spPr>
        <p:txBody>
          <a:bodyPr wrap="none" lIns="0" rIns="0" tIns="0" bIns="0">
            <a:spAutoFit/>
          </a:bodyPr>
          <a:lstStyle/>
          <a:p>
            <a:pPr>
              <a:lnSpc>
                <a:spcPct val="105000"/>
              </a:lnSpc>
              <a:spcAft>
                <a:spcPts val="0"/>
              </a:spcAft>
              <a:defRPr sz="1859" b="1">
                <a:solidFill>
                  <a:srgbClr val="303A68"/>
                </a:solidFill>
                <a:latin typeface="Arial"/>
              </a:defRPr>
            </a:pPr>
            <a:r>
              <a:t>Project media + implementation</a:t>
            </a:r>
          </a:p>
        </p:txBody>
      </p:sp>
      <p:sp>
        <p:nvSpPr>
          <p:cNvPr id="9" name="TextBox 8"/>
          <p:cNvSpPr txBox="1"/>
          <p:nvPr/>
        </p:nvSpPr>
        <p:spPr>
          <a:xfrm>
            <a:off x="609600" y="4152900"/>
            <a:ext cx="10515600" cy="1036320"/>
          </a:xfrm>
          <a:prstGeom prst="rect">
            <a:avLst/>
          </a:prstGeom>
          <a:noFill/>
        </p:spPr>
        <p:txBody>
          <a:bodyPr wrap="none" lIns="0" rIns="0" tIns="0" bIns="0">
            <a:spAutoFit/>
          </a:bodyPr>
          <a:lstStyle/>
          <a:p>
            <a:pPr>
              <a:lnSpc>
                <a:spcPct val="105000"/>
              </a:lnSpc>
              <a:spcAft>
                <a:spcPts val="0"/>
              </a:spcAft>
              <a:defRPr sz="1500" b="0">
                <a:solidFill>
                  <a:srgbClr val="4D4B46"/>
                </a:solidFill>
                <a:latin typeface="Arial"/>
              </a:defRPr>
            </a:pPr>
            <a:r>
              <a:t>Prototype screens: public-map-project repository, 2026; controlled browser captures.</a:t>
            </a:r>
          </a:p>
          <a:p>
            <a:pPr>
              <a:lnSpc>
                <a:spcPct val="105000"/>
              </a:lnSpc>
              <a:spcAft>
                <a:spcPts val="0"/>
              </a:spcAft>
              <a:defRPr sz="1500" b="0">
                <a:solidFill>
                  <a:srgbClr val="4D4B46"/>
                </a:solidFill>
                <a:latin typeface="Arial"/>
              </a:defRPr>
            </a:pPr>
            <a:r>
              <a:t>Map / avatars: user-supplied assets; confirm original creators and licences.</a:t>
            </a:r>
          </a:p>
          <a:p>
            <a:pPr>
              <a:lnSpc>
                <a:spcPct val="105000"/>
              </a:lnSpc>
              <a:spcAft>
                <a:spcPts val="0"/>
              </a:spcAft>
              <a:defRPr sz="1500" b="0">
                <a:solidFill>
                  <a:srgbClr val="4D4B46"/>
                </a:solidFill>
                <a:latin typeface="Arial"/>
              </a:defRPr>
            </a:pPr>
            <a:r>
              <a:t>Some activity icons / fish cut-outs: AI-generated or AI-refined; list individual assets.</a:t>
            </a:r>
          </a:p>
          <a:p>
            <a:pPr>
              <a:lnSpc>
                <a:spcPct val="105000"/>
              </a:lnSpc>
              <a:spcAft>
                <a:spcPts val="0"/>
              </a:spcAft>
              <a:defRPr sz="1500" b="0">
                <a:solidFill>
                  <a:srgbClr val="4D4B46"/>
                </a:solidFill>
                <a:latin typeface="Arial"/>
              </a:defRPr>
            </a:pPr>
            <a:r>
              <a:t>p5.js • Firebase Realtime Database • GitHub Pages • Web Audio API.</a:t>
            </a:r>
          </a:p>
        </p:txBody>
      </p:sp>
      <p:sp>
        <p:nvSpPr>
          <p:cNvPr id="10" name="TextBox 9"/>
          <p:cNvSpPr txBox="1"/>
          <p:nvPr/>
        </p:nvSpPr>
        <p:spPr>
          <a:xfrm>
            <a:off x="609600" y="5524500"/>
            <a:ext cx="10515600" cy="275539"/>
          </a:xfrm>
          <a:prstGeom prst="rect">
            <a:avLst/>
          </a:prstGeom>
          <a:noFill/>
        </p:spPr>
        <p:txBody>
          <a:bodyPr wrap="none" lIns="0" rIns="0" tIns="0" bIns="0">
            <a:spAutoFit/>
          </a:bodyPr>
          <a:lstStyle/>
          <a:p>
            <a:pPr>
              <a:lnSpc>
                <a:spcPct val="105000"/>
              </a:lnSpc>
              <a:spcAft>
                <a:spcPts val="0"/>
              </a:spcAft>
              <a:defRPr sz="1320" b="0">
                <a:solidFill>
                  <a:srgbClr val="76746E"/>
                </a:solidFill>
                <a:latin typeface="Arial"/>
              </a:defRPr>
            </a:pPr>
            <a:r>
              <a:t>References here use a provisional author–date format. Match the referencing style in your unit outline.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F1"/>
        </a:solidFill>
        <a:effectLst/>
      </p:bgPr>
    </p:bg>
    <p:spTree>
      <p:nvGrpSpPr>
        <p:cNvPr id="1" name=""/>
        <p:cNvGrpSpPr/>
        <p:nvPr/>
      </p:nvGrpSpPr>
      <p:grpSpPr/>
      <p:sp>
        <p:nvSpPr>
          <p:cNvPr id="2" name="TextBox 1"/>
          <p:cNvSpPr txBox="1"/>
          <p:nvPr/>
        </p:nvSpPr>
        <p:spPr>
          <a:xfrm>
            <a:off x="571500" y="6477000"/>
            <a:ext cx="9906000" cy="226771"/>
          </a:xfrm>
          <a:prstGeom prst="rect">
            <a:avLst/>
          </a:prstGeom>
          <a:noFill/>
        </p:spPr>
        <p:txBody>
          <a:bodyPr wrap="none" lIns="0" rIns="0" tIns="0" bIns="0">
            <a:spAutoFit/>
          </a:bodyPr>
          <a:lstStyle/>
          <a:p>
            <a:pPr>
              <a:lnSpc>
                <a:spcPct val="105000"/>
              </a:lnSpc>
              <a:spcAft>
                <a:spcPts val="0"/>
              </a:spcAft>
              <a:defRPr sz="1019" b="0">
                <a:solidFill>
                  <a:srgbClr val="76746E"/>
                </a:solidFill>
                <a:latin typeface="Arial"/>
              </a:defRPr>
            </a:pPr>
            <a:r>
              <a:t>SHARED CAMPUS / GRDE2053 Social Interactive Experiences</a:t>
            </a:r>
          </a:p>
        </p:txBody>
      </p:sp>
      <p:sp>
        <p:nvSpPr>
          <p:cNvPr id="3" name="TextBox 2"/>
          <p:cNvSpPr txBox="1"/>
          <p:nvPr/>
        </p:nvSpPr>
        <p:spPr>
          <a:xfrm>
            <a:off x="11201400" y="6477000"/>
            <a:ext cx="533400" cy="256032"/>
          </a:xfrm>
          <a:prstGeom prst="rect">
            <a:avLst/>
          </a:prstGeom>
          <a:noFill/>
        </p:spPr>
        <p:txBody>
          <a:bodyPr wrap="none" lIns="0" rIns="0" tIns="0" bIns="0">
            <a:spAutoFit/>
          </a:bodyPr>
          <a:lstStyle/>
          <a:p>
            <a:pPr>
              <a:lnSpc>
                <a:spcPct val="105000"/>
              </a:lnSpc>
              <a:spcAft>
                <a:spcPts val="0"/>
              </a:spcAft>
              <a:defRPr sz="1200" b="1">
                <a:solidFill>
                  <a:srgbClr val="303A68"/>
                </a:solidFill>
                <a:latin typeface="Arial"/>
              </a:defRPr>
            </a:pPr>
            <a:r>
              <a:t>15</a:t>
            </a:r>
          </a:p>
        </p:txBody>
      </p:sp>
      <p:sp>
        <p:nvSpPr>
          <p:cNvPr id="4" name="TextBox 3"/>
          <p:cNvSpPr txBox="1"/>
          <p:nvPr/>
        </p:nvSpPr>
        <p:spPr>
          <a:xfrm>
            <a:off x="571500" y="365760"/>
            <a:ext cx="11049000" cy="256032"/>
          </a:xfrm>
          <a:prstGeom prst="rect">
            <a:avLst/>
          </a:prstGeom>
          <a:noFill/>
        </p:spPr>
        <p:txBody>
          <a:bodyPr wrap="none" lIns="0" rIns="0" tIns="0" bIns="0">
            <a:spAutoFit/>
          </a:bodyPr>
          <a:lstStyle/>
          <a:p>
            <a:pPr>
              <a:lnSpc>
                <a:spcPct val="105000"/>
              </a:lnSpc>
              <a:spcAft>
                <a:spcPts val="0"/>
              </a:spcAft>
              <a:defRPr sz="1200" b="1">
                <a:solidFill>
                  <a:srgbClr val="76746E"/>
                </a:solidFill>
                <a:latin typeface="Arial"/>
              </a:defRPr>
            </a:pPr>
            <a:r>
              <a:t>APPENDIX / NOT PART OF THE TIMED TALK</a:t>
            </a:r>
          </a:p>
        </p:txBody>
      </p:sp>
      <p:sp>
        <p:nvSpPr>
          <p:cNvPr id="5" name="TextBox 4"/>
          <p:cNvSpPr txBox="1"/>
          <p:nvPr/>
        </p:nvSpPr>
        <p:spPr>
          <a:xfrm>
            <a:off x="571500" y="708660"/>
            <a:ext cx="11049000" cy="587654"/>
          </a:xfrm>
          <a:prstGeom prst="rect">
            <a:avLst/>
          </a:prstGeom>
          <a:noFill/>
        </p:spPr>
        <p:txBody>
          <a:bodyPr wrap="none" lIns="0" rIns="0" tIns="0" bIns="0">
            <a:spAutoFit/>
          </a:bodyPr>
          <a:lstStyle/>
          <a:p>
            <a:pPr>
              <a:lnSpc>
                <a:spcPct val="105000"/>
              </a:lnSpc>
              <a:spcAft>
                <a:spcPts val="0"/>
              </a:spcAft>
              <a:defRPr sz="3240" b="1">
                <a:solidFill>
                  <a:srgbClr val="303A68"/>
                </a:solidFill>
                <a:latin typeface="Georgia"/>
              </a:defRPr>
            </a:pPr>
            <a:r>
              <a:t>Before you submit</a:t>
            </a:r>
          </a:p>
        </p:txBody>
      </p:sp>
      <p:sp>
        <p:nvSpPr>
          <p:cNvPr id="6" name="TextBox 5"/>
          <p:cNvSpPr txBox="1"/>
          <p:nvPr/>
        </p:nvSpPr>
        <p:spPr>
          <a:xfrm>
            <a:off x="647700" y="17907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01 Fill in your name; check the verified theory mapping and initial-concept comparison.</a:t>
            </a:r>
          </a:p>
        </p:txBody>
      </p:sp>
      <p:sp>
        <p:nvSpPr>
          <p:cNvPr id="7" name="TextBox 6"/>
          <p:cNvSpPr txBox="1"/>
          <p:nvPr/>
        </p:nvSpPr>
        <p:spPr>
          <a:xfrm>
            <a:off x="647700" y="24384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02 Record and insert a real 1–2 minute showcase film.</a:t>
            </a:r>
          </a:p>
        </p:txBody>
      </p:sp>
      <p:sp>
        <p:nvSpPr>
          <p:cNvPr id="8" name="TextBox 7"/>
          <p:cNvSpPr txBox="1"/>
          <p:nvPr/>
        </p:nvSpPr>
        <p:spPr>
          <a:xfrm>
            <a:off x="647700" y="3086100"/>
            <a:ext cx="10744200" cy="343814"/>
          </a:xfrm>
          <a:prstGeom prst="rect">
            <a:avLst/>
          </a:prstGeom>
          <a:noFill/>
        </p:spPr>
        <p:txBody>
          <a:bodyPr wrap="none" lIns="0" rIns="0" tIns="0" bIns="0">
            <a:spAutoFit/>
          </a:bodyPr>
          <a:lstStyle/>
          <a:p>
            <a:pPr>
              <a:lnSpc>
                <a:spcPct val="105000"/>
              </a:lnSpc>
              <a:spcAft>
                <a:spcPts val="0"/>
              </a:spcAft>
              <a:defRPr sz="1739" b="0">
                <a:solidFill>
                  <a:srgbClr val="303A68"/>
                </a:solidFill>
                <a:latin typeface="Arial"/>
              </a:defRPr>
            </a:pPr>
            <a:r>
              <a:t>03 Rehearse a 5–7 minute presentation including video and live demo.</a:t>
            </a:r>
          </a:p>
        </p:txBody>
      </p:sp>
      <p:sp>
        <p:nvSpPr>
          <p:cNvPr id="9" name="TextBox 8"/>
          <p:cNvSpPr txBox="1"/>
          <p:nvPr/>
        </p:nvSpPr>
        <p:spPr>
          <a:xfrm>
            <a:off x="647700" y="3733799"/>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04 Prepare the separate development PDF: maximum 15 pages, excluding title / references.</a:t>
            </a:r>
          </a:p>
        </p:txBody>
      </p:sp>
      <p:sp>
        <p:nvSpPr>
          <p:cNvPr id="10" name="TextBox 9"/>
          <p:cNvSpPr txBox="1"/>
          <p:nvPr/>
        </p:nvSpPr>
        <p:spPr>
          <a:xfrm>
            <a:off x="647700" y="4381500"/>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05 Include coversheet, requested MP4 / SharePoint link and tutor access.</a:t>
            </a:r>
          </a:p>
        </p:txBody>
      </p:sp>
      <p:sp>
        <p:nvSpPr>
          <p:cNvPr id="11" name="TextBox 10"/>
          <p:cNvSpPr txBox="1"/>
          <p:nvPr/>
        </p:nvSpPr>
        <p:spPr>
          <a:xfrm>
            <a:off x="647700" y="5029200"/>
            <a:ext cx="10744200" cy="343814"/>
          </a:xfrm>
          <a:prstGeom prst="rect">
            <a:avLst/>
          </a:prstGeom>
          <a:noFill/>
        </p:spPr>
        <p:txBody>
          <a:bodyPr wrap="none" lIns="0" rIns="0" tIns="0" bIns="0">
            <a:spAutoFit/>
          </a:bodyPr>
          <a:lstStyle/>
          <a:p>
            <a:pPr>
              <a:lnSpc>
                <a:spcPct val="105000"/>
              </a:lnSpc>
              <a:spcAft>
                <a:spcPts val="0"/>
              </a:spcAft>
              <a:defRPr sz="1739" b="0">
                <a:solidFill>
                  <a:srgbClr val="4D4B46"/>
                </a:solidFill>
                <a:latin typeface="Arial"/>
              </a:defRPr>
            </a:pPr>
            <a:r>
              <a:t>06 Confirm AI approval, declaration and media attribution; check milestone completion.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