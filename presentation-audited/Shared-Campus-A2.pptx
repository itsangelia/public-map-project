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0:00–0:15</a:t>
            </a:r>
          </a:p>
          <a:p/>
          <a:p>
            <a:r>
              <a:t>ENGLISH SCRIPT</a:t>
            </a:r>
          </a:p>
          <a:p>
            <a:r>
              <a:t>My project is Shared Campus. People join an illustrated campus through a public screen and their own phones, with small activities that make starting an interaction easier.</a:t>
            </a:r>
          </a:p>
          <a:p/>
          <a:p>
            <a:r>
              <a:t>中文理解版</a:t>
            </a:r>
          </a:p>
          <a:p>
            <a:r>
              <a:t>我的项目叫Shared Campus。大家通过公共大屏和自己的手机进入插画校园，用小活动更轻松地开始互动。</a:t>
            </a:r>
          </a:p>
          <a:p/>
          <a:p>
            <a:r>
              <a:t>PRESENTER CUE</a:t>
            </a:r>
          </a:p>
          <a:p>
            <a:r>
              <a:t>介绍项目，不要逐个列举功能。填上你的名字。</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0:15–0:38</a:t>
            </a:r>
          </a:p>
          <a:p/>
          <a:p>
            <a:r>
              <a:t>ENGLISH SCRIPT</a:t>
            </a:r>
          </a:p>
          <a:p>
            <a:r>
              <a:t>The concept began with international students and the difficulty of approaching someone unfamiliar. Instead of requiring a conversation immediately, the map offers a shared activity first. Connection is the main focus. Joy and reflection come through playful results and personal wishes.</a:t>
            </a:r>
          </a:p>
          <a:p/>
          <a:p>
            <a:r>
              <a:t>中文理解版</a:t>
            </a:r>
          </a:p>
          <a:p>
            <a:r>
              <a:t>这个概念从国际学生出发，关注向不熟悉的人迈出交流第一步的困难。地图让大家先共同参与一件事，而不必马上展开对话。主要目标是连接，趣味结果和个人愿望也带来快乐与反思。</a:t>
            </a:r>
          </a:p>
          <a:p/>
          <a:p>
            <a:r>
              <a:t>PRESENTER CUE</a:t>
            </a:r>
          </a:p>
          <a:p>
            <a:r>
              <a:t>清楚说出 Connection 是主要焦点；不要把设计动机说成调研结论。</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0:38–0:54</a:t>
            </a:r>
          </a:p>
          <a:p/>
          <a:p>
            <a:r>
              <a:t>ENGLISH SCRIPT</a:t>
            </a:r>
          </a:p>
          <a:p>
            <a:r>
              <a:t>Visitors scan a QR code, choose a nickname and character, and enter. Phones control individual characters; the public display shows everyone together. Each activity offers a short encounter.</a:t>
            </a:r>
          </a:p>
          <a:p/>
          <a:p>
            <a:r>
              <a:t>中文理解版</a:t>
            </a:r>
          </a:p>
          <a:p>
            <a:r>
              <a:t>参与者扫码，选择昵称与角色后进入。手机控制个人角色，大屏显示所有人。每个活动提供一次简短的参与。</a:t>
            </a:r>
          </a:p>
          <a:p/>
          <a:p>
            <a:r>
              <a:t>PRESENTER CUE</a:t>
            </a:r>
          </a:p>
          <a:p>
            <a:r>
              <a:t>指出“两分钟”指一次简短参与，不是要求在两分钟内体验完全部地图。</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0:54–1:22</a:t>
            </a:r>
          </a:p>
          <a:p/>
          <a:p>
            <a:r>
              <a:t>ENGLISH SCRIPT</a:t>
            </a:r>
          </a:p>
          <a:p>
            <a:r>
              <a:t>Chat bubbles let players speak in the shared space and disappear after five seconds. Wishes offer a slower interaction: write a note, hang it, and discover someone else’s. A short, gently moving preview invites a click. The full note shows its author’s nickname and date, with a blessing button to respond.</a:t>
            </a:r>
          </a:p>
          <a:p/>
          <a:p>
            <a:r>
              <a:t>中文理解版</a:t>
            </a:r>
          </a:p>
          <a:p>
            <a:r>
              <a:t>聊天气泡让玩家在共享空间交流，并在5秒后消失。许愿提供更慢的互动：写纸条、挂起来，再发现别人的愿望。简短、轻轻摆动的预览吸引点击；完整纸条显示作者昵称与日期，也有祝福按钮回应。</a:t>
            </a:r>
          </a:p>
          <a:p/>
          <a:p>
            <a:r>
              <a:t>PRESENTER CUE</a:t>
            </a:r>
          </a:p>
          <a:p>
            <a:r>
              <a:t>强调聊天与许愿是两种不同的表达：即时交流与保留在树上的留言。纸条仅预览4–5个英文词；每人对同一愿望祝福一次。</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1:22–1:49</a:t>
            </a:r>
          </a:p>
          <a:p/>
          <a:p>
            <a:r>
              <a:t>ENGLISH SCRIPT</a:t>
            </a:r>
          </a:p>
          <a:p>
            <a:r>
              <a:t>In the drink shop, two players alternate four decisions. Their shared, named drink contains both their choices. Fishing needs continuous cooperation: one player controls vertical movement, the other horizontal. Together, they aim one float at moving ripples to build progress. Success reveals a random, named fish.</a:t>
            </a:r>
          </a:p>
          <a:p/>
          <a:p>
            <a:r>
              <a:t>中文理解版</a:t>
            </a:r>
          </a:p>
          <a:p>
            <a:r>
              <a:t>饮品店里，两名玩家轮流完成四次选择，共同得到有名字的饮品，包含双方的决定。钓鱼需要持续合作：一人控制上下，一人控制左右，共同把一个浮标对准会换位的涟漪来积累进度。成功后随机揭晓有名字的鱼。</a:t>
            </a:r>
          </a:p>
          <a:p/>
          <a:p>
            <a:r>
              <a:t>PRESENTER CUE</a:t>
            </a:r>
          </a:p>
          <a:p>
            <a:r>
              <a:t>饮品：基底/风味/配料/装饰，81种组合。钓鱼：倒计时后开始，20%初始进度，对准+10%/秒，偏离−4%/秒，降至0失败。目标3.5秒换位，容错范围扩大10%。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1:49–2:13</a:t>
            </a:r>
          </a:p>
          <a:p/>
          <a:p>
            <a:r>
              <a:t>ENGLISH SCRIPT</a:t>
            </a:r>
          </a:p>
          <a:p>
            <a:r>
              <a:t>The piano offers another social role: listening. One person plays while others hear the music in the map. An occupied notice identifies the performer. After eight seconds without a note, the piano becomes available again, preventing one idle player from holding the shared instrument.</a:t>
            </a:r>
          </a:p>
          <a:p/>
          <a:p>
            <a:r>
              <a:t>中文理解版</a:t>
            </a:r>
          </a:p>
          <a:p>
            <a:r>
              <a:t>钢琴提供另一种社交角色：聆听。一人弹奏，其他人在地图里听到音乐。占用提示显示演奏者昵称；8秒没有按音符就会自动让位，避免闲置玩家一直占据共享乐器。</a:t>
            </a:r>
          </a:p>
          <a:p/>
          <a:p>
            <a:r>
              <a:t>PRESENTER CUE</a:t>
            </a:r>
          </a:p>
          <a:p>
            <a:r>
              <a:t>地图仍可见；旁观者不会打开同步键盘。靠近活动入口会出现提醒。说明观看、听琴也属于参与方式。</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2:13–3:33</a:t>
            </a:r>
          </a:p>
          <a:p/>
          <a:p>
            <a:r>
              <a:t>ENGLISH SCRIPT</a:t>
            </a:r>
          </a:p>
          <a:p>
            <a:r>
              <a:t>This video shows visitors joining and sharing the activities.</a:t>
            </a:r>
          </a:p>
          <a:p/>
          <a:p>
            <a:r>
              <a:t>中文理解版</a:t>
            </a:r>
          </a:p>
          <a:p>
            <a:r>
              <a:t>这段视频展示参与者加入地图并共同参与活动。</a:t>
            </a:r>
          </a:p>
          <a:p/>
          <a:p>
            <a:r>
              <a:t>PRESENTER CUE</a:t>
            </a:r>
          </a:p>
          <a:p>
            <a:r>
              <a:t>播放你实拍的75秒展示视频。当前文件没有嵌入真实参与者视频，必须替换此页占位。不要朗读拍摄分镜。</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3:33–4:28</a:t>
            </a:r>
          </a:p>
          <a:p/>
          <a:p>
            <a:r>
              <a:t>ENGLISH SCRIPT</a:t>
            </a:r>
          </a:p>
          <a:p>
            <a:r>
              <a:t>For the live demonstration, we’ll make one drink together. Watch how control passes between the two players, and how both phones receive the same result.</a:t>
            </a:r>
          </a:p>
          <a:p/>
          <a:p>
            <a:r>
              <a:t>中文理解版</a:t>
            </a:r>
          </a:p>
          <a:p>
            <a:r>
              <a:t>现场演示中，我们一起制作一杯饮品。请注意操作权怎样在两位玩家之间交替，以及两台手机怎样收到同一个结果。</a:t>
            </a:r>
          </a:p>
          <a:p/>
          <a:p>
            <a:r>
              <a:t>PRESENTER CUE</a:t>
            </a:r>
          </a:p>
          <a:p>
            <a:r>
              <a:t>提前让两台手机加入 showcase 房间并到饮品店附近。进入匹配→A选基底→B选风味→A选配料→B选装饰→同时展示同一饮品结果→返回地图。控制在55秒内。</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4:28–5:21</a:t>
            </a:r>
          </a:p>
          <a:p/>
          <a:p>
            <a:r>
              <a:t>ENGLISH SCRIPT</a:t>
            </a:r>
          </a:p>
          <a:p>
            <a:r>
              <a:t>The six Social UX principles guided the design. Sensory Feedback uses sound and visible responses. Embodied Interaction maps touch movement to avatars and the float. Social Dynamics shaped turn-taking and split controls, giving both players influence. Resilience and Motivation led to gentler fishing and retry. Proactivity and Clarity shaped glowing entrances and turn prompts. Ethics and Inclusion informed nicknames, mute, exits and piano release. Phone access and public messages still raise inclusion and moderation questions. The course’s CSCW perspective explains cooperation; signifiers explain how available actions are communicated.</a:t>
            </a:r>
          </a:p>
          <a:p/>
          <a:p>
            <a:r>
              <a:t>中文理解版</a:t>
            </a:r>
          </a:p>
          <a:p>
            <a:r>
              <a:t>六项Social UX原则指导了设计。感官反馈采用声音和可见回应；具身互动把触控动作映射到角色与浮标；社会动态影响了轮流选择和分轴控制，让双方都能影响结果；韧性与动机促成更宽松的钓鱼和重试；主动引导与清晰性影响了发光入口及轮次提示；伦理与包容影响了昵称、静音、退出和钢琴让位。手机使用条件与公开留言仍有包容性及内容管理问题。课堂的CSCW视角解释合作，signifiers解释系统怎样传达可用操作。</a:t>
            </a:r>
          </a:p>
          <a:p/>
          <a:p>
            <a:r>
              <a:t>PRESENTER CUE</a:t>
            </a:r>
          </a:p>
          <a:p>
            <a:r>
              <a:t>六项名称已核实：Session 2 PDF第6页、Session 3 PDF第8页；Session 5第6–7页也列出同一框架。CSCW来自Session 2第8页；affordances/signifiers来自Session 5第10页。具身互动仅是手机触控与映射，不要夸大为全身沉浸；未实现触觉反馈。伦理设计不等于全面可访问，公共昵称与愿望仍需隐私、内容和可访问性反思。</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5:21–5:39</a:t>
            </a:r>
          </a:p>
          <a:p/>
          <a:p>
            <a:r>
              <a:t>ENGLISH SCRIPT</a:t>
            </a:r>
          </a:p>
          <a:p>
            <a:r>
              <a:t>The campus is the narrative setting rather than a fixed storyline. Consistent illustrated icons and soft colours connect the activities visually. Proximity effects invite exploration, while unexpected fish and live music reward participation.</a:t>
            </a:r>
          </a:p>
          <a:p/>
          <a:p>
            <a:r>
              <a:t>中文理解版</a:t>
            </a:r>
          </a:p>
          <a:p>
            <a:r>
              <a:t>校园提供叙事场景，没有固定剧情。统一的插画图标与柔和配色在视觉上连接各活动。靠近效果邀请探索，意外的鱼和现场音乐则回应参与。</a:t>
            </a:r>
          </a:p>
          <a:p/>
          <a:p>
            <a:r>
              <a:t>PRESENTER CUE</a:t>
            </a:r>
          </a:p>
          <a:p>
            <a:r>
              <a:t>结合截图说明视觉和声音怎样服务体验，不只说“好看”。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5:39–6:05</a:t>
            </a:r>
          </a:p>
          <a:p/>
          <a:p>
            <a:r>
              <a:t>ENGLISH SCRIPT</a:t>
            </a:r>
          </a:p>
          <a:p>
            <a:r>
              <a:t>The initial concept proposed cultural prompts, shared visuals and tokens. I kept the connection goal, developing freely chosen activities without tokens. Device testing revealed missing players, so shared visibility became a priority. I enlarged the phone view, smoothed fishing movement and adjusted difficulty in response to play feedback.</a:t>
            </a:r>
          </a:p>
          <a:p/>
          <a:p>
            <a:r>
              <a:t>中文理解版</a:t>
            </a:r>
          </a:p>
          <a:p>
            <a:r>
              <a:t>初始概念提出文化提示、共享视觉与代币。我保留连接目标，发展为自由选择的活动，没有加入代币。设备测试发现玩家不可见问题，所以共同可见性成为优先事项。我放大手机视角、平滑钓鱼移动，并根据游玩反馈调整难度。</a:t>
            </a:r>
          </a:p>
          <a:p/>
          <a:p>
            <a:r>
              <a:t>PRESENTER CUE</a:t>
            </a:r>
          </a:p>
          <a:p>
            <a:r>
              <a:t>初始概念依据Social Interactive.pptx第5、7、8页：日常生活/文化提示、共享地图、代币想法。若该文件不是正式A1提交版，展示前与提交版核对；不宣称这些是导师要求改动。技术迭代依据开发记录和设备反馈，不虚构正式访谈或观众人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6:05–6:17</a:t>
            </a:r>
          </a:p>
          <a:p/>
          <a:p>
            <a:r>
              <a:t>ENGLISH SCRIPT</a:t>
            </a:r>
          </a:p>
          <a:p>
            <a:r>
              <a:t>p5.js renders the map, Firebase synchronises shared data, and GitHub Pages hosts the experience. This setup supports personal control on phones and shared visibility on the display.</a:t>
            </a:r>
          </a:p>
          <a:p/>
          <a:p>
            <a:r>
              <a:t>中文理解版</a:t>
            </a:r>
          </a:p>
          <a:p>
            <a:r>
              <a:t>p5.js绘制地图，Firebase同步共享数据，GitHub Pages托管体验。这种结构支持手机上的个人操作和大屏上的共同可见性。</a:t>
            </a:r>
          </a:p>
          <a:p/>
          <a:p>
            <a:r>
              <a:t>PRESENTER CUE</a:t>
            </a:r>
          </a:p>
          <a:p>
            <a:r>
              <a:t>不要把26项自动测试说成26位用户；不要声称在所有设备、所有网络环境下都稳定。</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6:17–6:37</a:t>
            </a:r>
          </a:p>
          <a:p/>
          <a:p>
            <a:r>
              <a:t>ENGLISH SCRIPT</a:t>
            </a:r>
          </a:p>
          <a:p>
            <a:r>
              <a:t>People can talk, wish, cooperate or listen. Device checks helped refine the prototype; its effect on belonging still needs participant evaluation. AI assisted code, selected artwork and this presentation. My role included selecting, testing and refining those outputs.</a:t>
            </a:r>
          </a:p>
          <a:p/>
          <a:p>
            <a:r>
              <a:t>中文理解版</a:t>
            </a:r>
          </a:p>
          <a:p>
            <a:r>
              <a:t>大家可以交流、许愿、合作或聆听。设备检查帮助完善原型；它对归属感的影响仍需参与者评估。AI辅助了代码、部分素材及本次演示。我进行了输出的选择、测试和修改。</a:t>
            </a:r>
          </a:p>
          <a:p/>
          <a:p>
            <a:r>
              <a:t>PRESENTER CUE</a:t>
            </a:r>
          </a:p>
          <a:p>
            <a:r>
              <a:t>务必核实并补齐AI来源、导师批准和单元允许范围。不要把AI辅助内容宣称为完全独立编写或手绘。</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6:37–6:40</a:t>
            </a:r>
          </a:p>
          <a:p/>
          <a:p>
            <a:r>
              <a:t>ENGLISH SCRIPT</a:t>
            </a:r>
          </a:p>
          <a:p>
            <a:r>
              <a:t>Thank you. Please try Shared Campus together.</a:t>
            </a:r>
          </a:p>
          <a:p/>
          <a:p>
            <a:r>
              <a:t>中文理解版</a:t>
            </a:r>
          </a:p>
          <a:p>
            <a:r>
              <a:t>谢谢，欢迎一起体验Shared Campus。</a:t>
            </a:r>
          </a:p>
          <a:p/>
          <a:p>
            <a:r>
              <a:t>PRESENTER CUE</a:t>
            </a:r>
          </a:p>
          <a:p>
            <a:r>
              <a:t>参考资料页保留在屏幕上；不逐条朗读参考文献。</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APPENDIX — do not present</a:t>
            </a:r>
          </a:p>
          <a:p/>
          <a:p>
            <a:r>
              <a:t>ENGLISH SCRIPT</a:t>
            </a:r>
          </a:p>
          <a:p/>
          <a:p/>
          <a:p>
            <a:r>
              <a:t>中文理解版</a:t>
            </a:r>
          </a:p>
          <a:p/>
          <a:p/>
          <a:p>
            <a:r>
              <a:t>PRESENTER CUE</a:t>
            </a:r>
          </a:p>
          <a:p>
            <a:r>
              <a:t>备查页，不计入课堂展示。按brief还需封面、独立development documentation PDF、MP4及SharePoint可访问链接；这套PPT不替代过程文档。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hyperlink" Target="https://itsangelia.github.io/public-map-project/campus-f3cd85c8e3d0eaa9.html?mode=display&amp;room=showcase" TargetMode="Externa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01</a:t>
            </a:r>
          </a:p>
        </p:txBody>
      </p:sp>
      <p:pic>
        <p:nvPicPr>
          <p:cNvPr id="4" name="Picture 3" descr="fishing-map-overview.png"/>
          <p:cNvPicPr>
            <a:picLocks noChangeAspect="1"/>
          </p:cNvPicPr>
          <p:nvPr/>
        </p:nvPicPr>
        <p:blipFill>
          <a:blip r:embed="rId2"/>
          <a:stretch>
            <a:fillRect/>
          </a:stretch>
        </p:blipFill>
        <p:spPr>
          <a:xfrm>
            <a:off x="4724400" y="956733"/>
            <a:ext cx="7010399" cy="4868333"/>
          </a:xfrm>
          <a:prstGeom prst="rect">
            <a:avLst/>
          </a:prstGeom>
        </p:spPr>
      </p:pic>
      <p:sp>
        <p:nvSpPr>
          <p:cNvPr id="5" name="Rectangle 4"/>
          <p:cNvSpPr/>
          <p:nvPr/>
        </p:nvSpPr>
        <p:spPr>
          <a:xfrm>
            <a:off x="0" y="0"/>
            <a:ext cx="4724400" cy="6324600"/>
          </a:xfrm>
          <a:prstGeom prst="rect">
            <a:avLst/>
          </a:prstGeom>
          <a:solidFill>
            <a:srgbClr val="FF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1500" y="701040"/>
            <a:ext cx="38862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EXHIBITION SHOWCASE</a:t>
            </a:r>
          </a:p>
        </p:txBody>
      </p:sp>
      <p:sp>
        <p:nvSpPr>
          <p:cNvPr id="7" name="TextBox 6"/>
          <p:cNvSpPr txBox="1"/>
          <p:nvPr/>
        </p:nvSpPr>
        <p:spPr>
          <a:xfrm>
            <a:off x="571500" y="1371600"/>
            <a:ext cx="4038600" cy="1758086"/>
          </a:xfrm>
          <a:prstGeom prst="rect">
            <a:avLst/>
          </a:prstGeom>
          <a:noFill/>
        </p:spPr>
        <p:txBody>
          <a:bodyPr wrap="none" lIns="0" rIns="0" tIns="0" bIns="0">
            <a:spAutoFit/>
          </a:bodyPr>
          <a:lstStyle/>
          <a:p>
            <a:pPr>
              <a:lnSpc>
                <a:spcPct val="105000"/>
              </a:lnSpc>
              <a:spcAft>
                <a:spcPts val="0"/>
              </a:spcAft>
              <a:defRPr sz="5220" b="1">
                <a:solidFill>
                  <a:srgbClr val="303A68"/>
                </a:solidFill>
                <a:latin typeface="Georgia"/>
              </a:defRPr>
            </a:pPr>
            <a:r>
              <a:t>Shared</a:t>
            </a:r>
          </a:p>
          <a:p>
            <a:pPr>
              <a:lnSpc>
                <a:spcPct val="105000"/>
              </a:lnSpc>
              <a:spcAft>
                <a:spcPts val="0"/>
              </a:spcAft>
              <a:defRPr sz="5220" b="1">
                <a:solidFill>
                  <a:srgbClr val="303A68"/>
                </a:solidFill>
                <a:latin typeface="Georgia"/>
              </a:defRPr>
            </a:pPr>
            <a:r>
              <a:t>Campus</a:t>
            </a:r>
          </a:p>
        </p:txBody>
      </p:sp>
      <p:sp>
        <p:nvSpPr>
          <p:cNvPr id="8" name="TextBox 7"/>
          <p:cNvSpPr txBox="1"/>
          <p:nvPr/>
        </p:nvSpPr>
        <p:spPr>
          <a:xfrm>
            <a:off x="571500" y="3390900"/>
            <a:ext cx="3657600" cy="802233"/>
          </a:xfrm>
          <a:prstGeom prst="rect">
            <a:avLst/>
          </a:prstGeom>
          <a:noFill/>
        </p:spPr>
        <p:txBody>
          <a:bodyPr wrap="none" lIns="0" rIns="0" tIns="0" bIns="0">
            <a:spAutoFit/>
          </a:bodyPr>
          <a:lstStyle/>
          <a:p>
            <a:pPr>
              <a:lnSpc>
                <a:spcPct val="105000"/>
              </a:lnSpc>
              <a:spcAft>
                <a:spcPts val="0"/>
              </a:spcAft>
              <a:defRPr sz="2280" b="0">
                <a:solidFill>
                  <a:srgbClr val="303A68"/>
                </a:solidFill>
                <a:latin typeface="Arial"/>
              </a:defRPr>
            </a:pPr>
            <a:r>
              <a:t>Small moments.</a:t>
            </a:r>
          </a:p>
          <a:p>
            <a:pPr>
              <a:lnSpc>
                <a:spcPct val="105000"/>
              </a:lnSpc>
              <a:spcAft>
                <a:spcPts val="0"/>
              </a:spcAft>
              <a:defRPr sz="2280" b="0">
                <a:solidFill>
                  <a:srgbClr val="303A68"/>
                </a:solidFill>
                <a:latin typeface="Arial"/>
              </a:defRPr>
            </a:pPr>
            <a:r>
              <a:t>Shared connections.</a:t>
            </a:r>
          </a:p>
        </p:txBody>
      </p:sp>
      <p:sp>
        <p:nvSpPr>
          <p:cNvPr id="9" name="TextBox 8"/>
          <p:cNvSpPr txBox="1"/>
          <p:nvPr/>
        </p:nvSpPr>
        <p:spPr>
          <a:xfrm>
            <a:off x="571500" y="4648200"/>
            <a:ext cx="3657600" cy="587654"/>
          </a:xfrm>
          <a:prstGeom prst="rect">
            <a:avLst/>
          </a:prstGeom>
          <a:noFill/>
        </p:spPr>
        <p:txBody>
          <a:bodyPr wrap="none" lIns="0" rIns="0" tIns="0" bIns="0">
            <a:spAutoFit/>
          </a:bodyPr>
          <a:lstStyle/>
          <a:p>
            <a:pPr>
              <a:lnSpc>
                <a:spcPct val="105000"/>
              </a:lnSpc>
              <a:spcAft>
                <a:spcPts val="0"/>
              </a:spcAft>
              <a:defRPr sz="1620" b="0">
                <a:solidFill>
                  <a:srgbClr val="4D4B46"/>
                </a:solidFill>
                <a:latin typeface="Arial"/>
              </a:defRPr>
            </a:pPr>
            <a:r>
              <a:t>A public map, personal phones</a:t>
            </a:r>
          </a:p>
          <a:p>
            <a:pPr>
              <a:lnSpc>
                <a:spcPct val="105000"/>
              </a:lnSpc>
              <a:spcAft>
                <a:spcPts val="0"/>
              </a:spcAft>
              <a:defRPr sz="1620" b="0">
                <a:solidFill>
                  <a:srgbClr val="4D4B46"/>
                </a:solidFill>
                <a:latin typeface="Arial"/>
              </a:defRPr>
            </a:pPr>
            <a:r>
              <a:t>and playful first encounters.</a:t>
            </a:r>
          </a:p>
        </p:txBody>
      </p:sp>
      <p:sp>
        <p:nvSpPr>
          <p:cNvPr id="10" name="TextBox 9"/>
          <p:cNvSpPr txBox="1"/>
          <p:nvPr/>
        </p:nvSpPr>
        <p:spPr>
          <a:xfrm>
            <a:off x="571500" y="5600700"/>
            <a:ext cx="3886200" cy="285292"/>
          </a:xfrm>
          <a:prstGeom prst="rect">
            <a:avLst/>
          </a:prstGeom>
          <a:noFill/>
        </p:spPr>
        <p:txBody>
          <a:bodyPr wrap="none" lIns="0" rIns="0" tIns="0" bIns="0">
            <a:spAutoFit/>
          </a:bodyPr>
          <a:lstStyle/>
          <a:p>
            <a:pPr>
              <a:lnSpc>
                <a:spcPct val="105000"/>
              </a:lnSpc>
              <a:spcAft>
                <a:spcPts val="0"/>
              </a:spcAft>
              <a:defRPr sz="1380" b="0">
                <a:solidFill>
                  <a:srgbClr val="76746E"/>
                </a:solidFill>
                <a:latin typeface="Arial"/>
              </a:defRPr>
            </a:pPr>
            <a:r>
              <a:t>[Your name] · A2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02</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01 / SOCIAL FOCUS</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A small invitation to connect</a:t>
            </a:r>
          </a:p>
        </p:txBody>
      </p:sp>
      <p:sp>
        <p:nvSpPr>
          <p:cNvPr id="6" name="TextBox 5"/>
          <p:cNvSpPr txBox="1"/>
          <p:nvPr/>
        </p:nvSpPr>
        <p:spPr>
          <a:xfrm>
            <a:off x="609600" y="1805940"/>
            <a:ext cx="6400800" cy="1348435"/>
          </a:xfrm>
          <a:prstGeom prst="rect">
            <a:avLst/>
          </a:prstGeom>
          <a:noFill/>
        </p:spPr>
        <p:txBody>
          <a:bodyPr wrap="none" lIns="0" rIns="0" tIns="0" bIns="0">
            <a:spAutoFit/>
          </a:bodyPr>
          <a:lstStyle/>
          <a:p>
            <a:pPr>
              <a:lnSpc>
                <a:spcPct val="105000"/>
              </a:lnSpc>
              <a:spcAft>
                <a:spcPts val="0"/>
              </a:spcAft>
              <a:defRPr sz="2640" b="1">
                <a:solidFill>
                  <a:srgbClr val="303A68"/>
                </a:solidFill>
                <a:latin typeface="Arial"/>
              </a:defRPr>
            </a:pPr>
            <a:r>
              <a:t>How might a shared campus</a:t>
            </a:r>
          </a:p>
          <a:p>
            <a:pPr>
              <a:lnSpc>
                <a:spcPct val="105000"/>
              </a:lnSpc>
              <a:spcAft>
                <a:spcPts val="0"/>
              </a:spcAft>
              <a:defRPr sz="2640" b="1">
                <a:solidFill>
                  <a:srgbClr val="303A68"/>
                </a:solidFill>
                <a:latin typeface="Arial"/>
              </a:defRPr>
            </a:pPr>
            <a:r>
              <a:t>space make a first interaction</a:t>
            </a:r>
          </a:p>
          <a:p>
            <a:pPr>
              <a:lnSpc>
                <a:spcPct val="105000"/>
              </a:lnSpc>
              <a:spcAft>
                <a:spcPts val="0"/>
              </a:spcAft>
              <a:defRPr sz="2640" b="1">
                <a:solidFill>
                  <a:srgbClr val="303A68"/>
                </a:solidFill>
                <a:latin typeface="Arial"/>
              </a:defRPr>
            </a:pPr>
            <a:r>
              <a:t>easier?</a:t>
            </a:r>
          </a:p>
        </p:txBody>
      </p:sp>
      <p:sp>
        <p:nvSpPr>
          <p:cNvPr id="7" name="Rounded Rectangle 6"/>
          <p:cNvSpPr/>
          <p:nvPr/>
        </p:nvSpPr>
        <p:spPr>
          <a:xfrm>
            <a:off x="609600" y="3162300"/>
            <a:ext cx="342900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291840"/>
            <a:ext cx="30937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PRIMARY</a:t>
            </a:r>
          </a:p>
        </p:txBody>
      </p:sp>
      <p:sp>
        <p:nvSpPr>
          <p:cNvPr id="9" name="TextBox 8"/>
          <p:cNvSpPr txBox="1"/>
          <p:nvPr/>
        </p:nvSpPr>
        <p:spPr>
          <a:xfrm>
            <a:off x="777240" y="3543300"/>
            <a:ext cx="30937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Connection</a:t>
            </a:r>
          </a:p>
        </p:txBody>
      </p:sp>
      <p:sp>
        <p:nvSpPr>
          <p:cNvPr id="10" name="TextBox 9"/>
          <p:cNvSpPr txBox="1"/>
          <p:nvPr/>
        </p:nvSpPr>
        <p:spPr>
          <a:xfrm>
            <a:off x="777240" y="3950207"/>
            <a:ext cx="30937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A small shared action before a</a:t>
            </a:r>
          </a:p>
          <a:p>
            <a:pPr>
              <a:lnSpc>
                <a:spcPct val="105000"/>
              </a:lnSpc>
              <a:spcAft>
                <a:spcPts val="0"/>
              </a:spcAft>
              <a:defRPr sz="1500" b="0">
                <a:solidFill>
                  <a:srgbClr val="4D4B46"/>
                </a:solidFill>
                <a:latin typeface="Arial"/>
              </a:defRPr>
            </a:pPr>
            <a:r>
              <a:t>conversation.</a:t>
            </a:r>
          </a:p>
        </p:txBody>
      </p:sp>
      <p:sp>
        <p:nvSpPr>
          <p:cNvPr id="11" name="Rounded Rectangle 10"/>
          <p:cNvSpPr/>
          <p:nvPr/>
        </p:nvSpPr>
        <p:spPr>
          <a:xfrm>
            <a:off x="4381500" y="3162300"/>
            <a:ext cx="3429000" cy="19811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9140" y="3291840"/>
            <a:ext cx="30937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SECONDARY</a:t>
            </a:r>
          </a:p>
        </p:txBody>
      </p:sp>
      <p:sp>
        <p:nvSpPr>
          <p:cNvPr id="13" name="TextBox 12"/>
          <p:cNvSpPr txBox="1"/>
          <p:nvPr/>
        </p:nvSpPr>
        <p:spPr>
          <a:xfrm>
            <a:off x="4549140" y="3543300"/>
            <a:ext cx="30937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Joy</a:t>
            </a:r>
          </a:p>
        </p:txBody>
      </p:sp>
      <p:sp>
        <p:nvSpPr>
          <p:cNvPr id="14" name="TextBox 13"/>
          <p:cNvSpPr txBox="1"/>
          <p:nvPr/>
        </p:nvSpPr>
        <p:spPr>
          <a:xfrm>
            <a:off x="4549140" y="3950207"/>
            <a:ext cx="30937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Playful choices and unexpected</a:t>
            </a:r>
          </a:p>
          <a:p>
            <a:pPr>
              <a:lnSpc>
                <a:spcPct val="105000"/>
              </a:lnSpc>
              <a:spcAft>
                <a:spcPts val="0"/>
              </a:spcAft>
              <a:defRPr sz="1500" b="0">
                <a:solidFill>
                  <a:srgbClr val="4D4B46"/>
                </a:solidFill>
                <a:latin typeface="Arial"/>
              </a:defRPr>
            </a:pPr>
            <a:r>
              <a:t>outcomes.</a:t>
            </a:r>
          </a:p>
        </p:txBody>
      </p:sp>
      <p:sp>
        <p:nvSpPr>
          <p:cNvPr id="15" name="Rounded Rectangle 14"/>
          <p:cNvSpPr/>
          <p:nvPr/>
        </p:nvSpPr>
        <p:spPr>
          <a:xfrm>
            <a:off x="8153399" y="3162300"/>
            <a:ext cx="3429000" cy="1981199"/>
          </a:xfrm>
          <a:prstGeom prst="roundRect">
            <a:avLst>
              <a:gd name="adj" fmla="val 14000"/>
            </a:avLst>
          </a:prstGeom>
          <a:solidFill>
            <a:srgbClr val="DAB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3291840"/>
            <a:ext cx="30937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ALSO</a:t>
            </a:r>
          </a:p>
        </p:txBody>
      </p:sp>
      <p:sp>
        <p:nvSpPr>
          <p:cNvPr id="17" name="TextBox 16"/>
          <p:cNvSpPr txBox="1"/>
          <p:nvPr/>
        </p:nvSpPr>
        <p:spPr>
          <a:xfrm>
            <a:off x="8321040" y="3543300"/>
            <a:ext cx="30937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Reflection</a:t>
            </a:r>
          </a:p>
        </p:txBody>
      </p:sp>
      <p:sp>
        <p:nvSpPr>
          <p:cNvPr id="18" name="TextBox 17"/>
          <p:cNvSpPr txBox="1"/>
          <p:nvPr/>
        </p:nvSpPr>
        <p:spPr>
          <a:xfrm>
            <a:off x="8321040" y="3950207"/>
            <a:ext cx="30937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Leave a wish. Read someone</a:t>
            </a:r>
          </a:p>
          <a:p>
            <a:pPr>
              <a:lnSpc>
                <a:spcPct val="105000"/>
              </a:lnSpc>
              <a:spcAft>
                <a:spcPts val="0"/>
              </a:spcAft>
              <a:defRPr sz="1500" b="0">
                <a:solidFill>
                  <a:srgbClr val="4D4B46"/>
                </a:solidFill>
                <a:latin typeface="Arial"/>
              </a:defRPr>
            </a:pPr>
            <a:r>
              <a:t>else’s.</a:t>
            </a:r>
          </a:p>
        </p:txBody>
      </p:sp>
      <p:sp>
        <p:nvSpPr>
          <p:cNvPr id="19" name="TextBox 18"/>
          <p:cNvSpPr txBox="1"/>
          <p:nvPr/>
        </p:nvSpPr>
        <p:spPr>
          <a:xfrm>
            <a:off x="609600" y="5623560"/>
            <a:ext cx="10668000" cy="334060"/>
          </a:xfrm>
          <a:prstGeom prst="rect">
            <a:avLst/>
          </a:prstGeom>
          <a:noFill/>
        </p:spPr>
        <p:txBody>
          <a:bodyPr wrap="none" lIns="0" rIns="0" tIns="0" bIns="0">
            <a:spAutoFit/>
          </a:bodyPr>
          <a:lstStyle/>
          <a:p>
            <a:pPr>
              <a:lnSpc>
                <a:spcPct val="105000"/>
              </a:lnSpc>
              <a:spcAft>
                <a:spcPts val="0"/>
              </a:spcAft>
              <a:defRPr sz="1680" b="0">
                <a:solidFill>
                  <a:srgbClr val="76746E"/>
                </a:solidFill>
                <a:latin typeface="Arial"/>
              </a:defRPr>
            </a:pPr>
            <a:r>
              <a:t>Audience focus: international students and other campus visitors.</a:t>
            </a:r>
          </a:p>
        </p:txBody>
      </p:sp>
      <p:sp>
        <p:nvSpPr>
          <p:cNvPr id="20" name="TextBox 19"/>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03</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02 / PARTICIPANT JOURNEY</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One shared place. Your own way in.</a:t>
            </a:r>
          </a:p>
        </p:txBody>
      </p:sp>
      <p:sp>
        <p:nvSpPr>
          <p:cNvPr id="6" name="Rounded Rectangle 5"/>
          <p:cNvSpPr/>
          <p:nvPr/>
        </p:nvSpPr>
        <p:spPr>
          <a:xfrm>
            <a:off x="571500" y="1943100"/>
            <a:ext cx="211836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914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01</a:t>
            </a:r>
          </a:p>
        </p:txBody>
      </p:sp>
      <p:sp>
        <p:nvSpPr>
          <p:cNvPr id="8" name="TextBox 7"/>
          <p:cNvSpPr txBox="1"/>
          <p:nvPr/>
        </p:nvSpPr>
        <p:spPr>
          <a:xfrm>
            <a:off x="73914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Scan</a:t>
            </a:r>
          </a:p>
        </p:txBody>
      </p:sp>
      <p:sp>
        <p:nvSpPr>
          <p:cNvPr id="9" name="TextBox 8"/>
          <p:cNvSpPr txBox="1"/>
          <p:nvPr/>
        </p:nvSpPr>
        <p:spPr>
          <a:xfrm>
            <a:off x="73914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Use your own</a:t>
            </a:r>
          </a:p>
          <a:p>
            <a:pPr>
              <a:lnSpc>
                <a:spcPct val="105000"/>
              </a:lnSpc>
              <a:spcAft>
                <a:spcPts val="0"/>
              </a:spcAft>
              <a:defRPr sz="1500" b="0">
                <a:solidFill>
                  <a:srgbClr val="4D4B46"/>
                </a:solidFill>
                <a:latin typeface="Arial"/>
              </a:defRPr>
            </a:pPr>
            <a:r>
              <a:t>phone.</a:t>
            </a:r>
          </a:p>
        </p:txBody>
      </p:sp>
      <p:sp>
        <p:nvSpPr>
          <p:cNvPr id="10" name="Rounded Rectangle 9"/>
          <p:cNvSpPr/>
          <p:nvPr/>
        </p:nvSpPr>
        <p:spPr>
          <a:xfrm>
            <a:off x="2811780" y="1943100"/>
            <a:ext cx="2118360" cy="19811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7942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02</a:t>
            </a:r>
          </a:p>
        </p:txBody>
      </p:sp>
      <p:sp>
        <p:nvSpPr>
          <p:cNvPr id="12" name="TextBox 11"/>
          <p:cNvSpPr txBox="1"/>
          <p:nvPr/>
        </p:nvSpPr>
        <p:spPr>
          <a:xfrm>
            <a:off x="297942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Choose</a:t>
            </a:r>
          </a:p>
        </p:txBody>
      </p:sp>
      <p:sp>
        <p:nvSpPr>
          <p:cNvPr id="13" name="TextBox 12"/>
          <p:cNvSpPr txBox="1"/>
          <p:nvPr/>
        </p:nvSpPr>
        <p:spPr>
          <a:xfrm>
            <a:off x="297942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Nickname +</a:t>
            </a:r>
          </a:p>
          <a:p>
            <a:pPr>
              <a:lnSpc>
                <a:spcPct val="105000"/>
              </a:lnSpc>
              <a:spcAft>
                <a:spcPts val="0"/>
              </a:spcAft>
              <a:defRPr sz="1500" b="0">
                <a:solidFill>
                  <a:srgbClr val="4D4B46"/>
                </a:solidFill>
                <a:latin typeface="Arial"/>
              </a:defRPr>
            </a:pPr>
            <a:r>
              <a:t>avatar.</a:t>
            </a:r>
          </a:p>
        </p:txBody>
      </p:sp>
      <p:sp>
        <p:nvSpPr>
          <p:cNvPr id="14" name="Rounded Rectangle 13"/>
          <p:cNvSpPr/>
          <p:nvPr/>
        </p:nvSpPr>
        <p:spPr>
          <a:xfrm>
            <a:off x="5052060" y="1943100"/>
            <a:ext cx="211836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970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03</a:t>
            </a:r>
          </a:p>
        </p:txBody>
      </p:sp>
      <p:sp>
        <p:nvSpPr>
          <p:cNvPr id="16" name="TextBox 15"/>
          <p:cNvSpPr txBox="1"/>
          <p:nvPr/>
        </p:nvSpPr>
        <p:spPr>
          <a:xfrm>
            <a:off x="521970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Explore</a:t>
            </a:r>
          </a:p>
        </p:txBody>
      </p:sp>
      <p:sp>
        <p:nvSpPr>
          <p:cNvPr id="17" name="TextBox 16"/>
          <p:cNvSpPr txBox="1"/>
          <p:nvPr/>
        </p:nvSpPr>
        <p:spPr>
          <a:xfrm>
            <a:off x="521970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See others</a:t>
            </a:r>
          </a:p>
          <a:p>
            <a:pPr>
              <a:lnSpc>
                <a:spcPct val="105000"/>
              </a:lnSpc>
              <a:spcAft>
                <a:spcPts val="0"/>
              </a:spcAft>
              <a:defRPr sz="1500" b="0">
                <a:solidFill>
                  <a:srgbClr val="4D4B46"/>
                </a:solidFill>
                <a:latin typeface="Arial"/>
              </a:defRPr>
            </a:pPr>
            <a:r>
              <a:t>nearby.</a:t>
            </a:r>
          </a:p>
        </p:txBody>
      </p:sp>
      <p:sp>
        <p:nvSpPr>
          <p:cNvPr id="18" name="Rounded Rectangle 17"/>
          <p:cNvSpPr/>
          <p:nvPr/>
        </p:nvSpPr>
        <p:spPr>
          <a:xfrm>
            <a:off x="7292340" y="1943100"/>
            <a:ext cx="2118360" cy="19811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998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04</a:t>
            </a:r>
          </a:p>
        </p:txBody>
      </p:sp>
      <p:sp>
        <p:nvSpPr>
          <p:cNvPr id="20" name="TextBox 19"/>
          <p:cNvSpPr txBox="1"/>
          <p:nvPr/>
        </p:nvSpPr>
        <p:spPr>
          <a:xfrm>
            <a:off x="745998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Notice</a:t>
            </a:r>
          </a:p>
        </p:txBody>
      </p:sp>
      <p:sp>
        <p:nvSpPr>
          <p:cNvPr id="21" name="TextBox 20"/>
          <p:cNvSpPr txBox="1"/>
          <p:nvPr/>
        </p:nvSpPr>
        <p:spPr>
          <a:xfrm>
            <a:off x="745998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Follow a glowing</a:t>
            </a:r>
          </a:p>
          <a:p>
            <a:pPr>
              <a:lnSpc>
                <a:spcPct val="105000"/>
              </a:lnSpc>
              <a:spcAft>
                <a:spcPts val="0"/>
              </a:spcAft>
              <a:defRPr sz="1500" b="0">
                <a:solidFill>
                  <a:srgbClr val="4D4B46"/>
                </a:solidFill>
                <a:latin typeface="Arial"/>
              </a:defRPr>
            </a:pPr>
            <a:r>
              <a:t>invitation.</a:t>
            </a:r>
          </a:p>
        </p:txBody>
      </p:sp>
      <p:sp>
        <p:nvSpPr>
          <p:cNvPr id="22" name="Rounded Rectangle 21"/>
          <p:cNvSpPr/>
          <p:nvPr/>
        </p:nvSpPr>
        <p:spPr>
          <a:xfrm>
            <a:off x="9532620" y="1943100"/>
            <a:ext cx="211836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0026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05</a:t>
            </a:r>
          </a:p>
        </p:txBody>
      </p:sp>
      <p:sp>
        <p:nvSpPr>
          <p:cNvPr id="24" name="TextBox 23"/>
          <p:cNvSpPr txBox="1"/>
          <p:nvPr/>
        </p:nvSpPr>
        <p:spPr>
          <a:xfrm>
            <a:off x="970026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Share</a:t>
            </a:r>
          </a:p>
        </p:txBody>
      </p:sp>
      <p:sp>
        <p:nvSpPr>
          <p:cNvPr id="25" name="TextBox 24"/>
          <p:cNvSpPr txBox="1"/>
          <p:nvPr/>
        </p:nvSpPr>
        <p:spPr>
          <a:xfrm>
            <a:off x="970026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Make, play, wish</a:t>
            </a:r>
          </a:p>
          <a:p>
            <a:pPr>
              <a:lnSpc>
                <a:spcPct val="105000"/>
              </a:lnSpc>
              <a:spcAft>
                <a:spcPts val="0"/>
              </a:spcAft>
              <a:defRPr sz="1500" b="0">
                <a:solidFill>
                  <a:srgbClr val="4D4B46"/>
                </a:solidFill>
                <a:latin typeface="Arial"/>
              </a:defRPr>
            </a:pPr>
            <a:r>
              <a:t>or listen.</a:t>
            </a:r>
          </a:p>
        </p:txBody>
      </p:sp>
      <p:sp>
        <p:nvSpPr>
          <p:cNvPr id="26" name="Rounded Rectangle 25"/>
          <p:cNvSpPr/>
          <p:nvPr/>
        </p:nvSpPr>
        <p:spPr>
          <a:xfrm>
            <a:off x="571500" y="4419600"/>
            <a:ext cx="11049000" cy="1181100"/>
          </a:xfrm>
          <a:prstGeom prst="roundRect">
            <a:avLst>
              <a:gd name="adj" fmla="val 14000"/>
            </a:avLst>
          </a:prstGeom>
          <a:solidFill>
            <a:srgbClr val="30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8200" y="4594860"/>
            <a:ext cx="10439400" cy="431596"/>
          </a:xfrm>
          <a:prstGeom prst="rect">
            <a:avLst/>
          </a:prstGeom>
          <a:noFill/>
        </p:spPr>
        <p:txBody>
          <a:bodyPr wrap="none" lIns="0" rIns="0" tIns="0" bIns="0">
            <a:spAutoFit/>
          </a:bodyPr>
          <a:lstStyle/>
          <a:p>
            <a:pPr>
              <a:lnSpc>
                <a:spcPct val="105000"/>
              </a:lnSpc>
              <a:spcAft>
                <a:spcPts val="0"/>
              </a:spcAft>
              <a:defRPr sz="2280" b="1">
                <a:solidFill>
                  <a:srgbClr val="FFFFFF"/>
                </a:solidFill>
                <a:latin typeface="Arial"/>
              </a:defRPr>
            </a:pPr>
            <a:r>
              <a:t>A first encounter in approximately two minutes or less.</a:t>
            </a:r>
          </a:p>
        </p:txBody>
      </p:sp>
      <p:sp>
        <p:nvSpPr>
          <p:cNvPr id="28" name="TextBox 27"/>
          <p:cNvSpPr txBox="1"/>
          <p:nvPr/>
        </p:nvSpPr>
        <p:spPr>
          <a:xfrm>
            <a:off x="838200" y="5052060"/>
            <a:ext cx="10439400" cy="324307"/>
          </a:xfrm>
          <a:prstGeom prst="rect">
            <a:avLst/>
          </a:prstGeom>
          <a:noFill/>
        </p:spPr>
        <p:txBody>
          <a:bodyPr wrap="none" lIns="0" rIns="0" tIns="0" bIns="0">
            <a:spAutoFit/>
          </a:bodyPr>
          <a:lstStyle/>
          <a:p>
            <a:pPr>
              <a:lnSpc>
                <a:spcPct val="105000"/>
              </a:lnSpc>
              <a:spcAft>
                <a:spcPts val="0"/>
              </a:spcAft>
              <a:defRPr sz="1620" b="0">
                <a:solidFill>
                  <a:srgbClr val="EBE6DD"/>
                </a:solidFill>
                <a:latin typeface="Arial"/>
              </a:defRPr>
            </a:pPr>
            <a:r>
              <a:t>The whole map can be explored at your own pace.</a:t>
            </a:r>
          </a:p>
        </p:txBody>
      </p:sp>
      <p:sp>
        <p:nvSpPr>
          <p:cNvPr id="29" name="TextBox 28"/>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04</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EXPERIENCE / EXPRESSION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Meet, speak and leave a little hope</a:t>
            </a:r>
          </a:p>
        </p:txBody>
      </p:sp>
      <p:pic>
        <p:nvPicPr>
          <p:cNvPr id="6" name="Picture 5" descr="wishing-tree.png"/>
          <p:cNvPicPr>
            <a:picLocks noChangeAspect="1"/>
          </p:cNvPicPr>
          <p:nvPr/>
        </p:nvPicPr>
        <p:blipFill>
          <a:blip r:embed="rId2"/>
          <a:stretch>
            <a:fillRect/>
          </a:stretch>
        </p:blipFill>
        <p:spPr>
          <a:xfrm>
            <a:off x="7467599" y="2381250"/>
            <a:ext cx="3886200" cy="2590800"/>
          </a:xfrm>
          <a:prstGeom prst="rect">
            <a:avLst/>
          </a:prstGeom>
        </p:spPr>
      </p:pic>
      <p:sp>
        <p:nvSpPr>
          <p:cNvPr id="7" name="Rounded Rectangle 6"/>
          <p:cNvSpPr/>
          <p:nvPr/>
        </p:nvSpPr>
        <p:spPr>
          <a:xfrm>
            <a:off x="571500" y="1790700"/>
            <a:ext cx="3276600" cy="16764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9140" y="1920240"/>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JOIN + MOVE</a:t>
            </a:r>
          </a:p>
        </p:txBody>
      </p:sp>
      <p:sp>
        <p:nvSpPr>
          <p:cNvPr id="9" name="TextBox 8"/>
          <p:cNvSpPr txBox="1"/>
          <p:nvPr/>
        </p:nvSpPr>
        <p:spPr>
          <a:xfrm>
            <a:off x="739140" y="21717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Be present</a:t>
            </a:r>
          </a:p>
        </p:txBody>
      </p:sp>
      <p:sp>
        <p:nvSpPr>
          <p:cNvPr id="10" name="TextBox 9"/>
          <p:cNvSpPr txBox="1"/>
          <p:nvPr/>
        </p:nvSpPr>
        <p:spPr>
          <a:xfrm>
            <a:off x="739140" y="2578608"/>
            <a:ext cx="2941320" cy="79248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QR entry, nickname, three</a:t>
            </a:r>
          </a:p>
          <a:p>
            <a:pPr>
              <a:lnSpc>
                <a:spcPct val="105000"/>
              </a:lnSpc>
              <a:spcAft>
                <a:spcPts val="0"/>
              </a:spcAft>
              <a:defRPr sz="1500" b="0">
                <a:solidFill>
                  <a:srgbClr val="4D4B46"/>
                </a:solidFill>
                <a:latin typeface="Arial"/>
              </a:defRPr>
            </a:pPr>
            <a:r>
              <a:t>avatars; independent</a:t>
            </a:r>
          </a:p>
          <a:p>
            <a:pPr>
              <a:lnSpc>
                <a:spcPct val="105000"/>
              </a:lnSpc>
              <a:spcAft>
                <a:spcPts val="0"/>
              </a:spcAft>
              <a:defRPr sz="1500" b="0">
                <a:solidFill>
                  <a:srgbClr val="4D4B46"/>
                </a:solidFill>
                <a:latin typeface="Arial"/>
              </a:defRPr>
            </a:pPr>
            <a:r>
              <a:t>movement.</a:t>
            </a:r>
          </a:p>
        </p:txBody>
      </p:sp>
      <p:sp>
        <p:nvSpPr>
          <p:cNvPr id="11" name="Rounded Rectangle 10"/>
          <p:cNvSpPr/>
          <p:nvPr/>
        </p:nvSpPr>
        <p:spPr>
          <a:xfrm>
            <a:off x="4114800" y="1790700"/>
            <a:ext cx="3276600" cy="1676400"/>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82440" y="1920240"/>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LIVE CHAT</a:t>
            </a:r>
          </a:p>
        </p:txBody>
      </p:sp>
      <p:sp>
        <p:nvSpPr>
          <p:cNvPr id="13" name="TextBox 12"/>
          <p:cNvSpPr txBox="1"/>
          <p:nvPr/>
        </p:nvSpPr>
        <p:spPr>
          <a:xfrm>
            <a:off x="4282440" y="21717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Speak in the map</a:t>
            </a:r>
          </a:p>
        </p:txBody>
      </p:sp>
      <p:sp>
        <p:nvSpPr>
          <p:cNvPr id="14" name="TextBox 13"/>
          <p:cNvSpPr txBox="1"/>
          <p:nvPr/>
        </p:nvSpPr>
        <p:spPr>
          <a:xfrm>
            <a:off x="4282440" y="2578608"/>
            <a:ext cx="29413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Shared head bubbles</a:t>
            </a:r>
          </a:p>
          <a:p>
            <a:pPr>
              <a:lnSpc>
                <a:spcPct val="105000"/>
              </a:lnSpc>
              <a:spcAft>
                <a:spcPts val="0"/>
              </a:spcAft>
              <a:defRPr sz="1500" b="0">
                <a:solidFill>
                  <a:srgbClr val="4D4B46"/>
                </a:solidFill>
                <a:latin typeface="Arial"/>
              </a:defRPr>
            </a:pPr>
            <a:r>
              <a:t>disappear after 5 seconds.</a:t>
            </a:r>
          </a:p>
        </p:txBody>
      </p:sp>
      <p:sp>
        <p:nvSpPr>
          <p:cNvPr id="15" name="Rounded Rectangle 14"/>
          <p:cNvSpPr/>
          <p:nvPr/>
        </p:nvSpPr>
        <p:spPr>
          <a:xfrm>
            <a:off x="571500" y="3733799"/>
            <a:ext cx="6819900" cy="1943100"/>
          </a:xfrm>
          <a:prstGeom prst="roundRect">
            <a:avLst>
              <a:gd name="adj" fmla="val 14000"/>
            </a:avLst>
          </a:prstGeom>
          <a:solidFill>
            <a:srgbClr val="DAB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9140" y="3863339"/>
            <a:ext cx="64846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WISHING TREE</a:t>
            </a:r>
          </a:p>
        </p:txBody>
      </p:sp>
      <p:sp>
        <p:nvSpPr>
          <p:cNvPr id="17" name="TextBox 16"/>
          <p:cNvSpPr txBox="1"/>
          <p:nvPr/>
        </p:nvSpPr>
        <p:spPr>
          <a:xfrm>
            <a:off x="739140" y="4114800"/>
            <a:ext cx="64846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A message someone can discover</a:t>
            </a:r>
          </a:p>
        </p:txBody>
      </p:sp>
      <p:sp>
        <p:nvSpPr>
          <p:cNvPr id="18" name="TextBox 17"/>
          <p:cNvSpPr txBox="1"/>
          <p:nvPr/>
        </p:nvSpPr>
        <p:spPr>
          <a:xfrm>
            <a:off x="739140" y="4521707"/>
            <a:ext cx="64846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Hang a wish. A 4–5-word preview sways; open the note for</a:t>
            </a:r>
          </a:p>
          <a:p>
            <a:pPr>
              <a:lnSpc>
                <a:spcPct val="105000"/>
              </a:lnSpc>
              <a:spcAft>
                <a:spcPts val="0"/>
              </a:spcAft>
              <a:defRPr sz="1500" b="0">
                <a:solidFill>
                  <a:srgbClr val="4D4B46"/>
                </a:solidFill>
                <a:latin typeface="Arial"/>
              </a:defRPr>
            </a:pPr>
            <a:r>
              <a:t>nickname, date and full text. Bless it once per player.</a:t>
            </a:r>
          </a:p>
        </p:txBody>
      </p:sp>
      <p:sp>
        <p:nvSpPr>
          <p:cNvPr id="19" name="TextBox 18"/>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05</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EXPERIENCE / COOPERATION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Two players. Two kinds of cooperation.</a:t>
            </a:r>
          </a:p>
        </p:txBody>
      </p:sp>
      <p:pic>
        <p:nvPicPr>
          <p:cNvPr id="6" name="Picture 5" descr="drink-maker-online-finished.png"/>
          <p:cNvPicPr>
            <a:picLocks noChangeAspect="1"/>
          </p:cNvPicPr>
          <p:nvPr/>
        </p:nvPicPr>
        <p:blipFill>
          <a:blip r:embed="rId2"/>
          <a:stretch>
            <a:fillRect/>
          </a:stretch>
        </p:blipFill>
        <p:spPr>
          <a:xfrm>
            <a:off x="457561" y="1676400"/>
            <a:ext cx="1866177" cy="4038600"/>
          </a:xfrm>
          <a:prstGeom prst="rect">
            <a:avLst/>
          </a:prstGeom>
        </p:spPr>
      </p:pic>
      <p:sp>
        <p:nvSpPr>
          <p:cNvPr id="7" name="TextBox 6"/>
          <p:cNvSpPr txBox="1"/>
          <p:nvPr/>
        </p:nvSpPr>
        <p:spPr>
          <a:xfrm>
            <a:off x="2514600" y="1828800"/>
            <a:ext cx="3200400" cy="412089"/>
          </a:xfrm>
          <a:prstGeom prst="rect">
            <a:avLst/>
          </a:prstGeom>
          <a:noFill/>
        </p:spPr>
        <p:txBody>
          <a:bodyPr wrap="none" lIns="0" rIns="0" tIns="0" bIns="0">
            <a:spAutoFit/>
          </a:bodyPr>
          <a:lstStyle/>
          <a:p>
            <a:pPr>
              <a:lnSpc>
                <a:spcPct val="105000"/>
              </a:lnSpc>
              <a:spcAft>
                <a:spcPts val="0"/>
              </a:spcAft>
              <a:defRPr sz="2160" b="1">
                <a:solidFill>
                  <a:srgbClr val="303A68"/>
                </a:solidFill>
                <a:latin typeface="Arial"/>
              </a:defRPr>
            </a:pPr>
            <a:r>
              <a:t>Make a drink</a:t>
            </a:r>
          </a:p>
        </p:txBody>
      </p:sp>
      <p:sp>
        <p:nvSpPr>
          <p:cNvPr id="8" name="TextBox 7"/>
          <p:cNvSpPr txBox="1"/>
          <p:nvPr/>
        </p:nvSpPr>
        <p:spPr>
          <a:xfrm>
            <a:off x="2514600" y="2324100"/>
            <a:ext cx="3200400" cy="1328928"/>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Four alternating turns</a:t>
            </a:r>
          </a:p>
          <a:p>
            <a:pPr>
              <a:lnSpc>
                <a:spcPct val="105000"/>
              </a:lnSpc>
              <a:spcAft>
                <a:spcPts val="0"/>
              </a:spcAft>
              <a:defRPr sz="1560" b="0">
                <a:solidFill>
                  <a:srgbClr val="4D4B46"/>
                </a:solidFill>
                <a:latin typeface="Arial"/>
              </a:defRPr>
            </a:pPr>
            <a:r>
              <a:t>Three options per stage</a:t>
            </a:r>
          </a:p>
          <a:p>
            <a:pPr>
              <a:lnSpc>
                <a:spcPct val="105000"/>
              </a:lnSpc>
              <a:spcAft>
                <a:spcPts val="0"/>
              </a:spcAft>
              <a:defRPr sz="1560" b="0">
                <a:solidFill>
                  <a:srgbClr val="4D4B46"/>
                </a:solidFill>
                <a:latin typeface="Arial"/>
              </a:defRPr>
            </a:pPr>
            <a:r>
              <a:t>Both players shape the recipe</a:t>
            </a:r>
          </a:p>
          <a:p>
            <a:pPr>
              <a:lnSpc>
                <a:spcPct val="105000"/>
              </a:lnSpc>
              <a:spcAft>
                <a:spcPts val="0"/>
              </a:spcAft>
              <a:defRPr sz="1560" b="0">
                <a:solidFill>
                  <a:srgbClr val="4D4B46"/>
                </a:solidFill>
                <a:latin typeface="Arial"/>
              </a:defRPr>
            </a:pPr>
            <a:r>
              <a:t>Your turn notification</a:t>
            </a:r>
          </a:p>
          <a:p>
            <a:pPr>
              <a:lnSpc>
                <a:spcPct val="105000"/>
              </a:lnSpc>
              <a:spcAft>
                <a:spcPts val="0"/>
              </a:spcAft>
              <a:defRPr sz="1560" b="0">
                <a:solidFill>
                  <a:srgbClr val="4D4B46"/>
                </a:solidFill>
                <a:latin typeface="Arial"/>
              </a:defRPr>
            </a:pPr>
            <a:r>
              <a:t>One shared, named result</a:t>
            </a:r>
          </a:p>
        </p:txBody>
      </p:sp>
      <p:sp>
        <p:nvSpPr>
          <p:cNvPr id="9" name="TextBox 8"/>
          <p:cNvSpPr txBox="1"/>
          <p:nvPr/>
        </p:nvSpPr>
        <p:spPr>
          <a:xfrm>
            <a:off x="2514600" y="4305300"/>
            <a:ext cx="3200400" cy="548640"/>
          </a:xfrm>
          <a:prstGeom prst="rect">
            <a:avLst/>
          </a:prstGeom>
          <a:noFill/>
        </p:spPr>
        <p:txBody>
          <a:bodyPr wrap="none" lIns="0" rIns="0" tIns="0" bIns="0">
            <a:spAutoFit/>
          </a:bodyPr>
          <a:lstStyle/>
          <a:p>
            <a:pPr>
              <a:lnSpc>
                <a:spcPct val="105000"/>
              </a:lnSpc>
              <a:spcAft>
                <a:spcPts val="0"/>
              </a:spcAft>
              <a:defRPr sz="1500" b="1">
                <a:solidFill>
                  <a:srgbClr val="303A68"/>
                </a:solidFill>
                <a:latin typeface="Arial"/>
              </a:defRPr>
            </a:pPr>
            <a:r>
              <a:t>Base → flavour → topping →</a:t>
            </a:r>
          </a:p>
          <a:p>
            <a:pPr>
              <a:lnSpc>
                <a:spcPct val="105000"/>
              </a:lnSpc>
              <a:spcAft>
                <a:spcPts val="0"/>
              </a:spcAft>
              <a:defRPr sz="1500" b="1">
                <a:solidFill>
                  <a:srgbClr val="303A68"/>
                </a:solidFill>
                <a:latin typeface="Arial"/>
              </a:defRPr>
            </a:pPr>
            <a:r>
              <a:t>decoration</a:t>
            </a:r>
          </a:p>
        </p:txBody>
      </p:sp>
      <p:pic>
        <p:nvPicPr>
          <p:cNvPr id="10" name="Picture 9" descr="fishing-online-a.png"/>
          <p:cNvPicPr>
            <a:picLocks noChangeAspect="1"/>
          </p:cNvPicPr>
          <p:nvPr/>
        </p:nvPicPr>
        <p:blipFill>
          <a:blip r:embed="rId3"/>
          <a:stretch>
            <a:fillRect/>
          </a:stretch>
        </p:blipFill>
        <p:spPr>
          <a:xfrm>
            <a:off x="6096361" y="1676400"/>
            <a:ext cx="1866177" cy="4038600"/>
          </a:xfrm>
          <a:prstGeom prst="rect">
            <a:avLst/>
          </a:prstGeom>
        </p:spPr>
      </p:pic>
      <p:sp>
        <p:nvSpPr>
          <p:cNvPr id="11" name="TextBox 10"/>
          <p:cNvSpPr txBox="1"/>
          <p:nvPr/>
        </p:nvSpPr>
        <p:spPr>
          <a:xfrm>
            <a:off x="8191500" y="1828800"/>
            <a:ext cx="3352800" cy="412089"/>
          </a:xfrm>
          <a:prstGeom prst="rect">
            <a:avLst/>
          </a:prstGeom>
          <a:noFill/>
        </p:spPr>
        <p:txBody>
          <a:bodyPr wrap="none" lIns="0" rIns="0" tIns="0" bIns="0">
            <a:spAutoFit/>
          </a:bodyPr>
          <a:lstStyle/>
          <a:p>
            <a:pPr>
              <a:lnSpc>
                <a:spcPct val="105000"/>
              </a:lnSpc>
              <a:spcAft>
                <a:spcPts val="0"/>
              </a:spcAft>
              <a:defRPr sz="2160" b="1">
                <a:solidFill>
                  <a:srgbClr val="303A68"/>
                </a:solidFill>
                <a:latin typeface="Arial"/>
              </a:defRPr>
            </a:pPr>
            <a:r>
              <a:t>Catch together</a:t>
            </a:r>
          </a:p>
        </p:txBody>
      </p:sp>
      <p:sp>
        <p:nvSpPr>
          <p:cNvPr id="12" name="TextBox 11"/>
          <p:cNvSpPr txBox="1"/>
          <p:nvPr/>
        </p:nvSpPr>
        <p:spPr>
          <a:xfrm>
            <a:off x="8191500" y="2324100"/>
            <a:ext cx="3352800" cy="1328928"/>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Countdown to start</a:t>
            </a:r>
          </a:p>
          <a:p>
            <a:pPr>
              <a:lnSpc>
                <a:spcPct val="105000"/>
              </a:lnSpc>
              <a:spcAft>
                <a:spcPts val="0"/>
              </a:spcAft>
              <a:defRPr sz="1560" b="0">
                <a:solidFill>
                  <a:srgbClr val="4D4B46"/>
                </a:solidFill>
                <a:latin typeface="Arial"/>
              </a:defRPr>
            </a:pPr>
            <a:r>
              <a:t>Split vertical / horizontal control</a:t>
            </a:r>
          </a:p>
          <a:p>
            <a:pPr>
              <a:lnSpc>
                <a:spcPct val="105000"/>
              </a:lnSpc>
              <a:spcAft>
                <a:spcPts val="0"/>
              </a:spcAft>
              <a:defRPr sz="1560" b="0">
                <a:solidFill>
                  <a:srgbClr val="4D4B46"/>
                </a:solidFill>
                <a:latin typeface="Arial"/>
              </a:defRPr>
            </a:pPr>
            <a:r>
              <a:t>Aim the float at ripples</a:t>
            </a:r>
          </a:p>
          <a:p>
            <a:pPr>
              <a:lnSpc>
                <a:spcPct val="105000"/>
              </a:lnSpc>
              <a:spcAft>
                <a:spcPts val="0"/>
              </a:spcAft>
              <a:defRPr sz="1560" b="0">
                <a:solidFill>
                  <a:srgbClr val="4D4B46"/>
                </a:solidFill>
                <a:latin typeface="Arial"/>
              </a:defRPr>
            </a:pPr>
            <a:r>
              <a:t>Progress rises or falls</a:t>
            </a:r>
          </a:p>
          <a:p>
            <a:pPr>
              <a:lnSpc>
                <a:spcPct val="105000"/>
              </a:lnSpc>
              <a:spcAft>
                <a:spcPts val="0"/>
              </a:spcAft>
              <a:defRPr sz="1560" b="0">
                <a:solidFill>
                  <a:srgbClr val="4D4B46"/>
                </a:solidFill>
                <a:latin typeface="Arial"/>
              </a:defRPr>
            </a:pPr>
            <a:r>
              <a:t>Four named catches + retry</a:t>
            </a:r>
          </a:p>
        </p:txBody>
      </p:sp>
      <p:sp>
        <p:nvSpPr>
          <p:cNvPr id="13" name="TextBox 12"/>
          <p:cNvSpPr txBox="1"/>
          <p:nvPr/>
        </p:nvSpPr>
        <p:spPr>
          <a:xfrm>
            <a:off x="8191500" y="4495800"/>
            <a:ext cx="3352800" cy="529132"/>
          </a:xfrm>
          <a:prstGeom prst="rect">
            <a:avLst/>
          </a:prstGeom>
          <a:noFill/>
        </p:spPr>
        <p:txBody>
          <a:bodyPr wrap="none" lIns="0" rIns="0" tIns="0" bIns="0">
            <a:spAutoFit/>
          </a:bodyPr>
          <a:lstStyle/>
          <a:p>
            <a:pPr>
              <a:lnSpc>
                <a:spcPct val="105000"/>
              </a:lnSpc>
              <a:spcAft>
                <a:spcPts val="0"/>
              </a:spcAft>
              <a:defRPr sz="1439" b="1">
                <a:solidFill>
                  <a:srgbClr val="303A68"/>
                </a:solidFill>
                <a:latin typeface="Arial"/>
              </a:defRPr>
            </a:pPr>
            <a:r>
              <a:t>Start 20% · +10% / −4% per</a:t>
            </a:r>
          </a:p>
          <a:p>
            <a:pPr>
              <a:lnSpc>
                <a:spcPct val="105000"/>
              </a:lnSpc>
              <a:spcAft>
                <a:spcPts val="0"/>
              </a:spcAft>
              <a:defRPr sz="1439" b="1">
                <a:solidFill>
                  <a:srgbClr val="303A68"/>
                </a:solidFill>
                <a:latin typeface="Arial"/>
              </a:defRPr>
            </a:pPr>
            <a:r>
              <a:t>second</a:t>
            </a:r>
          </a:p>
        </p:txBody>
      </p:sp>
      <p:sp>
        <p:nvSpPr>
          <p:cNvPr id="14" name="TextBox 13"/>
          <p:cNvSpPr txBox="1"/>
          <p:nvPr/>
        </p:nvSpPr>
        <p:spPr>
          <a:xfrm>
            <a:off x="609600" y="5943600"/>
            <a:ext cx="10972800" cy="236524"/>
          </a:xfrm>
          <a:prstGeom prst="rect">
            <a:avLst/>
          </a:prstGeom>
          <a:noFill/>
        </p:spPr>
        <p:txBody>
          <a:bodyPr wrap="none" lIns="0" rIns="0" tIns="0" bIns="0">
            <a:spAutoFit/>
          </a:bodyPr>
          <a:lstStyle/>
          <a:p>
            <a:pPr>
              <a:lnSpc>
                <a:spcPct val="105000"/>
              </a:lnSpc>
              <a:spcAft>
                <a:spcPts val="0"/>
              </a:spcAft>
              <a:defRPr sz="1080" b="0">
                <a:solidFill>
                  <a:srgbClr val="76746E"/>
                </a:solidFill>
                <a:latin typeface="Arial"/>
              </a:defRPr>
            </a:pPr>
            <a:r>
              <a:t>Drink choices: sparkling water / milk tea / slush; strawberry / matcha / mango; pearls / coconut jelly / red bean; foam / ice cream / lemon.</a:t>
            </a:r>
          </a:p>
        </p:txBody>
      </p:sp>
      <p:sp>
        <p:nvSpPr>
          <p:cNvPr id="15" name="TextBox 14"/>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06</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EXPERIENCE / MUSIC + SHARED ACCESS</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One performer. A shared audience.</a:t>
            </a:r>
          </a:p>
        </p:txBody>
      </p:sp>
      <p:pic>
        <p:nvPicPr>
          <p:cNvPr id="6" name="Picture 5" descr="piano-playing.png"/>
          <p:cNvPicPr>
            <a:picLocks noChangeAspect="1"/>
          </p:cNvPicPr>
          <p:nvPr/>
        </p:nvPicPr>
        <p:blipFill>
          <a:blip r:embed="rId2"/>
          <a:stretch>
            <a:fillRect/>
          </a:stretch>
        </p:blipFill>
        <p:spPr>
          <a:xfrm>
            <a:off x="740286" y="1638300"/>
            <a:ext cx="2024626" cy="4381500"/>
          </a:xfrm>
          <a:prstGeom prst="rect">
            <a:avLst/>
          </a:prstGeom>
        </p:spPr>
      </p:pic>
      <p:pic>
        <p:nvPicPr>
          <p:cNvPr id="7" name="Picture 6" descr="shared-piano.png"/>
          <p:cNvPicPr>
            <a:picLocks noChangeAspect="1"/>
          </p:cNvPicPr>
          <p:nvPr/>
        </p:nvPicPr>
        <p:blipFill>
          <a:blip r:embed="rId3"/>
          <a:stretch>
            <a:fillRect/>
          </a:stretch>
        </p:blipFill>
        <p:spPr>
          <a:xfrm>
            <a:off x="8763000" y="2092770"/>
            <a:ext cx="2590800" cy="2367659"/>
          </a:xfrm>
          <a:prstGeom prst="rect">
            <a:avLst/>
          </a:prstGeom>
        </p:spPr>
      </p:pic>
      <p:sp>
        <p:nvSpPr>
          <p:cNvPr id="8" name="TextBox 7"/>
          <p:cNvSpPr txBox="1"/>
          <p:nvPr/>
        </p:nvSpPr>
        <p:spPr>
          <a:xfrm>
            <a:off x="3352800" y="1905000"/>
            <a:ext cx="5181600" cy="431596"/>
          </a:xfrm>
          <a:prstGeom prst="rect">
            <a:avLst/>
          </a:prstGeom>
          <a:noFill/>
        </p:spPr>
        <p:txBody>
          <a:bodyPr wrap="none" lIns="0" rIns="0" tIns="0" bIns="0">
            <a:spAutoFit/>
          </a:bodyPr>
          <a:lstStyle/>
          <a:p>
            <a:pPr>
              <a:lnSpc>
                <a:spcPct val="105000"/>
              </a:lnSpc>
              <a:spcAft>
                <a:spcPts val="0"/>
              </a:spcAft>
              <a:defRPr sz="2280" b="1">
                <a:solidFill>
                  <a:srgbClr val="303A68"/>
                </a:solidFill>
                <a:latin typeface="Arial"/>
              </a:defRPr>
            </a:pPr>
            <a:r>
              <a:t>Play without leaving the map</a:t>
            </a:r>
          </a:p>
        </p:txBody>
      </p:sp>
      <p:sp>
        <p:nvSpPr>
          <p:cNvPr id="9" name="TextBox 8"/>
          <p:cNvSpPr txBox="1"/>
          <p:nvPr/>
        </p:nvSpPr>
        <p:spPr>
          <a:xfrm>
            <a:off x="3352800" y="2552700"/>
            <a:ext cx="4953000" cy="1699564"/>
          </a:xfrm>
          <a:prstGeom prst="rect">
            <a:avLst/>
          </a:prstGeom>
          <a:noFill/>
        </p:spPr>
        <p:txBody>
          <a:bodyPr wrap="none" lIns="0" rIns="0" tIns="0" bIns="0">
            <a:spAutoFit/>
          </a:bodyPr>
          <a:lstStyle/>
          <a:p>
            <a:pPr>
              <a:lnSpc>
                <a:spcPct val="105000"/>
              </a:lnSpc>
              <a:spcAft>
                <a:spcPts val="0"/>
              </a:spcAft>
              <a:defRPr sz="1680" b="0">
                <a:solidFill>
                  <a:srgbClr val="4D4B46"/>
                </a:solidFill>
                <a:latin typeface="Arial"/>
              </a:defRPr>
            </a:pPr>
            <a:r>
              <a:t>21 keys in an on-map panel</a:t>
            </a:r>
          </a:p>
          <a:p>
            <a:pPr>
              <a:lnSpc>
                <a:spcPct val="105000"/>
              </a:lnSpc>
              <a:spcAft>
                <a:spcPts val="0"/>
              </a:spcAft>
              <a:defRPr sz="1680" b="0">
                <a:solidFill>
                  <a:srgbClr val="4D4B46"/>
                </a:solidFill>
                <a:latin typeface="Arial"/>
              </a:defRPr>
            </a:pPr>
            <a:r>
              <a:t>One performer; others can listen</a:t>
            </a:r>
          </a:p>
          <a:p>
            <a:pPr>
              <a:lnSpc>
                <a:spcPct val="105000"/>
              </a:lnSpc>
              <a:spcAft>
                <a:spcPts val="0"/>
              </a:spcAft>
              <a:defRPr sz="1680" b="0">
                <a:solidFill>
                  <a:srgbClr val="4D4B46"/>
                </a:solidFill>
                <a:latin typeface="Arial"/>
              </a:defRPr>
            </a:pPr>
            <a:r>
              <a:t>Occupied notice shows the nickname</a:t>
            </a:r>
          </a:p>
          <a:p>
            <a:pPr>
              <a:lnSpc>
                <a:spcPct val="105000"/>
              </a:lnSpc>
              <a:spcAft>
                <a:spcPts val="0"/>
              </a:spcAft>
              <a:defRPr sz="1680" b="0">
                <a:solidFill>
                  <a:srgbClr val="4D4B46"/>
                </a:solidFill>
                <a:latin typeface="Arial"/>
              </a:defRPr>
            </a:pPr>
            <a:r>
              <a:t>Playing icon moves with musical notes</a:t>
            </a:r>
          </a:p>
          <a:p>
            <a:pPr>
              <a:lnSpc>
                <a:spcPct val="105000"/>
              </a:lnSpc>
              <a:spcAft>
                <a:spcPts val="0"/>
              </a:spcAft>
              <a:defRPr sz="1680" b="0">
                <a:solidFill>
                  <a:srgbClr val="4D4B46"/>
                </a:solidFill>
                <a:latin typeface="Arial"/>
              </a:defRPr>
            </a:pPr>
            <a:r>
              <a:t>8 seconds idle → seat released</a:t>
            </a:r>
          </a:p>
          <a:p>
            <a:pPr>
              <a:lnSpc>
                <a:spcPct val="105000"/>
              </a:lnSpc>
              <a:spcAft>
                <a:spcPts val="0"/>
              </a:spcAft>
              <a:defRPr sz="1680" b="0">
                <a:solidFill>
                  <a:srgbClr val="4D4B46"/>
                </a:solidFill>
                <a:latin typeface="Arial"/>
              </a:defRPr>
            </a:pPr>
            <a:r>
              <a:t>Sound control and a clear exit</a:t>
            </a:r>
          </a:p>
        </p:txBody>
      </p:sp>
      <p:sp>
        <p:nvSpPr>
          <p:cNvPr id="10" name="Rounded Rectangle 9"/>
          <p:cNvSpPr/>
          <p:nvPr/>
        </p:nvSpPr>
        <p:spPr>
          <a:xfrm>
            <a:off x="3352800" y="5067300"/>
            <a:ext cx="7848600" cy="8001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3300" y="5234940"/>
            <a:ext cx="7429500" cy="587654"/>
          </a:xfrm>
          <a:prstGeom prst="rect">
            <a:avLst/>
          </a:prstGeom>
          <a:noFill/>
        </p:spPr>
        <p:txBody>
          <a:bodyPr wrap="none" lIns="0" rIns="0" tIns="0" bIns="0">
            <a:spAutoFit/>
          </a:bodyPr>
          <a:lstStyle/>
          <a:p>
            <a:pPr>
              <a:lnSpc>
                <a:spcPct val="105000"/>
              </a:lnSpc>
              <a:spcAft>
                <a:spcPts val="0"/>
              </a:spcAft>
              <a:defRPr sz="1620" b="0">
                <a:solidFill>
                  <a:srgbClr val="303A68"/>
                </a:solidFill>
                <a:latin typeface="Arial"/>
              </a:defRPr>
            </a:pPr>
            <a:r>
              <a:t>All activity entrances share proximity cues and a route back to the</a:t>
            </a:r>
          </a:p>
          <a:p>
            <a:pPr>
              <a:lnSpc>
                <a:spcPct val="105000"/>
              </a:lnSpc>
              <a:spcAft>
                <a:spcPts val="0"/>
              </a:spcAft>
              <a:defRPr sz="1620" b="0">
                <a:solidFill>
                  <a:srgbClr val="303A68"/>
                </a:solidFill>
                <a:latin typeface="Arial"/>
              </a:defRPr>
            </a:pPr>
            <a:r>
              <a:t>map.</a:t>
            </a:r>
          </a:p>
        </p:txBody>
      </p:sp>
      <p:sp>
        <p:nvSpPr>
          <p:cNvPr id="12" name="TextBox 11"/>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07</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03 / SHOWCASE FILM</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From noticing to participating</a:t>
            </a:r>
          </a:p>
        </p:txBody>
      </p:sp>
      <p:sp>
        <p:nvSpPr>
          <p:cNvPr id="6" name="Rounded Rectangle 5"/>
          <p:cNvSpPr/>
          <p:nvPr/>
        </p:nvSpPr>
        <p:spPr>
          <a:xfrm>
            <a:off x="571500" y="1638300"/>
            <a:ext cx="11049000" cy="4076699"/>
          </a:xfrm>
          <a:prstGeom prst="roundRect">
            <a:avLst>
              <a:gd name="adj" fmla="val 14000"/>
            </a:avLst>
          </a:prstGeom>
          <a:solidFill>
            <a:srgbClr val="30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900" y="2118360"/>
            <a:ext cx="9906000" cy="431596"/>
          </a:xfrm>
          <a:prstGeom prst="rect">
            <a:avLst/>
          </a:prstGeom>
          <a:noFill/>
        </p:spPr>
        <p:txBody>
          <a:bodyPr wrap="none" lIns="0" rIns="0" tIns="0" bIns="0">
            <a:spAutoFit/>
          </a:bodyPr>
          <a:lstStyle/>
          <a:p>
            <a:pPr>
              <a:lnSpc>
                <a:spcPct val="105000"/>
              </a:lnSpc>
              <a:spcAft>
                <a:spcPts val="0"/>
              </a:spcAft>
              <a:defRPr sz="2280" b="1">
                <a:solidFill>
                  <a:srgbClr val="FFFFFF"/>
                </a:solidFill>
                <a:latin typeface="Arial"/>
              </a:defRPr>
            </a:pPr>
            <a:r>
              <a:t>INSERT YOUR SHOWCASE VIDEO</a:t>
            </a:r>
          </a:p>
        </p:txBody>
      </p:sp>
      <p:sp>
        <p:nvSpPr>
          <p:cNvPr id="8" name="TextBox 7"/>
          <p:cNvSpPr txBox="1"/>
          <p:nvPr/>
        </p:nvSpPr>
        <p:spPr>
          <a:xfrm>
            <a:off x="1104900" y="2705100"/>
            <a:ext cx="9677400" cy="353568"/>
          </a:xfrm>
          <a:prstGeom prst="rect">
            <a:avLst/>
          </a:prstGeom>
          <a:noFill/>
        </p:spPr>
        <p:txBody>
          <a:bodyPr wrap="none" lIns="0" rIns="0" tIns="0" bIns="0">
            <a:spAutoFit/>
          </a:bodyPr>
          <a:lstStyle/>
          <a:p>
            <a:pPr>
              <a:lnSpc>
                <a:spcPct val="105000"/>
              </a:lnSpc>
              <a:spcAft>
                <a:spcPts val="0"/>
              </a:spcAft>
              <a:defRPr sz="1800" b="0">
                <a:solidFill>
                  <a:srgbClr val="EAE4D7"/>
                </a:solidFill>
                <a:latin typeface="Arial"/>
              </a:defRPr>
            </a:pPr>
            <a:r>
              <a:t>75 seconds / two participants + phones + public display</a:t>
            </a:r>
          </a:p>
        </p:txBody>
      </p:sp>
      <p:sp>
        <p:nvSpPr>
          <p:cNvPr id="9" name="TextBox 8"/>
          <p:cNvSpPr txBox="1"/>
          <p:nvPr/>
        </p:nvSpPr>
        <p:spPr>
          <a:xfrm>
            <a:off x="1104900" y="3467100"/>
            <a:ext cx="8991600" cy="470611"/>
          </a:xfrm>
          <a:prstGeom prst="rect">
            <a:avLst/>
          </a:prstGeom>
          <a:noFill/>
        </p:spPr>
        <p:txBody>
          <a:bodyPr wrap="none" lIns="0" rIns="0" tIns="0" bIns="0">
            <a:spAutoFit/>
          </a:bodyPr>
          <a:lstStyle/>
          <a:p>
            <a:pPr>
              <a:lnSpc>
                <a:spcPct val="105000"/>
              </a:lnSpc>
              <a:spcAft>
                <a:spcPts val="0"/>
              </a:spcAft>
              <a:defRPr sz="2520" b="1">
                <a:solidFill>
                  <a:srgbClr val="FFFFFF"/>
                </a:solidFill>
                <a:latin typeface="Arial"/>
              </a:defRPr>
            </a:pPr>
            <a:r>
              <a:t>Join → meet → collaborate → reflect → listen</a:t>
            </a:r>
          </a:p>
        </p:txBody>
      </p:sp>
      <p:sp>
        <p:nvSpPr>
          <p:cNvPr id="10" name="TextBox 9"/>
          <p:cNvSpPr txBox="1"/>
          <p:nvPr/>
        </p:nvSpPr>
        <p:spPr>
          <a:xfrm>
            <a:off x="1104900" y="4457700"/>
            <a:ext cx="9144000" cy="314553"/>
          </a:xfrm>
          <a:prstGeom prst="rect">
            <a:avLst/>
          </a:prstGeom>
          <a:noFill/>
        </p:spPr>
        <p:txBody>
          <a:bodyPr wrap="none" lIns="0" rIns="0" tIns="0" bIns="0">
            <a:spAutoFit/>
          </a:bodyPr>
          <a:lstStyle/>
          <a:p>
            <a:pPr>
              <a:lnSpc>
                <a:spcPct val="105000"/>
              </a:lnSpc>
              <a:spcAft>
                <a:spcPts val="0"/>
              </a:spcAft>
              <a:defRPr sz="1560" b="0">
                <a:solidFill>
                  <a:srgbClr val="EFDAD3"/>
                </a:solidFill>
                <a:latin typeface="Arial"/>
              </a:defRPr>
            </a:pPr>
            <a:r>
              <a:t>Replace this page with real recorded footage before presenting.</a:t>
            </a:r>
          </a:p>
        </p:txBody>
      </p:sp>
      <p:sp>
        <p:nvSpPr>
          <p:cNvPr id="11" name="TextBox 10"/>
          <p:cNvSpPr txBox="1"/>
          <p:nvPr/>
        </p:nvSpPr>
        <p:spPr>
          <a:xfrm>
            <a:off x="609600" y="6019800"/>
            <a:ext cx="10668000" cy="304800"/>
          </a:xfrm>
          <a:prstGeom prst="rect">
            <a:avLst/>
          </a:prstGeom>
          <a:noFill/>
        </p:spPr>
        <p:txBody>
          <a:bodyPr wrap="none" lIns="0" rIns="0" tIns="0" bIns="0">
            <a:spAutoFit/>
          </a:bodyPr>
          <a:lstStyle/>
          <a:p>
            <a:pPr>
              <a:lnSpc>
                <a:spcPct val="105000"/>
              </a:lnSpc>
              <a:spcAft>
                <a:spcPts val="0"/>
              </a:spcAft>
              <a:defRPr sz="1500" b="0">
                <a:solidFill>
                  <a:srgbClr val="76746E"/>
                </a:solidFill>
                <a:latin typeface="Arial"/>
              </a:defRPr>
            </a:pPr>
            <a:r>
              <a:t>Brief requirement: a 1–2 minute showcase video of the experience in use.</a:t>
            </a:r>
          </a:p>
        </p:txBody>
      </p:sp>
      <p:sp>
        <p:nvSpPr>
          <p:cNvPr id="12" name="TextBox 11"/>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08</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04 / LIVE DEMONSTRATION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Two people. Four choices. One shared drink.</a:t>
            </a:r>
          </a:p>
        </p:txBody>
      </p:sp>
      <p:pic>
        <p:nvPicPr>
          <p:cNvPr id="6" name="Picture 5" descr="drink-maker-matching.png"/>
          <p:cNvPicPr>
            <a:picLocks noChangeAspect="1"/>
          </p:cNvPicPr>
          <p:nvPr/>
        </p:nvPicPr>
        <p:blipFill>
          <a:blip r:embed="rId2"/>
          <a:stretch>
            <a:fillRect/>
          </a:stretch>
        </p:blipFill>
        <p:spPr>
          <a:xfrm>
            <a:off x="784300" y="1752600"/>
            <a:ext cx="1936599" cy="4190999"/>
          </a:xfrm>
          <a:prstGeom prst="rect">
            <a:avLst/>
          </a:prstGeom>
        </p:spPr>
      </p:pic>
      <p:pic>
        <p:nvPicPr>
          <p:cNvPr id="7" name="Picture 6" descr="drink-maker-your-turn.png"/>
          <p:cNvPicPr>
            <a:picLocks noChangeAspect="1"/>
          </p:cNvPicPr>
          <p:nvPr/>
        </p:nvPicPr>
        <p:blipFill>
          <a:blip r:embed="rId3"/>
          <a:stretch>
            <a:fillRect/>
          </a:stretch>
        </p:blipFill>
        <p:spPr>
          <a:xfrm>
            <a:off x="3489400" y="1752600"/>
            <a:ext cx="1936599" cy="4190999"/>
          </a:xfrm>
          <a:prstGeom prst="rect">
            <a:avLst/>
          </a:prstGeom>
        </p:spPr>
      </p:pic>
      <p:pic>
        <p:nvPicPr>
          <p:cNvPr id="8" name="Picture 7" descr="drink-maker-online-finished.png"/>
          <p:cNvPicPr>
            <a:picLocks noChangeAspect="1"/>
          </p:cNvPicPr>
          <p:nvPr/>
        </p:nvPicPr>
        <p:blipFill>
          <a:blip r:embed="rId4"/>
          <a:stretch>
            <a:fillRect/>
          </a:stretch>
        </p:blipFill>
        <p:spPr>
          <a:xfrm>
            <a:off x="6194500" y="1752600"/>
            <a:ext cx="1936599" cy="4190999"/>
          </a:xfrm>
          <a:prstGeom prst="rect">
            <a:avLst/>
          </a:prstGeom>
        </p:spPr>
      </p:pic>
      <p:pic>
        <p:nvPicPr>
          <p:cNvPr id="9" name="Picture 8" descr="join-qr.png"/>
          <p:cNvPicPr>
            <a:picLocks noChangeAspect="1"/>
          </p:cNvPicPr>
          <p:nvPr/>
        </p:nvPicPr>
        <p:blipFill>
          <a:blip r:embed="rId5"/>
          <a:stretch>
            <a:fillRect/>
          </a:stretch>
        </p:blipFill>
        <p:spPr>
          <a:xfrm>
            <a:off x="9067800" y="2057400"/>
            <a:ext cx="2209800" cy="2209800"/>
          </a:xfrm>
          <a:prstGeom prst="rect">
            <a:avLst/>
          </a:prstGeom>
        </p:spPr>
      </p:pic>
      <p:sp>
        <p:nvSpPr>
          <p:cNvPr id="10" name="TextBox 9"/>
          <p:cNvSpPr txBox="1"/>
          <p:nvPr/>
        </p:nvSpPr>
        <p:spPr>
          <a:xfrm>
            <a:off x="8915400" y="4572000"/>
            <a:ext cx="2514600" cy="285292"/>
          </a:xfrm>
          <a:prstGeom prst="rect">
            <a:avLst/>
          </a:prstGeom>
          <a:noFill/>
        </p:spPr>
        <p:txBody>
          <a:bodyPr wrap="none" lIns="0" rIns="0" tIns="0" bIns="0">
            <a:spAutoFit/>
          </a:bodyPr>
          <a:lstStyle/>
          <a:p>
            <a:pPr>
              <a:lnSpc>
                <a:spcPct val="105000"/>
              </a:lnSpc>
              <a:spcAft>
                <a:spcPts val="0"/>
              </a:spcAft>
              <a:defRPr sz="1380" b="1">
                <a:solidFill>
                  <a:srgbClr val="303A68"/>
                </a:solidFill>
                <a:latin typeface="Arial"/>
              </a:defRPr>
            </a:pPr>
            <a:r>
              <a:t>LIVE DEMO</a:t>
            </a:r>
          </a:p>
        </p:txBody>
      </p:sp>
      <p:sp>
        <p:nvSpPr>
          <p:cNvPr id="11" name="TextBox 10"/>
          <p:cNvSpPr txBox="1"/>
          <p:nvPr/>
        </p:nvSpPr>
        <p:spPr>
          <a:xfrm>
            <a:off x="8915400" y="4876800"/>
            <a:ext cx="2514600" cy="79248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Room: showcase</a:t>
            </a:r>
          </a:p>
          <a:p>
            <a:pPr>
              <a:lnSpc>
                <a:spcPct val="105000"/>
              </a:lnSpc>
              <a:spcAft>
                <a:spcPts val="0"/>
              </a:spcAft>
              <a:defRPr sz="1500" b="0">
                <a:solidFill>
                  <a:srgbClr val="4D4B46"/>
                </a:solidFill>
                <a:latin typeface="Arial"/>
              </a:defRPr>
            </a:pPr>
            <a:r>
              <a:t>Two phones, one display</a:t>
            </a:r>
          </a:p>
          <a:p>
            <a:pPr>
              <a:lnSpc>
                <a:spcPct val="105000"/>
              </a:lnSpc>
              <a:spcAft>
                <a:spcPts val="0"/>
              </a:spcAft>
              <a:defRPr sz="1500" b="0">
                <a:solidFill>
                  <a:srgbClr val="4D4B46"/>
                </a:solidFill>
                <a:latin typeface="Arial"/>
              </a:defRPr>
            </a:pPr>
            <a:r>
              <a:t>Target: 55 seconds</a:t>
            </a:r>
          </a:p>
        </p:txBody>
      </p:sp>
      <p:sp>
        <p:nvSpPr>
          <p:cNvPr id="12" name="TextBox 11">
            <a:hlinkClick r:id="rId6"/>
          </p:cNvPr>
          <p:cNvSpPr txBox="1"/>
          <p:nvPr/>
        </p:nvSpPr>
        <p:spPr>
          <a:xfrm>
            <a:off x="8915400" y="5791200"/>
            <a:ext cx="2514600" cy="285292"/>
          </a:xfrm>
          <a:prstGeom prst="rect">
            <a:avLst/>
          </a:prstGeom>
          <a:noFill/>
        </p:spPr>
        <p:txBody>
          <a:bodyPr wrap="none" lIns="0" rIns="0" tIns="0" bIns="0">
            <a:spAutoFit/>
          </a:bodyPr>
          <a:lstStyle/>
          <a:p>
            <a:pPr>
              <a:lnSpc>
                <a:spcPct val="105000"/>
              </a:lnSpc>
              <a:spcAft>
                <a:spcPts val="0"/>
              </a:spcAft>
              <a:defRPr sz="1380" b="1">
                <a:solidFill>
                  <a:srgbClr val="303A68"/>
                </a:solidFill>
                <a:latin typeface="Arial"/>
              </a:defRPr>
            </a:pPr>
            <a:r>
              <a:t>Open public display ↗</a:t>
            </a:r>
          </a:p>
        </p:txBody>
      </p:sp>
      <p:sp>
        <p:nvSpPr>
          <p:cNvPr id="13" name="TextBox 12"/>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09</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05 / SOCIAL UX REFLECTION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The six course principles, applied</a:t>
            </a:r>
          </a:p>
        </p:txBody>
      </p:sp>
      <p:sp>
        <p:nvSpPr>
          <p:cNvPr id="6" name="TextBox 5"/>
          <p:cNvSpPr txBox="1"/>
          <p:nvPr/>
        </p:nvSpPr>
        <p:spPr>
          <a:xfrm>
            <a:off x="609600" y="1409700"/>
            <a:ext cx="10668000" cy="295046"/>
          </a:xfrm>
          <a:prstGeom prst="rect">
            <a:avLst/>
          </a:prstGeom>
          <a:noFill/>
        </p:spPr>
        <p:txBody>
          <a:bodyPr wrap="none" lIns="0" rIns="0" tIns="0" bIns="0">
            <a:spAutoFit/>
          </a:bodyPr>
          <a:lstStyle/>
          <a:p>
            <a:pPr>
              <a:lnSpc>
                <a:spcPct val="105000"/>
              </a:lnSpc>
              <a:spcAft>
                <a:spcPts val="0"/>
              </a:spcAft>
              <a:defRPr sz="1439" b="0">
                <a:solidFill>
                  <a:srgbClr val="76746E"/>
                </a:solidFill>
                <a:latin typeface="Arial"/>
              </a:defRPr>
            </a:pPr>
            <a:r>
              <a:t>A course framework connected to concrete design decisions.</a:t>
            </a:r>
          </a:p>
        </p:txBody>
      </p:sp>
      <p:sp>
        <p:nvSpPr>
          <p:cNvPr id="7" name="Rounded Rectangle 6"/>
          <p:cNvSpPr/>
          <p:nvPr/>
        </p:nvSpPr>
        <p:spPr>
          <a:xfrm>
            <a:off x="571500" y="1905000"/>
            <a:ext cx="3581400" cy="17145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9140" y="2034540"/>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01</a:t>
            </a:r>
          </a:p>
        </p:txBody>
      </p:sp>
      <p:sp>
        <p:nvSpPr>
          <p:cNvPr id="9" name="TextBox 8"/>
          <p:cNvSpPr txBox="1"/>
          <p:nvPr/>
        </p:nvSpPr>
        <p:spPr>
          <a:xfrm>
            <a:off x="739140" y="22860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Sensory Feedback</a:t>
            </a:r>
          </a:p>
        </p:txBody>
      </p:sp>
      <p:sp>
        <p:nvSpPr>
          <p:cNvPr id="10" name="TextBox 9"/>
          <p:cNvSpPr txBox="1"/>
          <p:nvPr/>
        </p:nvSpPr>
        <p:spPr>
          <a:xfrm>
            <a:off x="739140" y="2692908"/>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Piano sound confirms actions.</a:t>
            </a:r>
          </a:p>
        </p:txBody>
      </p:sp>
      <p:sp>
        <p:nvSpPr>
          <p:cNvPr id="11" name="Rounded Rectangle 10"/>
          <p:cNvSpPr/>
          <p:nvPr/>
        </p:nvSpPr>
        <p:spPr>
          <a:xfrm>
            <a:off x="4328160" y="1905000"/>
            <a:ext cx="3581400" cy="1714500"/>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5800" y="2034540"/>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02</a:t>
            </a:r>
          </a:p>
        </p:txBody>
      </p:sp>
      <p:sp>
        <p:nvSpPr>
          <p:cNvPr id="13" name="TextBox 12"/>
          <p:cNvSpPr txBox="1"/>
          <p:nvPr/>
        </p:nvSpPr>
        <p:spPr>
          <a:xfrm>
            <a:off x="4495800" y="22860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Embodied Interaction</a:t>
            </a:r>
          </a:p>
        </p:txBody>
      </p:sp>
      <p:sp>
        <p:nvSpPr>
          <p:cNvPr id="14" name="TextBox 13"/>
          <p:cNvSpPr txBox="1"/>
          <p:nvPr/>
        </p:nvSpPr>
        <p:spPr>
          <a:xfrm>
            <a:off x="4495800" y="2692908"/>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Dragging maps to movement.</a:t>
            </a:r>
          </a:p>
        </p:txBody>
      </p:sp>
      <p:sp>
        <p:nvSpPr>
          <p:cNvPr id="15" name="Rounded Rectangle 14"/>
          <p:cNvSpPr/>
          <p:nvPr/>
        </p:nvSpPr>
        <p:spPr>
          <a:xfrm>
            <a:off x="8084820" y="1905000"/>
            <a:ext cx="3581400" cy="17145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2460" y="2034540"/>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03</a:t>
            </a:r>
          </a:p>
        </p:txBody>
      </p:sp>
      <p:sp>
        <p:nvSpPr>
          <p:cNvPr id="17" name="TextBox 16"/>
          <p:cNvSpPr txBox="1"/>
          <p:nvPr/>
        </p:nvSpPr>
        <p:spPr>
          <a:xfrm>
            <a:off x="8252460" y="22860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Social Dynamics</a:t>
            </a:r>
          </a:p>
        </p:txBody>
      </p:sp>
      <p:sp>
        <p:nvSpPr>
          <p:cNvPr id="18" name="TextBox 17"/>
          <p:cNvSpPr txBox="1"/>
          <p:nvPr/>
        </p:nvSpPr>
        <p:spPr>
          <a:xfrm>
            <a:off x="8252460" y="2692908"/>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Co-presence and split roles.</a:t>
            </a:r>
          </a:p>
        </p:txBody>
      </p:sp>
      <p:sp>
        <p:nvSpPr>
          <p:cNvPr id="19" name="Rounded Rectangle 18"/>
          <p:cNvSpPr/>
          <p:nvPr/>
        </p:nvSpPr>
        <p:spPr>
          <a:xfrm>
            <a:off x="571500" y="3848099"/>
            <a:ext cx="3581400" cy="1714500"/>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9140" y="3977639"/>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04</a:t>
            </a:r>
          </a:p>
        </p:txBody>
      </p:sp>
      <p:sp>
        <p:nvSpPr>
          <p:cNvPr id="21" name="TextBox 20"/>
          <p:cNvSpPr txBox="1"/>
          <p:nvPr/>
        </p:nvSpPr>
        <p:spPr>
          <a:xfrm>
            <a:off x="739140" y="42291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Resilience &amp; Motivation</a:t>
            </a:r>
          </a:p>
        </p:txBody>
      </p:sp>
      <p:sp>
        <p:nvSpPr>
          <p:cNvPr id="22" name="TextBox 21"/>
          <p:cNvSpPr txBox="1"/>
          <p:nvPr/>
        </p:nvSpPr>
        <p:spPr>
          <a:xfrm>
            <a:off x="739140" y="4636007"/>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Gentler fishing and retry.</a:t>
            </a:r>
          </a:p>
        </p:txBody>
      </p:sp>
      <p:sp>
        <p:nvSpPr>
          <p:cNvPr id="23" name="Rounded Rectangle 22"/>
          <p:cNvSpPr/>
          <p:nvPr/>
        </p:nvSpPr>
        <p:spPr>
          <a:xfrm>
            <a:off x="4328160" y="3848099"/>
            <a:ext cx="3581400" cy="17145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5800" y="3977639"/>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05</a:t>
            </a:r>
          </a:p>
        </p:txBody>
      </p:sp>
      <p:sp>
        <p:nvSpPr>
          <p:cNvPr id="25" name="TextBox 24"/>
          <p:cNvSpPr txBox="1"/>
          <p:nvPr/>
        </p:nvSpPr>
        <p:spPr>
          <a:xfrm>
            <a:off x="4495800" y="42291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Proactivity &amp; Clarity</a:t>
            </a:r>
          </a:p>
        </p:txBody>
      </p:sp>
      <p:sp>
        <p:nvSpPr>
          <p:cNvPr id="26" name="TextBox 25"/>
          <p:cNvSpPr txBox="1"/>
          <p:nvPr/>
        </p:nvSpPr>
        <p:spPr>
          <a:xfrm>
            <a:off x="4495800" y="4636007"/>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Proximity glow and turn cues.</a:t>
            </a:r>
          </a:p>
        </p:txBody>
      </p:sp>
      <p:sp>
        <p:nvSpPr>
          <p:cNvPr id="27" name="Rounded Rectangle 26"/>
          <p:cNvSpPr/>
          <p:nvPr/>
        </p:nvSpPr>
        <p:spPr>
          <a:xfrm>
            <a:off x="8084820" y="3848099"/>
            <a:ext cx="3581400" cy="1714500"/>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52460" y="3977639"/>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06</a:t>
            </a:r>
          </a:p>
        </p:txBody>
      </p:sp>
      <p:sp>
        <p:nvSpPr>
          <p:cNvPr id="29" name="TextBox 28"/>
          <p:cNvSpPr txBox="1"/>
          <p:nvPr/>
        </p:nvSpPr>
        <p:spPr>
          <a:xfrm>
            <a:off x="8252460" y="42291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Ethics &amp; Inclusion</a:t>
            </a:r>
          </a:p>
        </p:txBody>
      </p:sp>
      <p:sp>
        <p:nvSpPr>
          <p:cNvPr id="30" name="TextBox 29"/>
          <p:cNvSpPr txBox="1"/>
          <p:nvPr/>
        </p:nvSpPr>
        <p:spPr>
          <a:xfrm>
            <a:off x="8252460" y="4636007"/>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Temporary IDs, mute and exits.</a:t>
            </a:r>
          </a:p>
        </p:txBody>
      </p:sp>
      <p:sp>
        <p:nvSpPr>
          <p:cNvPr id="31" name="TextBox 30"/>
          <p:cNvSpPr txBox="1"/>
          <p:nvPr/>
        </p:nvSpPr>
        <p:spPr>
          <a:xfrm>
            <a:off x="609600" y="5928360"/>
            <a:ext cx="10668000" cy="246278"/>
          </a:xfrm>
          <a:prstGeom prst="rect">
            <a:avLst/>
          </a:prstGeom>
          <a:noFill/>
        </p:spPr>
        <p:txBody>
          <a:bodyPr wrap="none" lIns="0" rIns="0" tIns="0" bIns="0">
            <a:spAutoFit/>
          </a:bodyPr>
          <a:lstStyle/>
          <a:p>
            <a:pPr>
              <a:lnSpc>
                <a:spcPct val="105000"/>
              </a:lnSpc>
              <a:spcAft>
                <a:spcPts val="0"/>
              </a:spcAft>
              <a:defRPr sz="1140" b="0">
                <a:solidFill>
                  <a:srgbClr val="76746E"/>
                </a:solidFill>
                <a:latin typeface="Arial"/>
              </a:defRPr>
            </a:pPr>
            <a:r>
              <a:t>Framework: Session 2, p. 6; Session 3, p. 8. Grounding: CSCW / affordances / signifiers (Sessions 2 &amp; 5).</a:t>
            </a:r>
          </a:p>
        </p:txBody>
      </p:sp>
      <p:sp>
        <p:nvSpPr>
          <p:cNvPr id="32" name="TextBox 31"/>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10</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06 / ATMOSPHERE + SENSORY EXPERIENCE</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A familiar campus, with small invitations</a:t>
            </a:r>
          </a:p>
        </p:txBody>
      </p:sp>
      <p:pic>
        <p:nvPicPr>
          <p:cNvPr id="6" name="Picture 5" descr="piano-playing.png"/>
          <p:cNvPicPr>
            <a:picLocks noChangeAspect="1"/>
          </p:cNvPicPr>
          <p:nvPr/>
        </p:nvPicPr>
        <p:blipFill>
          <a:blip r:embed="rId2"/>
          <a:stretch>
            <a:fillRect/>
          </a:stretch>
        </p:blipFill>
        <p:spPr>
          <a:xfrm>
            <a:off x="7841467" y="1562100"/>
            <a:ext cx="2147864" cy="4648200"/>
          </a:xfrm>
          <a:prstGeom prst="rect">
            <a:avLst/>
          </a:prstGeom>
        </p:spPr>
      </p:pic>
      <p:sp>
        <p:nvSpPr>
          <p:cNvPr id="7" name="TextBox 6"/>
          <p:cNvSpPr txBox="1"/>
          <p:nvPr/>
        </p:nvSpPr>
        <p:spPr>
          <a:xfrm>
            <a:off x="609600" y="1866899"/>
            <a:ext cx="64770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A narrative setting</a:t>
            </a:r>
          </a:p>
        </p:txBody>
      </p:sp>
      <p:sp>
        <p:nvSpPr>
          <p:cNvPr id="8" name="TextBox 7"/>
          <p:cNvSpPr txBox="1"/>
          <p:nvPr/>
        </p:nvSpPr>
        <p:spPr>
          <a:xfrm>
            <a:off x="609600" y="2301240"/>
            <a:ext cx="6286500" cy="353568"/>
          </a:xfrm>
          <a:prstGeom prst="rect">
            <a:avLst/>
          </a:prstGeom>
          <a:noFill/>
        </p:spPr>
        <p:txBody>
          <a:bodyPr wrap="none" lIns="0" rIns="0" tIns="0" bIns="0">
            <a:spAutoFit/>
          </a:bodyPr>
          <a:lstStyle/>
          <a:p>
            <a:pPr>
              <a:lnSpc>
                <a:spcPct val="105000"/>
              </a:lnSpc>
              <a:spcAft>
                <a:spcPts val="0"/>
              </a:spcAft>
              <a:defRPr sz="1800" b="0">
                <a:solidFill>
                  <a:srgbClr val="4D4B46"/>
                </a:solidFill>
                <a:latin typeface="Arial"/>
              </a:defRPr>
            </a:pPr>
            <a:r>
              <a:t>A shared campus rather than a linear quest.</a:t>
            </a:r>
          </a:p>
        </p:txBody>
      </p:sp>
      <p:sp>
        <p:nvSpPr>
          <p:cNvPr id="9" name="TextBox 8"/>
          <p:cNvSpPr txBox="1"/>
          <p:nvPr/>
        </p:nvSpPr>
        <p:spPr>
          <a:xfrm>
            <a:off x="609600" y="3200400"/>
            <a:ext cx="64770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Visual invitation</a:t>
            </a:r>
          </a:p>
        </p:txBody>
      </p:sp>
      <p:sp>
        <p:nvSpPr>
          <p:cNvPr id="10" name="TextBox 9"/>
          <p:cNvSpPr txBox="1"/>
          <p:nvPr/>
        </p:nvSpPr>
        <p:spPr>
          <a:xfrm>
            <a:off x="609600" y="3634740"/>
            <a:ext cx="6286500" cy="353568"/>
          </a:xfrm>
          <a:prstGeom prst="rect">
            <a:avLst/>
          </a:prstGeom>
          <a:noFill/>
        </p:spPr>
        <p:txBody>
          <a:bodyPr wrap="none" lIns="0" rIns="0" tIns="0" bIns="0">
            <a:spAutoFit/>
          </a:bodyPr>
          <a:lstStyle/>
          <a:p>
            <a:pPr>
              <a:lnSpc>
                <a:spcPct val="105000"/>
              </a:lnSpc>
              <a:spcAft>
                <a:spcPts val="0"/>
              </a:spcAft>
              <a:defRPr sz="1800" b="0">
                <a:solidFill>
                  <a:srgbClr val="4D4B46"/>
                </a:solidFill>
                <a:latin typeface="Arial"/>
              </a:defRPr>
            </a:pPr>
            <a:r>
              <a:t>Consistent icons, soft colours and proximity glow.</a:t>
            </a:r>
          </a:p>
        </p:txBody>
      </p:sp>
      <p:sp>
        <p:nvSpPr>
          <p:cNvPr id="11" name="TextBox 10"/>
          <p:cNvSpPr txBox="1"/>
          <p:nvPr/>
        </p:nvSpPr>
        <p:spPr>
          <a:xfrm>
            <a:off x="609600" y="4533900"/>
            <a:ext cx="64770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Sensory reward</a:t>
            </a:r>
          </a:p>
        </p:txBody>
      </p:sp>
      <p:sp>
        <p:nvSpPr>
          <p:cNvPr id="12" name="TextBox 11"/>
          <p:cNvSpPr txBox="1"/>
          <p:nvPr/>
        </p:nvSpPr>
        <p:spPr>
          <a:xfrm>
            <a:off x="609600" y="4968240"/>
            <a:ext cx="6286500" cy="353568"/>
          </a:xfrm>
          <a:prstGeom prst="rect">
            <a:avLst/>
          </a:prstGeom>
          <a:noFill/>
        </p:spPr>
        <p:txBody>
          <a:bodyPr wrap="none" lIns="0" rIns="0" tIns="0" bIns="0">
            <a:spAutoFit/>
          </a:bodyPr>
          <a:lstStyle/>
          <a:p>
            <a:pPr>
              <a:lnSpc>
                <a:spcPct val="105000"/>
              </a:lnSpc>
              <a:spcAft>
                <a:spcPts val="0"/>
              </a:spcAft>
              <a:defRPr sz="1800" b="0">
                <a:solidFill>
                  <a:srgbClr val="4D4B46"/>
                </a:solidFill>
                <a:latin typeface="Arial"/>
              </a:defRPr>
            </a:pPr>
            <a:r>
              <a:t>A shared result, a surprising fish, a live melody.</a:t>
            </a:r>
          </a:p>
        </p:txBody>
      </p:sp>
      <p:sp>
        <p:nvSpPr>
          <p:cNvPr id="13" name="TextBox 12"/>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11</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07 / DEVELOPMENT + REFINEMENT</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From initial concept to refined interactions</a:t>
            </a:r>
          </a:p>
        </p:txBody>
      </p:sp>
      <p:sp>
        <p:nvSpPr>
          <p:cNvPr id="6" name="Rounded Rectangle 5"/>
          <p:cNvSpPr/>
          <p:nvPr/>
        </p:nvSpPr>
        <p:spPr>
          <a:xfrm>
            <a:off x="571500" y="1752600"/>
            <a:ext cx="11049000" cy="67056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6760" y="19202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Concept shift</a:t>
            </a:r>
          </a:p>
        </p:txBody>
      </p:sp>
      <p:sp>
        <p:nvSpPr>
          <p:cNvPr id="8" name="TextBox 7"/>
          <p:cNvSpPr txBox="1"/>
          <p:nvPr/>
        </p:nvSpPr>
        <p:spPr>
          <a:xfrm>
            <a:off x="2667000" y="19202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Cultural prompts / shared visuals</a:t>
            </a:r>
          </a:p>
        </p:txBody>
      </p:sp>
      <p:sp>
        <p:nvSpPr>
          <p:cNvPr id="9" name="TextBox 8"/>
          <p:cNvSpPr txBox="1"/>
          <p:nvPr/>
        </p:nvSpPr>
        <p:spPr>
          <a:xfrm>
            <a:off x="6858000" y="19202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Free exploration + shared activities</a:t>
            </a:r>
          </a:p>
        </p:txBody>
      </p:sp>
      <p:sp>
        <p:nvSpPr>
          <p:cNvPr id="10" name="Rounded Rectangle 9"/>
          <p:cNvSpPr/>
          <p:nvPr/>
        </p:nvSpPr>
        <p:spPr>
          <a:xfrm>
            <a:off x="571500" y="2552700"/>
            <a:ext cx="11049000" cy="670560"/>
          </a:xfrm>
          <a:prstGeom prst="roundRect">
            <a:avLst>
              <a:gd name="adj" fmla="val 14000"/>
            </a:avLst>
          </a:prstGeom>
          <a:solidFill>
            <a:srgbClr val="F3E9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760" y="27203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Reliability</a:t>
            </a:r>
          </a:p>
        </p:txBody>
      </p:sp>
      <p:sp>
        <p:nvSpPr>
          <p:cNvPr id="12" name="TextBox 11"/>
          <p:cNvSpPr txBox="1"/>
          <p:nvPr/>
        </p:nvSpPr>
        <p:spPr>
          <a:xfrm>
            <a:off x="2667000" y="27203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Missing players / messages</a:t>
            </a:r>
          </a:p>
        </p:txBody>
      </p:sp>
      <p:sp>
        <p:nvSpPr>
          <p:cNvPr id="13" name="TextBox 12"/>
          <p:cNvSpPr txBox="1"/>
          <p:nvPr/>
        </p:nvSpPr>
        <p:spPr>
          <a:xfrm>
            <a:off x="6858000" y="27203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Refined presence + shared state</a:t>
            </a:r>
          </a:p>
        </p:txBody>
      </p:sp>
      <p:sp>
        <p:nvSpPr>
          <p:cNvPr id="14" name="Rounded Rectangle 13"/>
          <p:cNvSpPr/>
          <p:nvPr/>
        </p:nvSpPr>
        <p:spPr>
          <a:xfrm>
            <a:off x="571500" y="3352800"/>
            <a:ext cx="11049000" cy="67056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6760" y="35204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Mobile view</a:t>
            </a:r>
          </a:p>
        </p:txBody>
      </p:sp>
      <p:sp>
        <p:nvSpPr>
          <p:cNvPr id="16" name="TextBox 15"/>
          <p:cNvSpPr txBox="1"/>
          <p:nvPr/>
        </p:nvSpPr>
        <p:spPr>
          <a:xfrm>
            <a:off x="2667000" y="35204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Small avatar / unused space</a:t>
            </a:r>
          </a:p>
        </p:txBody>
      </p:sp>
      <p:sp>
        <p:nvSpPr>
          <p:cNvPr id="17" name="TextBox 16"/>
          <p:cNvSpPr txBox="1"/>
          <p:nvPr/>
        </p:nvSpPr>
        <p:spPr>
          <a:xfrm>
            <a:off x="6858000" y="35204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35% zoom + full viewport</a:t>
            </a:r>
          </a:p>
        </p:txBody>
      </p:sp>
      <p:sp>
        <p:nvSpPr>
          <p:cNvPr id="18" name="Rounded Rectangle 17"/>
          <p:cNvSpPr/>
          <p:nvPr/>
        </p:nvSpPr>
        <p:spPr>
          <a:xfrm>
            <a:off x="571500" y="4152900"/>
            <a:ext cx="11049000" cy="670560"/>
          </a:xfrm>
          <a:prstGeom prst="roundRect">
            <a:avLst>
              <a:gd name="adj" fmla="val 14000"/>
            </a:avLst>
          </a:prstGeom>
          <a:solidFill>
            <a:srgbClr val="F3E9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760" y="43205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Cooperation</a:t>
            </a:r>
          </a:p>
        </p:txBody>
      </p:sp>
      <p:sp>
        <p:nvSpPr>
          <p:cNvPr id="20" name="TextBox 19"/>
          <p:cNvSpPr txBox="1"/>
          <p:nvPr/>
        </p:nvSpPr>
        <p:spPr>
          <a:xfrm>
            <a:off x="2667000" y="43205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Jerky / difficult fishing</a:t>
            </a:r>
          </a:p>
        </p:txBody>
      </p:sp>
      <p:sp>
        <p:nvSpPr>
          <p:cNvPr id="21" name="TextBox 20"/>
          <p:cNvSpPr txBox="1"/>
          <p:nvPr/>
        </p:nvSpPr>
        <p:spPr>
          <a:xfrm>
            <a:off x="6858000" y="43205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Smoothing + gentler timing</a:t>
            </a:r>
          </a:p>
        </p:txBody>
      </p:sp>
      <p:sp>
        <p:nvSpPr>
          <p:cNvPr id="22" name="Rounded Rectangle 21"/>
          <p:cNvSpPr/>
          <p:nvPr/>
        </p:nvSpPr>
        <p:spPr>
          <a:xfrm>
            <a:off x="571500" y="4953000"/>
            <a:ext cx="11049000" cy="67056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760" y="51206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Shared access</a:t>
            </a:r>
          </a:p>
        </p:txBody>
      </p:sp>
      <p:sp>
        <p:nvSpPr>
          <p:cNvPr id="24" name="TextBox 23"/>
          <p:cNvSpPr txBox="1"/>
          <p:nvPr/>
        </p:nvSpPr>
        <p:spPr>
          <a:xfrm>
            <a:off x="2667000" y="51206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Separate piano page / idle use</a:t>
            </a:r>
          </a:p>
        </p:txBody>
      </p:sp>
      <p:sp>
        <p:nvSpPr>
          <p:cNvPr id="25" name="TextBox 24"/>
          <p:cNvSpPr txBox="1"/>
          <p:nvPr/>
        </p:nvSpPr>
        <p:spPr>
          <a:xfrm>
            <a:off x="6858000" y="51206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Map controls + 8-second release</a:t>
            </a:r>
          </a:p>
        </p:txBody>
      </p:sp>
      <p:sp>
        <p:nvSpPr>
          <p:cNvPr id="26" name="TextBox 25"/>
          <p:cNvSpPr txBox="1"/>
          <p:nvPr/>
        </p:nvSpPr>
        <p:spPr>
          <a:xfrm>
            <a:off x="609600" y="5981700"/>
            <a:ext cx="10668000" cy="265785"/>
          </a:xfrm>
          <a:prstGeom prst="rect">
            <a:avLst/>
          </a:prstGeom>
          <a:noFill/>
        </p:spPr>
        <p:txBody>
          <a:bodyPr wrap="none" lIns="0" rIns="0" tIns="0" bIns="0">
            <a:spAutoFit/>
          </a:bodyPr>
          <a:lstStyle/>
          <a:p>
            <a:pPr>
              <a:lnSpc>
                <a:spcPct val="105000"/>
              </a:lnSpc>
              <a:spcAft>
                <a:spcPts val="0"/>
              </a:spcAft>
              <a:defRPr sz="1260" b="0">
                <a:solidFill>
                  <a:srgbClr val="76746E"/>
                </a:solidFill>
                <a:latin typeface="Arial"/>
              </a:defRPr>
            </a:pPr>
            <a:r>
              <a:t>Initial concept: Social Interactive, slides 5, 7–8. Tokens not carried forward; unused streetlight placeholder removed.</a:t>
            </a:r>
          </a:p>
        </p:txBody>
      </p:sp>
      <p:sp>
        <p:nvSpPr>
          <p:cNvPr id="27" name="TextBox 26"/>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12</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08 / TECHNICAL IMPLEMENTATION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A small architecture for shared participation</a:t>
            </a:r>
          </a:p>
        </p:txBody>
      </p:sp>
      <p:sp>
        <p:nvSpPr>
          <p:cNvPr id="6" name="Rounded Rectangle 5"/>
          <p:cNvSpPr/>
          <p:nvPr/>
        </p:nvSpPr>
        <p:spPr>
          <a:xfrm>
            <a:off x="571500" y="1866899"/>
            <a:ext cx="3276600" cy="18668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9140" y="1996439"/>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PERSONAL INPUT</a:t>
            </a:r>
          </a:p>
        </p:txBody>
      </p:sp>
      <p:sp>
        <p:nvSpPr>
          <p:cNvPr id="8" name="TextBox 7"/>
          <p:cNvSpPr txBox="1"/>
          <p:nvPr/>
        </p:nvSpPr>
        <p:spPr>
          <a:xfrm>
            <a:off x="739140" y="22479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Phones</a:t>
            </a:r>
          </a:p>
        </p:txBody>
      </p:sp>
      <p:sp>
        <p:nvSpPr>
          <p:cNvPr id="9" name="TextBox 8"/>
          <p:cNvSpPr txBox="1"/>
          <p:nvPr/>
        </p:nvSpPr>
        <p:spPr>
          <a:xfrm>
            <a:off x="739140" y="2654808"/>
            <a:ext cx="29413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Choose, move and interact.</a:t>
            </a:r>
          </a:p>
        </p:txBody>
      </p:sp>
      <p:sp>
        <p:nvSpPr>
          <p:cNvPr id="10" name="Rounded Rectangle 9"/>
          <p:cNvSpPr/>
          <p:nvPr/>
        </p:nvSpPr>
        <p:spPr>
          <a:xfrm>
            <a:off x="4457700" y="1866899"/>
            <a:ext cx="3276600" cy="18668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5340" y="1996439"/>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SHARED STATE</a:t>
            </a:r>
          </a:p>
        </p:txBody>
      </p:sp>
      <p:sp>
        <p:nvSpPr>
          <p:cNvPr id="12" name="TextBox 11"/>
          <p:cNvSpPr txBox="1"/>
          <p:nvPr/>
        </p:nvSpPr>
        <p:spPr>
          <a:xfrm>
            <a:off x="4625340" y="22479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Firebase</a:t>
            </a:r>
          </a:p>
        </p:txBody>
      </p:sp>
      <p:sp>
        <p:nvSpPr>
          <p:cNvPr id="13" name="TextBox 12"/>
          <p:cNvSpPr txBox="1"/>
          <p:nvPr/>
        </p:nvSpPr>
        <p:spPr>
          <a:xfrm>
            <a:off x="4625340" y="2654808"/>
            <a:ext cx="29413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Positions, turns, notes and</a:t>
            </a:r>
          </a:p>
          <a:p>
            <a:pPr>
              <a:lnSpc>
                <a:spcPct val="105000"/>
              </a:lnSpc>
              <a:spcAft>
                <a:spcPts val="0"/>
              </a:spcAft>
              <a:defRPr sz="1500" b="0">
                <a:solidFill>
                  <a:srgbClr val="4D4B46"/>
                </a:solidFill>
                <a:latin typeface="Arial"/>
              </a:defRPr>
            </a:pPr>
            <a:r>
              <a:t>wishes.</a:t>
            </a:r>
          </a:p>
        </p:txBody>
      </p:sp>
      <p:sp>
        <p:nvSpPr>
          <p:cNvPr id="14" name="Rounded Rectangle 13"/>
          <p:cNvSpPr/>
          <p:nvPr/>
        </p:nvSpPr>
        <p:spPr>
          <a:xfrm>
            <a:off x="8343900" y="1866899"/>
            <a:ext cx="3276600" cy="1866899"/>
          </a:xfrm>
          <a:prstGeom prst="roundRect">
            <a:avLst>
              <a:gd name="adj" fmla="val 14000"/>
            </a:avLst>
          </a:prstGeom>
          <a:solidFill>
            <a:srgbClr val="DAB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11540" y="1996439"/>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COMMON VIEW</a:t>
            </a:r>
          </a:p>
        </p:txBody>
      </p:sp>
      <p:sp>
        <p:nvSpPr>
          <p:cNvPr id="16" name="TextBox 15"/>
          <p:cNvSpPr txBox="1"/>
          <p:nvPr/>
        </p:nvSpPr>
        <p:spPr>
          <a:xfrm>
            <a:off x="8511540" y="22479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Public display</a:t>
            </a:r>
          </a:p>
        </p:txBody>
      </p:sp>
      <p:sp>
        <p:nvSpPr>
          <p:cNvPr id="17" name="TextBox 16"/>
          <p:cNvSpPr txBox="1"/>
          <p:nvPr/>
        </p:nvSpPr>
        <p:spPr>
          <a:xfrm>
            <a:off x="8511540" y="2654808"/>
            <a:ext cx="29413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See co-presence and shared</a:t>
            </a:r>
          </a:p>
          <a:p>
            <a:pPr>
              <a:lnSpc>
                <a:spcPct val="105000"/>
              </a:lnSpc>
              <a:spcAft>
                <a:spcPts val="0"/>
              </a:spcAft>
              <a:defRPr sz="1500" b="0">
                <a:solidFill>
                  <a:srgbClr val="4D4B46"/>
                </a:solidFill>
                <a:latin typeface="Arial"/>
              </a:defRPr>
            </a:pPr>
            <a:r>
              <a:t>outcomes.</a:t>
            </a:r>
          </a:p>
        </p:txBody>
      </p:sp>
      <p:sp>
        <p:nvSpPr>
          <p:cNvPr id="18" name="TextBox 17"/>
          <p:cNvSpPr txBox="1"/>
          <p:nvPr/>
        </p:nvSpPr>
        <p:spPr>
          <a:xfrm>
            <a:off x="3886200" y="2628900"/>
            <a:ext cx="533400" cy="470611"/>
          </a:xfrm>
          <a:prstGeom prst="rect">
            <a:avLst/>
          </a:prstGeom>
          <a:noFill/>
        </p:spPr>
        <p:txBody>
          <a:bodyPr wrap="none" lIns="0" rIns="0" tIns="0" bIns="0">
            <a:spAutoFit/>
          </a:bodyPr>
          <a:lstStyle/>
          <a:p>
            <a:pPr>
              <a:lnSpc>
                <a:spcPct val="105000"/>
              </a:lnSpc>
              <a:spcAft>
                <a:spcPts val="0"/>
              </a:spcAft>
              <a:defRPr sz="2520" b="0">
                <a:solidFill>
                  <a:srgbClr val="303A68"/>
                </a:solidFill>
                <a:latin typeface="Arial"/>
              </a:defRPr>
            </a:pPr>
            <a:r>
              <a:t>↔</a:t>
            </a:r>
          </a:p>
        </p:txBody>
      </p:sp>
      <p:sp>
        <p:nvSpPr>
          <p:cNvPr id="19" name="TextBox 18"/>
          <p:cNvSpPr txBox="1"/>
          <p:nvPr/>
        </p:nvSpPr>
        <p:spPr>
          <a:xfrm>
            <a:off x="7772400" y="2628900"/>
            <a:ext cx="533400" cy="470611"/>
          </a:xfrm>
          <a:prstGeom prst="rect">
            <a:avLst/>
          </a:prstGeom>
          <a:noFill/>
        </p:spPr>
        <p:txBody>
          <a:bodyPr wrap="none" lIns="0" rIns="0" tIns="0" bIns="0">
            <a:spAutoFit/>
          </a:bodyPr>
          <a:lstStyle/>
          <a:p>
            <a:pPr>
              <a:lnSpc>
                <a:spcPct val="105000"/>
              </a:lnSpc>
              <a:spcAft>
                <a:spcPts val="0"/>
              </a:spcAft>
              <a:defRPr sz="2520" b="0">
                <a:solidFill>
                  <a:srgbClr val="303A68"/>
                </a:solidFill>
                <a:latin typeface="Arial"/>
              </a:defRPr>
            </a:pPr>
            <a:r>
              <a:t>↔</a:t>
            </a:r>
          </a:p>
        </p:txBody>
      </p:sp>
      <p:sp>
        <p:nvSpPr>
          <p:cNvPr id="20" name="TextBox 19"/>
          <p:cNvSpPr txBox="1"/>
          <p:nvPr/>
        </p:nvSpPr>
        <p:spPr>
          <a:xfrm>
            <a:off x="609600" y="4267200"/>
            <a:ext cx="105156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p5.js renders the world. GitHub Pages hosts the site.</a:t>
            </a:r>
          </a:p>
        </p:txBody>
      </p:sp>
      <p:sp>
        <p:nvSpPr>
          <p:cNvPr id="21" name="TextBox 20"/>
          <p:cNvSpPr txBox="1"/>
          <p:nvPr/>
        </p:nvSpPr>
        <p:spPr>
          <a:xfrm>
            <a:off x="609600" y="4838700"/>
            <a:ext cx="105156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Checks: shared player visibility, messages, activity state and iPhone sound.</a:t>
            </a:r>
          </a:p>
        </p:txBody>
      </p:sp>
      <p:sp>
        <p:nvSpPr>
          <p:cNvPr id="22" name="TextBox 21"/>
          <p:cNvSpPr txBox="1"/>
          <p:nvPr/>
        </p:nvSpPr>
        <p:spPr>
          <a:xfrm>
            <a:off x="609600" y="5334000"/>
            <a:ext cx="105156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Exhibition needs: stable internet, charged phones and a recorded fallback.</a:t>
            </a:r>
          </a:p>
        </p:txBody>
      </p:sp>
      <p:sp>
        <p:nvSpPr>
          <p:cNvPr id="23" name="TextBox 22"/>
          <p:cNvSpPr txBox="1"/>
          <p:nvPr/>
        </p:nvSpPr>
        <p:spPr>
          <a:xfrm>
            <a:off x="609600" y="5829300"/>
            <a:ext cx="10515600" cy="285292"/>
          </a:xfrm>
          <a:prstGeom prst="rect">
            <a:avLst/>
          </a:prstGeom>
          <a:noFill/>
        </p:spPr>
        <p:txBody>
          <a:bodyPr wrap="none" lIns="0" rIns="0" tIns="0" bIns="0">
            <a:spAutoFit/>
          </a:bodyPr>
          <a:lstStyle/>
          <a:p>
            <a:pPr>
              <a:lnSpc>
                <a:spcPct val="105000"/>
              </a:lnSpc>
              <a:spcAft>
                <a:spcPts val="0"/>
              </a:spcAft>
              <a:defRPr sz="1380" b="0">
                <a:solidFill>
                  <a:srgbClr val="76746E"/>
                </a:solidFill>
                <a:latin typeface="Arial"/>
              </a:defRPr>
            </a:pPr>
            <a:r>
              <a:t>Automated checks are not a substitute for audience evaluation.</a:t>
            </a:r>
          </a:p>
        </p:txBody>
      </p:sp>
      <p:sp>
        <p:nvSpPr>
          <p:cNvPr id="24" name="TextBox 23"/>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13</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09 / REFLECTION + AUTHORSHIP</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Small invitations. Shared experiences.</a:t>
            </a:r>
          </a:p>
        </p:txBody>
      </p:sp>
      <p:sp>
        <p:nvSpPr>
          <p:cNvPr id="6" name="TextBox 5"/>
          <p:cNvSpPr txBox="1"/>
          <p:nvPr/>
        </p:nvSpPr>
        <p:spPr>
          <a:xfrm>
            <a:off x="609600" y="1790700"/>
            <a:ext cx="6858000" cy="977798"/>
          </a:xfrm>
          <a:prstGeom prst="rect">
            <a:avLst/>
          </a:prstGeom>
          <a:noFill/>
        </p:spPr>
        <p:txBody>
          <a:bodyPr wrap="none" lIns="0" rIns="0" tIns="0" bIns="0">
            <a:spAutoFit/>
          </a:bodyPr>
          <a:lstStyle/>
          <a:p>
            <a:pPr>
              <a:lnSpc>
                <a:spcPct val="105000"/>
              </a:lnSpc>
              <a:spcAft>
                <a:spcPts val="0"/>
              </a:spcAft>
              <a:defRPr sz="2820" b="1">
                <a:solidFill>
                  <a:srgbClr val="303A68"/>
                </a:solidFill>
                <a:latin typeface="Georgia"/>
              </a:defRPr>
            </a:pPr>
            <a:r>
              <a:t>Watch. Listen. Leave a wish.</a:t>
            </a:r>
          </a:p>
          <a:p>
            <a:pPr>
              <a:lnSpc>
                <a:spcPct val="105000"/>
              </a:lnSpc>
              <a:spcAft>
                <a:spcPts val="0"/>
              </a:spcAft>
              <a:defRPr sz="2820" b="1">
                <a:solidFill>
                  <a:srgbClr val="303A68"/>
                </a:solidFill>
                <a:latin typeface="Georgia"/>
              </a:defRPr>
            </a:pPr>
            <a:r>
              <a:t>Or do something together.</a:t>
            </a:r>
          </a:p>
        </p:txBody>
      </p:sp>
      <p:sp>
        <p:nvSpPr>
          <p:cNvPr id="7" name="TextBox 6"/>
          <p:cNvSpPr txBox="1"/>
          <p:nvPr/>
        </p:nvSpPr>
        <p:spPr>
          <a:xfrm>
            <a:off x="609600" y="3162300"/>
            <a:ext cx="6858000" cy="724204"/>
          </a:xfrm>
          <a:prstGeom prst="rect">
            <a:avLst/>
          </a:prstGeom>
          <a:noFill/>
        </p:spPr>
        <p:txBody>
          <a:bodyPr wrap="none" lIns="0" rIns="0" tIns="0" bIns="0">
            <a:spAutoFit/>
          </a:bodyPr>
          <a:lstStyle/>
          <a:p>
            <a:pPr>
              <a:lnSpc>
                <a:spcPct val="105000"/>
              </a:lnSpc>
              <a:spcAft>
                <a:spcPts val="0"/>
              </a:spcAft>
              <a:defRPr sz="2039" b="0">
                <a:solidFill>
                  <a:srgbClr val="4D4B46"/>
                </a:solidFill>
                <a:latin typeface="Arial"/>
              </a:defRPr>
            </a:pPr>
            <a:r>
              <a:t>Next evaluation:</a:t>
            </a:r>
          </a:p>
          <a:p>
            <a:pPr>
              <a:lnSpc>
                <a:spcPct val="105000"/>
              </a:lnSpc>
              <a:spcAft>
                <a:spcPts val="0"/>
              </a:spcAft>
              <a:defRPr sz="2039" b="0">
                <a:solidFill>
                  <a:srgbClr val="4D4B46"/>
                </a:solidFill>
                <a:latin typeface="Arial"/>
              </a:defRPr>
            </a:pPr>
            <a:r>
              <a:t>Can unfamiliar participants begin independently?</a:t>
            </a:r>
          </a:p>
        </p:txBody>
      </p:sp>
      <p:sp>
        <p:nvSpPr>
          <p:cNvPr id="8" name="TextBox 7"/>
          <p:cNvSpPr txBox="1"/>
          <p:nvPr/>
        </p:nvSpPr>
        <p:spPr>
          <a:xfrm>
            <a:off x="609600" y="4457700"/>
            <a:ext cx="6743700" cy="665683"/>
          </a:xfrm>
          <a:prstGeom prst="rect">
            <a:avLst/>
          </a:prstGeom>
          <a:noFill/>
        </p:spPr>
        <p:txBody>
          <a:bodyPr wrap="none" lIns="0" rIns="0" tIns="0" bIns="0">
            <a:spAutoFit/>
          </a:bodyPr>
          <a:lstStyle/>
          <a:p>
            <a:pPr>
              <a:lnSpc>
                <a:spcPct val="105000"/>
              </a:lnSpc>
              <a:spcAft>
                <a:spcPts val="0"/>
              </a:spcAft>
              <a:defRPr sz="1859" b="0">
                <a:solidFill>
                  <a:srgbClr val="4D4B46"/>
                </a:solidFill>
                <a:latin typeface="Arial"/>
              </a:defRPr>
            </a:pPr>
            <a:r>
              <a:t>AI-assisted development was selected, tested and</a:t>
            </a:r>
          </a:p>
          <a:p>
            <a:pPr>
              <a:lnSpc>
                <a:spcPct val="105000"/>
              </a:lnSpc>
              <a:spcAft>
                <a:spcPts val="0"/>
              </a:spcAft>
              <a:defRPr sz="1859" b="0">
                <a:solidFill>
                  <a:srgbClr val="4D4B46"/>
                </a:solidFill>
                <a:latin typeface="Arial"/>
              </a:defRPr>
            </a:pPr>
            <a:r>
              <a:t>refined — not treated as finished output.</a:t>
            </a:r>
          </a:p>
        </p:txBody>
      </p:sp>
      <p:sp>
        <p:nvSpPr>
          <p:cNvPr id="9" name="Rounded Rectangle 8"/>
          <p:cNvSpPr/>
          <p:nvPr/>
        </p:nvSpPr>
        <p:spPr>
          <a:xfrm>
            <a:off x="7924799" y="1752600"/>
            <a:ext cx="3619500" cy="39243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53399" y="1981199"/>
            <a:ext cx="3124200" cy="285292"/>
          </a:xfrm>
          <a:prstGeom prst="rect">
            <a:avLst/>
          </a:prstGeom>
          <a:noFill/>
        </p:spPr>
        <p:txBody>
          <a:bodyPr wrap="none" lIns="0" rIns="0" tIns="0" bIns="0">
            <a:spAutoFit/>
          </a:bodyPr>
          <a:lstStyle/>
          <a:p>
            <a:pPr>
              <a:lnSpc>
                <a:spcPct val="105000"/>
              </a:lnSpc>
              <a:spcAft>
                <a:spcPts val="0"/>
              </a:spcAft>
              <a:defRPr sz="1380" b="1">
                <a:solidFill>
                  <a:srgbClr val="303A68"/>
                </a:solidFill>
                <a:latin typeface="Arial"/>
              </a:defRPr>
            </a:pPr>
            <a:r>
              <a:t>AI USE</a:t>
            </a:r>
          </a:p>
        </p:txBody>
      </p:sp>
      <p:sp>
        <p:nvSpPr>
          <p:cNvPr id="11" name="TextBox 10"/>
          <p:cNvSpPr txBox="1"/>
          <p:nvPr/>
        </p:nvSpPr>
        <p:spPr>
          <a:xfrm>
            <a:off x="8153399" y="2438400"/>
            <a:ext cx="3048000" cy="968044"/>
          </a:xfrm>
          <a:prstGeom prst="rect">
            <a:avLst/>
          </a:prstGeom>
          <a:noFill/>
        </p:spPr>
        <p:txBody>
          <a:bodyPr wrap="none" lIns="0" rIns="0" tIns="0" bIns="0">
            <a:spAutoFit/>
          </a:bodyPr>
          <a:lstStyle/>
          <a:p>
            <a:pPr>
              <a:lnSpc>
                <a:spcPct val="105000"/>
              </a:lnSpc>
              <a:spcAft>
                <a:spcPts val="0"/>
              </a:spcAft>
              <a:defRPr sz="1859" b="0">
                <a:solidFill>
                  <a:srgbClr val="4D4B46"/>
                </a:solidFill>
                <a:latin typeface="Arial"/>
              </a:defRPr>
            </a:pPr>
            <a:r>
              <a:t>Code + debugging</a:t>
            </a:r>
          </a:p>
          <a:p>
            <a:pPr>
              <a:lnSpc>
                <a:spcPct val="105000"/>
              </a:lnSpc>
              <a:spcAft>
                <a:spcPts val="0"/>
              </a:spcAft>
              <a:defRPr sz="1859" b="0">
                <a:solidFill>
                  <a:srgbClr val="4D4B46"/>
                </a:solidFill>
                <a:latin typeface="Arial"/>
              </a:defRPr>
            </a:pPr>
            <a:r>
              <a:t>Some activity artwork</a:t>
            </a:r>
          </a:p>
          <a:p>
            <a:pPr>
              <a:lnSpc>
                <a:spcPct val="105000"/>
              </a:lnSpc>
              <a:spcAft>
                <a:spcPts val="0"/>
              </a:spcAft>
              <a:defRPr sz="1859" b="0">
                <a:solidFill>
                  <a:srgbClr val="4D4B46"/>
                </a:solidFill>
                <a:latin typeface="Arial"/>
              </a:defRPr>
            </a:pPr>
            <a:r>
              <a:t>Presentation drafting</a:t>
            </a:r>
          </a:p>
        </p:txBody>
      </p:sp>
      <p:sp>
        <p:nvSpPr>
          <p:cNvPr id="12" name="TextBox 11"/>
          <p:cNvSpPr txBox="1"/>
          <p:nvPr/>
        </p:nvSpPr>
        <p:spPr>
          <a:xfrm>
            <a:off x="8153399" y="3924300"/>
            <a:ext cx="3048000" cy="79248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Confirm tutor approval,</a:t>
            </a:r>
          </a:p>
          <a:p>
            <a:pPr>
              <a:lnSpc>
                <a:spcPct val="105000"/>
              </a:lnSpc>
              <a:spcAft>
                <a:spcPts val="0"/>
              </a:spcAft>
              <a:defRPr sz="1500" b="0">
                <a:solidFill>
                  <a:srgbClr val="4D4B46"/>
                </a:solidFill>
                <a:latin typeface="Arial"/>
              </a:defRPr>
            </a:pPr>
            <a:r>
              <a:t>permitted use and the required</a:t>
            </a:r>
          </a:p>
          <a:p>
            <a:pPr>
              <a:lnSpc>
                <a:spcPct val="105000"/>
              </a:lnSpc>
              <a:spcAft>
                <a:spcPts val="0"/>
              </a:spcAft>
              <a:defRPr sz="1500" b="0">
                <a:solidFill>
                  <a:srgbClr val="4D4B46"/>
                </a:solidFill>
                <a:latin typeface="Arial"/>
              </a:defRPr>
            </a:pPr>
            <a:r>
              <a:t>declaration before submission.</a:t>
            </a:r>
          </a:p>
        </p:txBody>
      </p:sp>
      <p:sp>
        <p:nvSpPr>
          <p:cNvPr id="13" name="TextBox 12"/>
          <p:cNvSpPr txBox="1"/>
          <p:nvPr/>
        </p:nvSpPr>
        <p:spPr>
          <a:xfrm>
            <a:off x="609600" y="5829300"/>
            <a:ext cx="10668000" cy="275539"/>
          </a:xfrm>
          <a:prstGeom prst="rect">
            <a:avLst/>
          </a:prstGeom>
          <a:noFill/>
        </p:spPr>
        <p:txBody>
          <a:bodyPr wrap="none" lIns="0" rIns="0" tIns="0" bIns="0">
            <a:spAutoFit/>
          </a:bodyPr>
          <a:lstStyle/>
          <a:p>
            <a:pPr>
              <a:lnSpc>
                <a:spcPct val="105000"/>
              </a:lnSpc>
              <a:spcAft>
                <a:spcPts val="0"/>
              </a:spcAft>
              <a:defRPr sz="1320" b="0">
                <a:solidFill>
                  <a:srgbClr val="76746E"/>
                </a:solidFill>
                <a:latin typeface="Arial"/>
              </a:defRPr>
            </a:pPr>
            <a:r>
              <a:t>Impact on belonging has not yet been established through an independent participant study.</a:t>
            </a:r>
          </a:p>
        </p:txBody>
      </p:sp>
      <p:sp>
        <p:nvSpPr>
          <p:cNvPr id="14" name="TextBox 13"/>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14</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REFERENCES + CREDITS</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Thank you. Try it together.</a:t>
            </a:r>
          </a:p>
        </p:txBody>
      </p:sp>
      <p:sp>
        <p:nvSpPr>
          <p:cNvPr id="6" name="TextBox 5"/>
          <p:cNvSpPr txBox="1"/>
          <p:nvPr/>
        </p:nvSpPr>
        <p:spPr>
          <a:xfrm>
            <a:off x="609600" y="1790700"/>
            <a:ext cx="10515600" cy="363321"/>
          </a:xfrm>
          <a:prstGeom prst="rect">
            <a:avLst/>
          </a:prstGeom>
          <a:noFill/>
        </p:spPr>
        <p:txBody>
          <a:bodyPr wrap="none" lIns="0" rIns="0" tIns="0" bIns="0">
            <a:spAutoFit/>
          </a:bodyPr>
          <a:lstStyle/>
          <a:p>
            <a:pPr>
              <a:lnSpc>
                <a:spcPct val="105000"/>
              </a:lnSpc>
              <a:spcAft>
                <a:spcPts val="0"/>
              </a:spcAft>
              <a:defRPr sz="1859" b="1">
                <a:solidFill>
                  <a:srgbClr val="303A68"/>
                </a:solidFill>
                <a:latin typeface="Arial"/>
              </a:defRPr>
            </a:pPr>
            <a:r>
              <a:t>Course sources</a:t>
            </a:r>
          </a:p>
        </p:txBody>
      </p:sp>
      <p:sp>
        <p:nvSpPr>
          <p:cNvPr id="7" name="TextBox 6"/>
          <p:cNvSpPr txBox="1"/>
          <p:nvPr/>
        </p:nvSpPr>
        <p:spPr>
          <a:xfrm>
            <a:off x="609600" y="2209800"/>
            <a:ext cx="10515600" cy="103632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GRDE2053. A2 assignment brief, pp. 1–5. Supplied course document, n.d.</a:t>
            </a:r>
          </a:p>
          <a:p>
            <a:pPr>
              <a:lnSpc>
                <a:spcPct val="105000"/>
              </a:lnSpc>
              <a:spcAft>
                <a:spcPts val="0"/>
              </a:spcAft>
              <a:defRPr sz="1500" b="0">
                <a:solidFill>
                  <a:srgbClr val="4D4B46"/>
                </a:solidFill>
                <a:latin typeface="Arial"/>
              </a:defRPr>
            </a:pPr>
            <a:r>
              <a:t>GRDE2053. SIE–DCI A2 Exhibition Showcase marking rubric. Supplied course document, n.d.</a:t>
            </a:r>
          </a:p>
          <a:p>
            <a:pPr>
              <a:lnSpc>
                <a:spcPct val="105000"/>
              </a:lnSpc>
              <a:spcAft>
                <a:spcPts val="0"/>
              </a:spcAft>
              <a:defRPr sz="1500" b="0">
                <a:solidFill>
                  <a:srgbClr val="4D4B46"/>
                </a:solidFill>
                <a:latin typeface="Arial"/>
              </a:defRPr>
            </a:pPr>
            <a:r>
              <a:t>GRDE2053. Sessions 2 (p. 6), 3 (p. 8) and 5 (slides 6–10). Course slides, n.d.</a:t>
            </a:r>
          </a:p>
          <a:p>
            <a:pPr>
              <a:lnSpc>
                <a:spcPct val="105000"/>
              </a:lnSpc>
              <a:spcAft>
                <a:spcPts val="0"/>
              </a:spcAft>
              <a:defRPr sz="1500" b="0">
                <a:solidFill>
                  <a:srgbClr val="4D4B46"/>
                </a:solidFill>
                <a:latin typeface="Arial"/>
              </a:defRPr>
            </a:pPr>
            <a:r>
              <a:t>Initial concept: Social Interactive.pptx, slides 5, 7–8. User-supplied concept deck, n.d.</a:t>
            </a:r>
          </a:p>
        </p:txBody>
      </p:sp>
      <p:sp>
        <p:nvSpPr>
          <p:cNvPr id="8" name="TextBox 7"/>
          <p:cNvSpPr txBox="1"/>
          <p:nvPr/>
        </p:nvSpPr>
        <p:spPr>
          <a:xfrm>
            <a:off x="609600" y="3733799"/>
            <a:ext cx="10515600" cy="363321"/>
          </a:xfrm>
          <a:prstGeom prst="rect">
            <a:avLst/>
          </a:prstGeom>
          <a:noFill/>
        </p:spPr>
        <p:txBody>
          <a:bodyPr wrap="none" lIns="0" rIns="0" tIns="0" bIns="0">
            <a:spAutoFit/>
          </a:bodyPr>
          <a:lstStyle/>
          <a:p>
            <a:pPr>
              <a:lnSpc>
                <a:spcPct val="105000"/>
              </a:lnSpc>
              <a:spcAft>
                <a:spcPts val="0"/>
              </a:spcAft>
              <a:defRPr sz="1859" b="1">
                <a:solidFill>
                  <a:srgbClr val="303A68"/>
                </a:solidFill>
                <a:latin typeface="Arial"/>
              </a:defRPr>
            </a:pPr>
            <a:r>
              <a:t>Project media + implementation</a:t>
            </a:r>
          </a:p>
        </p:txBody>
      </p:sp>
      <p:sp>
        <p:nvSpPr>
          <p:cNvPr id="9" name="TextBox 8"/>
          <p:cNvSpPr txBox="1"/>
          <p:nvPr/>
        </p:nvSpPr>
        <p:spPr>
          <a:xfrm>
            <a:off x="609600" y="4152900"/>
            <a:ext cx="10515600" cy="103632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Prototype screens: public-map-project repository, 2026; controlled browser captures.</a:t>
            </a:r>
          </a:p>
          <a:p>
            <a:pPr>
              <a:lnSpc>
                <a:spcPct val="105000"/>
              </a:lnSpc>
              <a:spcAft>
                <a:spcPts val="0"/>
              </a:spcAft>
              <a:defRPr sz="1500" b="0">
                <a:solidFill>
                  <a:srgbClr val="4D4B46"/>
                </a:solidFill>
                <a:latin typeface="Arial"/>
              </a:defRPr>
            </a:pPr>
            <a:r>
              <a:t>Map / avatars: user-supplied assets; confirm original creators and licences.</a:t>
            </a:r>
          </a:p>
          <a:p>
            <a:pPr>
              <a:lnSpc>
                <a:spcPct val="105000"/>
              </a:lnSpc>
              <a:spcAft>
                <a:spcPts val="0"/>
              </a:spcAft>
              <a:defRPr sz="1500" b="0">
                <a:solidFill>
                  <a:srgbClr val="4D4B46"/>
                </a:solidFill>
                <a:latin typeface="Arial"/>
              </a:defRPr>
            </a:pPr>
            <a:r>
              <a:t>Some activity icons / fish cut-outs: AI-generated or AI-refined; list individual assets.</a:t>
            </a:r>
          </a:p>
          <a:p>
            <a:pPr>
              <a:lnSpc>
                <a:spcPct val="105000"/>
              </a:lnSpc>
              <a:spcAft>
                <a:spcPts val="0"/>
              </a:spcAft>
              <a:defRPr sz="1500" b="0">
                <a:solidFill>
                  <a:srgbClr val="4D4B46"/>
                </a:solidFill>
                <a:latin typeface="Arial"/>
              </a:defRPr>
            </a:pPr>
            <a:r>
              <a:t>p5.js • Firebase Realtime Database • GitHub Pages • Web Audio API.</a:t>
            </a:r>
          </a:p>
        </p:txBody>
      </p:sp>
      <p:sp>
        <p:nvSpPr>
          <p:cNvPr id="10" name="TextBox 9"/>
          <p:cNvSpPr txBox="1"/>
          <p:nvPr/>
        </p:nvSpPr>
        <p:spPr>
          <a:xfrm>
            <a:off x="609600" y="5524500"/>
            <a:ext cx="10515600" cy="275539"/>
          </a:xfrm>
          <a:prstGeom prst="rect">
            <a:avLst/>
          </a:prstGeom>
          <a:noFill/>
        </p:spPr>
        <p:txBody>
          <a:bodyPr wrap="none" lIns="0" rIns="0" tIns="0" bIns="0">
            <a:spAutoFit/>
          </a:bodyPr>
          <a:lstStyle/>
          <a:p>
            <a:pPr>
              <a:lnSpc>
                <a:spcPct val="105000"/>
              </a:lnSpc>
              <a:spcAft>
                <a:spcPts val="0"/>
              </a:spcAft>
              <a:defRPr sz="1320" b="0">
                <a:solidFill>
                  <a:srgbClr val="76746E"/>
                </a:solidFill>
                <a:latin typeface="Arial"/>
              </a:defRPr>
            </a:pPr>
            <a:r>
              <a:t>References here use a provisional author–date format. Match the referencing style in your unit outline.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15</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APPENDIX / NOT PART OF THE TIMED TALK</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Before you submit</a:t>
            </a:r>
          </a:p>
        </p:txBody>
      </p:sp>
      <p:sp>
        <p:nvSpPr>
          <p:cNvPr id="6" name="TextBox 5"/>
          <p:cNvSpPr txBox="1"/>
          <p:nvPr/>
        </p:nvSpPr>
        <p:spPr>
          <a:xfrm>
            <a:off x="647700" y="1790700"/>
            <a:ext cx="10744200" cy="343814"/>
          </a:xfrm>
          <a:prstGeom prst="rect">
            <a:avLst/>
          </a:prstGeom>
          <a:noFill/>
        </p:spPr>
        <p:txBody>
          <a:bodyPr wrap="none" lIns="0" rIns="0" tIns="0" bIns="0">
            <a:spAutoFit/>
          </a:bodyPr>
          <a:lstStyle/>
          <a:p>
            <a:pPr>
              <a:lnSpc>
                <a:spcPct val="105000"/>
              </a:lnSpc>
              <a:spcAft>
                <a:spcPts val="0"/>
              </a:spcAft>
              <a:defRPr sz="1739" b="0">
                <a:solidFill>
                  <a:srgbClr val="303A68"/>
                </a:solidFill>
                <a:latin typeface="Arial"/>
              </a:defRPr>
            </a:pPr>
            <a:r>
              <a:t>01 Fill in your name; check the verified theory mapping and initial-concept comparison.</a:t>
            </a:r>
          </a:p>
        </p:txBody>
      </p:sp>
      <p:sp>
        <p:nvSpPr>
          <p:cNvPr id="7" name="TextBox 6"/>
          <p:cNvSpPr txBox="1"/>
          <p:nvPr/>
        </p:nvSpPr>
        <p:spPr>
          <a:xfrm>
            <a:off x="647700" y="2438400"/>
            <a:ext cx="10744200" cy="343814"/>
          </a:xfrm>
          <a:prstGeom prst="rect">
            <a:avLst/>
          </a:prstGeom>
          <a:noFill/>
        </p:spPr>
        <p:txBody>
          <a:bodyPr wrap="none" lIns="0" rIns="0" tIns="0" bIns="0">
            <a:spAutoFit/>
          </a:bodyPr>
          <a:lstStyle/>
          <a:p>
            <a:pPr>
              <a:lnSpc>
                <a:spcPct val="105000"/>
              </a:lnSpc>
              <a:spcAft>
                <a:spcPts val="0"/>
              </a:spcAft>
              <a:defRPr sz="1739" b="0">
                <a:solidFill>
                  <a:srgbClr val="303A68"/>
                </a:solidFill>
                <a:latin typeface="Arial"/>
              </a:defRPr>
            </a:pPr>
            <a:r>
              <a:t>02 Record and insert a real 1–2 minute showcase film.</a:t>
            </a:r>
          </a:p>
        </p:txBody>
      </p:sp>
      <p:sp>
        <p:nvSpPr>
          <p:cNvPr id="8" name="TextBox 7"/>
          <p:cNvSpPr txBox="1"/>
          <p:nvPr/>
        </p:nvSpPr>
        <p:spPr>
          <a:xfrm>
            <a:off x="647700" y="3086100"/>
            <a:ext cx="10744200" cy="343814"/>
          </a:xfrm>
          <a:prstGeom prst="rect">
            <a:avLst/>
          </a:prstGeom>
          <a:noFill/>
        </p:spPr>
        <p:txBody>
          <a:bodyPr wrap="none" lIns="0" rIns="0" tIns="0" bIns="0">
            <a:spAutoFit/>
          </a:bodyPr>
          <a:lstStyle/>
          <a:p>
            <a:pPr>
              <a:lnSpc>
                <a:spcPct val="105000"/>
              </a:lnSpc>
              <a:spcAft>
                <a:spcPts val="0"/>
              </a:spcAft>
              <a:defRPr sz="1739" b="0">
                <a:solidFill>
                  <a:srgbClr val="303A68"/>
                </a:solidFill>
                <a:latin typeface="Arial"/>
              </a:defRPr>
            </a:pPr>
            <a:r>
              <a:t>03 Rehearse a 5–7 minute presentation including video and live demo.</a:t>
            </a:r>
          </a:p>
        </p:txBody>
      </p:sp>
      <p:sp>
        <p:nvSpPr>
          <p:cNvPr id="9" name="TextBox 8"/>
          <p:cNvSpPr txBox="1"/>
          <p:nvPr/>
        </p:nvSpPr>
        <p:spPr>
          <a:xfrm>
            <a:off x="647700" y="3733799"/>
            <a:ext cx="107442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04 Prepare the separate development PDF: maximum 15 pages, excluding title / references.</a:t>
            </a:r>
          </a:p>
        </p:txBody>
      </p:sp>
      <p:sp>
        <p:nvSpPr>
          <p:cNvPr id="10" name="TextBox 9"/>
          <p:cNvSpPr txBox="1"/>
          <p:nvPr/>
        </p:nvSpPr>
        <p:spPr>
          <a:xfrm>
            <a:off x="647700" y="4381500"/>
            <a:ext cx="107442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05 Include coversheet, requested MP4 / SharePoint link and tutor access.</a:t>
            </a:r>
          </a:p>
        </p:txBody>
      </p:sp>
      <p:sp>
        <p:nvSpPr>
          <p:cNvPr id="11" name="TextBox 10"/>
          <p:cNvSpPr txBox="1"/>
          <p:nvPr/>
        </p:nvSpPr>
        <p:spPr>
          <a:xfrm>
            <a:off x="647700" y="5029200"/>
            <a:ext cx="107442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06 Confirm AI approval, declaration and media attribution; check milestone completion.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