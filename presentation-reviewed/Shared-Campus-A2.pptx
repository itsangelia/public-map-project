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0:00–0:15</a:t>
            </a:r>
          </a:p>
          <a:p/>
          <a:p>
            <a:r>
              <a:t>ENGLISH SCRIPT</a:t>
            </a:r>
          </a:p>
          <a:p>
            <a:r>
              <a:t>My project is Shared Campus. People join an illustrated campus through a public screen and their own phones, with small activities that make starting an interaction easier.</a:t>
            </a:r>
          </a:p>
          <a:p/>
          <a:p>
            <a:r>
              <a:t>中文理解版</a:t>
            </a:r>
          </a:p>
          <a:p>
            <a:r>
              <a:t>我的项目叫Shared Campus。大家通过公共大屏和自己的手机进入插画校园，用小活动更轻松地开始互动。</a:t>
            </a:r>
          </a:p>
          <a:p/>
          <a:p>
            <a:r>
              <a:t>PRESENTER CUE</a:t>
            </a:r>
          </a:p>
          <a:p>
            <a:r>
              <a:t>介绍项目，不要逐个列举功能。填上你的名字。</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0:15–0:36</a:t>
            </a:r>
          </a:p>
          <a:p/>
          <a:p>
            <a:r>
              <a:t>ENGLISH SCRIPT</a:t>
            </a:r>
          </a:p>
          <a:p>
            <a:r>
              <a:t>The concept began with international students finding it difficult to approach unfamiliar people. A shared activity offers a reason to interact first. Connection is the main focus, with joy through play and reflection through wishes.</a:t>
            </a:r>
          </a:p>
          <a:p/>
          <a:p>
            <a:r>
              <a:t>中文理解版</a:t>
            </a:r>
          </a:p>
          <a:p>
            <a:r>
              <a:t>概念从国际学生接近不熟悉的人时面临的困难出发。共同活动为开始互动提供理由。主要目标是连接，玩乐带来快乐，愿望提供反思空间。</a:t>
            </a:r>
          </a:p>
          <a:p/>
          <a:p>
            <a:r>
              <a:t>PRESENTER CUE</a:t>
            </a:r>
          </a:p>
          <a:p>
            <a:r>
              <a:t>清楚说出 Connection 是主要焦点；不要把设计动机说成调研结论。</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0:36–0:56</a:t>
            </a:r>
          </a:p>
          <a:p/>
          <a:p>
            <a:r>
              <a:t>ENGLISH SCRIPT</a:t>
            </a:r>
          </a:p>
          <a:p>
            <a:r>
              <a:t>Visitors scan a QR code and choose a nickname and character, without downloading an app. Phones control individual players; the display shows everyone together. The intended short route is to join and share one activity.</a:t>
            </a:r>
          </a:p>
          <a:p/>
          <a:p>
            <a:r>
              <a:t>中文理解版</a:t>
            </a:r>
          </a:p>
          <a:p>
            <a:r>
              <a:t>参与者扫码、选择昵称与角色，不需要下载应用。手机控制个人玩家，大屏显示大家。计划的简短路径是加入并共同参与一个活动。</a:t>
            </a:r>
          </a:p>
          <a:p/>
          <a:p>
            <a:r>
              <a:t>PRESENTER CUE</a:t>
            </a:r>
          </a:p>
          <a:p>
            <a:r>
              <a:t>约两分钟是展览设计目标，指加入后完成一项短活动，不是实测完成时间。用两名玩家实际排练扫码、进入、匹配和操作全过程；把等待也计入。不能把快速录屏剪辑当作完成时间的证据。</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0:56–1:23</a:t>
            </a:r>
          </a:p>
          <a:p/>
          <a:p>
            <a:r>
              <a:t>ENGLISH SCRIPT</a:t>
            </a:r>
          </a:p>
          <a:p>
            <a:r>
              <a:t>Typed messages appear above characters for five seconds. Wishes offer a slower interaction: write a note, hang it, and discover someone else’s. A short, gently moving preview invites a click. The full wish shows its nickname and date, with a blessing button to respond.</a:t>
            </a:r>
          </a:p>
          <a:p/>
          <a:p>
            <a:r>
              <a:t>中文理解版</a:t>
            </a:r>
          </a:p>
          <a:p>
            <a:r>
              <a:t>输入的文字会在角色头顶显示5秒。许愿提供更慢的互动：写纸条、挂起来，再发现别人的愿望。简短、轻轻摆动的预览邀请点击；完整愿望显示昵称与日期，并提供祝福按钮回应。</a:t>
            </a:r>
          </a:p>
          <a:p/>
          <a:p>
            <a:r>
              <a:t>PRESENTER CUE</a:t>
            </a:r>
          </a:p>
          <a:p>
            <a:r>
              <a:t>强调聊天与许愿是两种不同的表达：即时交流与保留在树上的留言。纸条仅预览4–5个英文词；每人对同一愿望祝福一次。</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1:23–1:51</a:t>
            </a:r>
          </a:p>
          <a:p/>
          <a:p>
            <a:r>
              <a:t>ENGLISH SCRIPT</a:t>
            </a:r>
          </a:p>
          <a:p>
            <a:r>
              <a:t>In the drink shop, two players take turns making four choices. Both shape one drink together. Fishing needs continuous cooperation: one controls up and down, the other left and right. Neither controls both directions alone. They aim at moving ripples to build progress and reveal a random, named fish.</a:t>
            </a:r>
          </a:p>
          <a:p/>
          <a:p>
            <a:r>
              <a:t>中文理解版</a:t>
            </a:r>
          </a:p>
          <a:p>
            <a:r>
              <a:t>饮品店里，两名玩家轮流完成四次选择，共同决定一杯饮品。钓鱼需要持续合作：一人控制上下，一人控制左右，任何一人都不能单独控制两个方向。双方共同对准会换位的涟漪来积累进度，成功揭晓随机、有名字的鱼。</a:t>
            </a:r>
          </a:p>
          <a:p/>
          <a:p>
            <a:r>
              <a:t>PRESENTER CUE</a:t>
            </a:r>
          </a:p>
          <a:p>
            <a:r>
              <a:t>饮品：基底/风味/配料/装饰，81种组合。钓鱼：倒计时后开始，20%初始进度，对准+10%/秒，偏离−4%/秒，降至0失败。目标3.5秒换位，容错范围扩大10%。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1:51–2:13</a:t>
            </a:r>
          </a:p>
          <a:p/>
          <a:p>
            <a:r>
              <a:t>ENGLISH SCRIPT</a:t>
            </a:r>
          </a:p>
          <a:p>
            <a:r>
              <a:t>The piano offers another role: listening. One person plays; others can listen after enabling sound. A notice identifies the performer. Eight seconds without a note releases the seat, keeping the shared instrument available to others.</a:t>
            </a:r>
          </a:p>
          <a:p/>
          <a:p>
            <a:r>
              <a:t>中文理解版</a:t>
            </a:r>
          </a:p>
          <a:p>
            <a:r>
              <a:t>钢琴提供另一种角色：聆听。一人弹奏，其他人开启声音后可以聆听。提示显示演奏者昵称。8秒不按音符就释放座位，让其他人也有机会使用共享乐器。</a:t>
            </a:r>
          </a:p>
          <a:p/>
          <a:p>
            <a:r>
              <a:t>PRESENTER CUE</a:t>
            </a:r>
          </a:p>
          <a:p>
            <a:r>
              <a:t>地图仍可见；旁观者不会打开同步键盘。靠近活动入口会出现提醒。说明观看、听琴也属于参与方式。</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2:13–3:33</a:t>
            </a:r>
          </a:p>
          <a:p/>
          <a:p>
            <a:r>
              <a:t>ENGLISH SCRIPT</a:t>
            </a:r>
          </a:p>
          <a:p>
            <a:r>
              <a:t>This video shows visitors joining and sharing the activities.</a:t>
            </a:r>
          </a:p>
          <a:p/>
          <a:p>
            <a:r>
              <a:t>中文理解版</a:t>
            </a:r>
          </a:p>
          <a:p>
            <a:r>
              <a:t>这段视频展示参与者加入地图并共同参与活动。</a:t>
            </a:r>
          </a:p>
          <a:p/>
          <a:p>
            <a:r>
              <a:t>PRESENTER CUE</a:t>
            </a:r>
          </a:p>
          <a:p>
            <a:r>
              <a:t>播放你实拍的75秒展示视频。当前文件没有嵌入真实参与者视频，必须替换此页占位。不要朗读拍摄分镜。</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3:33–4:28</a:t>
            </a:r>
          </a:p>
          <a:p/>
          <a:p>
            <a:r>
              <a:t>ENGLISH SCRIPT</a:t>
            </a:r>
          </a:p>
          <a:p>
            <a:r>
              <a:t>For the live demonstration, we’ll make one drink together. Watch how control passes between the two players, and how both phones receive the same result.</a:t>
            </a:r>
          </a:p>
          <a:p/>
          <a:p>
            <a:r>
              <a:t>中文理解版</a:t>
            </a:r>
          </a:p>
          <a:p>
            <a:r>
              <a:t>现场演示中，我们一起制作一杯饮品。请注意操作权怎样在两位玩家之间交替，以及两台手机怎样收到同一个结果。</a:t>
            </a:r>
          </a:p>
          <a:p/>
          <a:p>
            <a:r>
              <a:t>PRESENTER CUE</a:t>
            </a:r>
          </a:p>
          <a:p>
            <a:r>
              <a:t>总计55秒，包括约14秒引入和操作。演示前安排搭档：两台手机进入showcase房间，角色停在饮品店附近。使用实物展台/摄像头拍两台手机，或投屏一台并轮流切换展示另一台；公共地图本身不显示制作面板，不可只让老师远看手机。0–14秒引入并指出两玩家；14–42秒双方轮流做四次选择；42–50秒展示一致结果；50–55秒结束。提前排练投屏兼容性与声音。若不能投屏，需用摄像头让手机画面可读。</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4:28–5:21</a:t>
            </a:r>
          </a:p>
          <a:p/>
          <a:p>
            <a:r>
              <a:t>ENGLISH SCRIPT</a:t>
            </a:r>
          </a:p>
          <a:p>
            <a:r>
              <a:t>I evaluated the design through the six Social UX principles. Sensory Feedback appears in piano sound. Embodied Interaction is limited to touchscreen control, rather than full-body interaction. Social Dynamics is strongest in fishing: the split roles make cooperation necessary, as discussed in the course’s computer-supported cooperative work perspective. Resilience and Motivation informed easier fishing and retry. Proactivity and Clarity appear in glowing entrances and turn prompts: signifiers that communicate available actions. Ethics and Inclusion shaped sound control, exits and fair access to the piano. These support choice, but do not make the experience fully accessible.</a:t>
            </a:r>
          </a:p>
          <a:p/>
          <a:p>
            <a:r>
              <a:t>中文理解版</a:t>
            </a:r>
          </a:p>
          <a:p>
            <a:r>
              <a:t>我通过六项Social UX原则评估设计。感官反馈体现在琴声；具身互动仅限于触屏控制，而不是全身互动；社会动态在钓鱼中最突出：角色分工使合作成为必要条件，对应课堂中计算机支持协同工作的视角。韧性与动机影响了更宽松的钓鱼和重试；主动引导与清晰性体现在发光入口与轮次提示，它们作为signifiers传达可用操作；伦理与包容影响了声音控制、退出和钢琴的公平使用。这些支持参与者选择，但不代表体验已全面无障碍。</a:t>
            </a:r>
          </a:p>
          <a:p/>
          <a:p>
            <a:r>
              <a:t>PRESENTER CUE</a:t>
            </a:r>
          </a:p>
          <a:p>
            <a:r>
              <a:t>六项名称见Session2 p6、Session3 p8；CSCW见Session2 p8，signifiers见Session5 slides9–11。按设计回顾来讲，不声称一开始每一步都按该框架实施。手机触控是有限的具身互动，不是全身追踪。钓鱼使用方向按钮，不能说拖动浮标。昵称不等于匿名或充分隐私保护。未实现触觉震动，也未验证全面无障碍。</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5:21–5:38</a:t>
            </a:r>
          </a:p>
          <a:p/>
          <a:p>
            <a:r>
              <a:t>ENGLISH SCRIPT</a:t>
            </a:r>
          </a:p>
          <a:p>
            <a:r>
              <a:t>The campus provides a setting, without a fixed storyline. Familiar places give activities context. Consistent illustration, soft colours, proximity effects and music create a welcoming, responsive space.</a:t>
            </a:r>
          </a:p>
          <a:p/>
          <a:p>
            <a:r>
              <a:t>中文理解版</a:t>
            </a:r>
          </a:p>
          <a:p>
            <a:r>
              <a:t>校园提供场景，没有固定剧情。熟悉的地点让活动有相应背景。统一插画、柔和配色、靠近效果和音乐营造友好、会回应参与者的空间。</a:t>
            </a:r>
          </a:p>
          <a:p/>
          <a:p>
            <a:r>
              <a:t>PRESENTER CUE</a:t>
            </a:r>
          </a:p>
          <a:p>
            <a:r>
              <a:t>结合截图说明视觉和声音怎样服务体验，不只说“好看”。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5:38–6:04</a:t>
            </a:r>
          </a:p>
          <a:p/>
          <a:p>
            <a:r>
              <a:t>ENGLISH SCRIPT</a:t>
            </a:r>
          </a:p>
          <a:p>
            <a:r>
              <a:t>The initial concept proposed cultural prompts, shared visuals and tokens. The final version keeps the connection goal through freely chosen activities, without tokens. Device checks exposed missing players and jerky fishing. I prioritised shared visibility, smoothed movement, enlarged the phone view and reduced fishing difficulty after play feedback.</a:t>
            </a:r>
          </a:p>
          <a:p/>
          <a:p>
            <a:r>
              <a:t>中文理解版</a:t>
            </a:r>
          </a:p>
          <a:p>
            <a:r>
              <a:t>初始概念提出文化提示、共享视觉和代币。最终版本通过自由选择的活动保留连接目标，没有加入代币。设备检查暴露了玩家不可见与钓鱼卡顿。我优先处理共同可见性、平滑移动、放大手机视角，并根据游玩反馈降低钓鱼难度。</a:t>
            </a:r>
          </a:p>
          <a:p/>
          <a:p>
            <a:r>
              <a:t>PRESENTER CUE</a:t>
            </a:r>
          </a:p>
          <a:p>
            <a:r>
              <a:t>初始概念依据Social Interactive.pptx第5、7、8页：日常生活/文化提示、共享地图、代币想法。若该文件不是正式A1提交版，展示前与提交版核对；不宣称这些是导师要求改动。技术迭代依据开发记录和设备反馈，不虚构正式访谈或观众人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6:04–6:20</a:t>
            </a:r>
          </a:p>
          <a:p/>
          <a:p>
            <a:r>
              <a:t>ENGLISH SCRIPT</a:t>
            </a:r>
          </a:p>
          <a:p>
            <a:r>
              <a:t>p5.js renders the map; Firebase synchronises shared state; GitHub Pages hosts it. Phones provide personal control, while the public screen makes participation visible.</a:t>
            </a:r>
          </a:p>
          <a:p/>
          <a:p>
            <a:r>
              <a:t>中文理解版</a:t>
            </a:r>
          </a:p>
          <a:p>
            <a:r>
              <a:t>p5.js绘制地图，Firebase同步共享状态，GitHub Pages托管体验。手机提供个人操作，大屏让共同参与可见。</a:t>
            </a:r>
          </a:p>
          <a:p/>
          <a:p>
            <a:r>
              <a:t>PRESENTER CUE</a:t>
            </a:r>
          </a:p>
          <a:p>
            <a:r>
              <a:t>技术名称慢读并停顿。本页不宣称所有网络和设备都稳定。展览准备稳定网络、电量与备用录像；这些属于准备安排，不是已有正式用户研究。</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6:20–6:40</a:t>
            </a:r>
          </a:p>
          <a:p/>
          <a:p>
            <a:r>
              <a:t>ENGLISH SCRIPT</a:t>
            </a:r>
          </a:p>
          <a:p>
            <a:r>
              <a:t>The map supports first contact, but cultural exchange needs further evaluation. Device checks do not establish improved belonging. AI assisted code, selected artwork and presentation drafting; I selected and refined the outputs.</a:t>
            </a:r>
          </a:p>
          <a:p/>
          <a:p>
            <a:r>
              <a:t>中文理解版</a:t>
            </a:r>
          </a:p>
          <a:p>
            <a:r>
              <a:t>地图支持初次接触，但文化交流仍需进一步评估。设备检查不能证明归属感得到提升。AI辅助了代码、部分素材和演示初稿，我进行了选择与修改。</a:t>
            </a:r>
          </a:p>
          <a:p/>
          <a:p>
            <a:r>
              <a:t>PRESENTER CUE</a:t>
            </a:r>
          </a:p>
          <a:p>
            <a:r>
              <a:t>AI使用属真实项目过程，需如实提交工具/用途/修改方式声明并核实导师批准。手机/网络、语言与视听要求会影响包容性；公开愿望也需内容管理。下一步是评估，不是承诺马上加新功能。</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6:40–6:45</a:t>
            </a:r>
          </a:p>
          <a:p/>
          <a:p>
            <a:r>
              <a:t>ENGLISH SCRIPT</a:t>
            </a:r>
          </a:p>
          <a:p>
            <a:r>
              <a:t>Thank you. Please try Shared Campus together.</a:t>
            </a:r>
          </a:p>
          <a:p/>
          <a:p>
            <a:r>
              <a:t>中文理解版</a:t>
            </a:r>
          </a:p>
          <a:p>
            <a:r>
              <a:t>谢谢，欢迎一起体验Shared Campus。</a:t>
            </a:r>
          </a:p>
          <a:p/>
          <a:p>
            <a:r>
              <a:t>PRESENTER CUE</a:t>
            </a:r>
          </a:p>
          <a:p>
            <a:r>
              <a:t>结束后保留参考资料页，不朗读资料清单。媒体来源尚待核实事项仅在备注与来源登记中列出，不作已完成引用。</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APPENDIX — do not present</a:t>
            </a:r>
          </a:p>
          <a:p/>
          <a:p>
            <a:r>
              <a:t>ENGLISH SCRIPT</a:t>
            </a:r>
          </a:p>
          <a:p/>
          <a:p/>
          <a:p>
            <a:r>
              <a:t>中文理解版</a:t>
            </a:r>
          </a:p>
          <a:p/>
          <a:p/>
          <a:p>
            <a:r>
              <a:t>PRESENTER CUE</a:t>
            </a:r>
          </a:p>
          <a:p>
            <a:r>
              <a:t>备查页，不计入课堂展示。按brief还需封面、独立development documentation PDF、MP4及SharePoint可访问链接；这套PPT不替代过程文档。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hyperlink" Target="https://itsangelia.github.io/public-map-project/campus-f3cd85c8e3d0eaa9.html?mode=display&amp;room=showcase" TargetMode="Externa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01</a:t>
            </a:r>
          </a:p>
        </p:txBody>
      </p:sp>
      <p:pic>
        <p:nvPicPr>
          <p:cNvPr id="4" name="Picture 3" descr="fishing-map-overview.png"/>
          <p:cNvPicPr>
            <a:picLocks noChangeAspect="1"/>
          </p:cNvPicPr>
          <p:nvPr/>
        </p:nvPicPr>
        <p:blipFill>
          <a:blip r:embed="rId2"/>
          <a:stretch>
            <a:fillRect/>
          </a:stretch>
        </p:blipFill>
        <p:spPr>
          <a:xfrm>
            <a:off x="4724400" y="956733"/>
            <a:ext cx="7010399" cy="4868333"/>
          </a:xfrm>
          <a:prstGeom prst="rect">
            <a:avLst/>
          </a:prstGeom>
        </p:spPr>
      </p:pic>
      <p:sp>
        <p:nvSpPr>
          <p:cNvPr id="5" name="Rectangle 4"/>
          <p:cNvSpPr/>
          <p:nvPr/>
        </p:nvSpPr>
        <p:spPr>
          <a:xfrm>
            <a:off x="0" y="0"/>
            <a:ext cx="4724400" cy="6324600"/>
          </a:xfrm>
          <a:prstGeom prst="rect">
            <a:avLst/>
          </a:prstGeom>
          <a:solidFill>
            <a:srgbClr val="FF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701040"/>
            <a:ext cx="38862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EXHIBITION SHOWCASE</a:t>
            </a:r>
          </a:p>
        </p:txBody>
      </p:sp>
      <p:sp>
        <p:nvSpPr>
          <p:cNvPr id="7" name="TextBox 6"/>
          <p:cNvSpPr txBox="1"/>
          <p:nvPr/>
        </p:nvSpPr>
        <p:spPr>
          <a:xfrm>
            <a:off x="571500" y="1371600"/>
            <a:ext cx="4038600" cy="1758086"/>
          </a:xfrm>
          <a:prstGeom prst="rect">
            <a:avLst/>
          </a:prstGeom>
          <a:noFill/>
        </p:spPr>
        <p:txBody>
          <a:bodyPr wrap="none" lIns="0" rIns="0" tIns="0" bIns="0">
            <a:spAutoFit/>
          </a:bodyPr>
          <a:lstStyle/>
          <a:p>
            <a:pPr>
              <a:lnSpc>
                <a:spcPct val="105000"/>
              </a:lnSpc>
              <a:spcAft>
                <a:spcPts val="0"/>
              </a:spcAft>
              <a:defRPr sz="5220" b="1">
                <a:solidFill>
                  <a:srgbClr val="303A68"/>
                </a:solidFill>
                <a:latin typeface="Georgia"/>
              </a:defRPr>
            </a:pPr>
            <a:r>
              <a:t>Shared</a:t>
            </a:r>
          </a:p>
          <a:p>
            <a:pPr>
              <a:lnSpc>
                <a:spcPct val="105000"/>
              </a:lnSpc>
              <a:spcAft>
                <a:spcPts val="0"/>
              </a:spcAft>
              <a:defRPr sz="5220" b="1">
                <a:solidFill>
                  <a:srgbClr val="303A68"/>
                </a:solidFill>
                <a:latin typeface="Georgia"/>
              </a:defRPr>
            </a:pPr>
            <a:r>
              <a:t>Campus</a:t>
            </a:r>
          </a:p>
        </p:txBody>
      </p:sp>
      <p:sp>
        <p:nvSpPr>
          <p:cNvPr id="8" name="TextBox 7"/>
          <p:cNvSpPr txBox="1"/>
          <p:nvPr/>
        </p:nvSpPr>
        <p:spPr>
          <a:xfrm>
            <a:off x="571500" y="3390900"/>
            <a:ext cx="3657600" cy="802233"/>
          </a:xfrm>
          <a:prstGeom prst="rect">
            <a:avLst/>
          </a:prstGeom>
          <a:noFill/>
        </p:spPr>
        <p:txBody>
          <a:bodyPr wrap="none" lIns="0" rIns="0" tIns="0" bIns="0">
            <a:spAutoFit/>
          </a:bodyPr>
          <a:lstStyle/>
          <a:p>
            <a:pPr>
              <a:lnSpc>
                <a:spcPct val="105000"/>
              </a:lnSpc>
              <a:spcAft>
                <a:spcPts val="0"/>
              </a:spcAft>
              <a:defRPr sz="2280" b="0">
                <a:solidFill>
                  <a:srgbClr val="303A68"/>
                </a:solidFill>
                <a:latin typeface="Arial"/>
              </a:defRPr>
            </a:pPr>
            <a:r>
              <a:t>Small moments.</a:t>
            </a:r>
          </a:p>
          <a:p>
            <a:pPr>
              <a:lnSpc>
                <a:spcPct val="105000"/>
              </a:lnSpc>
              <a:spcAft>
                <a:spcPts val="0"/>
              </a:spcAft>
              <a:defRPr sz="2280" b="0">
                <a:solidFill>
                  <a:srgbClr val="303A68"/>
                </a:solidFill>
                <a:latin typeface="Arial"/>
              </a:defRPr>
            </a:pPr>
            <a:r>
              <a:t>Shared connections.</a:t>
            </a:r>
          </a:p>
        </p:txBody>
      </p:sp>
      <p:sp>
        <p:nvSpPr>
          <p:cNvPr id="9" name="TextBox 8"/>
          <p:cNvSpPr txBox="1"/>
          <p:nvPr/>
        </p:nvSpPr>
        <p:spPr>
          <a:xfrm>
            <a:off x="571500" y="4648200"/>
            <a:ext cx="3657600" cy="587654"/>
          </a:xfrm>
          <a:prstGeom prst="rect">
            <a:avLst/>
          </a:prstGeom>
          <a:noFill/>
        </p:spPr>
        <p:txBody>
          <a:bodyPr wrap="none" lIns="0" rIns="0" tIns="0" bIns="0">
            <a:spAutoFit/>
          </a:bodyPr>
          <a:lstStyle/>
          <a:p>
            <a:pPr>
              <a:lnSpc>
                <a:spcPct val="105000"/>
              </a:lnSpc>
              <a:spcAft>
                <a:spcPts val="0"/>
              </a:spcAft>
              <a:defRPr sz="1620" b="0">
                <a:solidFill>
                  <a:srgbClr val="4D4B46"/>
                </a:solidFill>
                <a:latin typeface="Arial"/>
              </a:defRPr>
            </a:pPr>
            <a:r>
              <a:t>A public map, personal phones</a:t>
            </a:r>
          </a:p>
          <a:p>
            <a:pPr>
              <a:lnSpc>
                <a:spcPct val="105000"/>
              </a:lnSpc>
              <a:spcAft>
                <a:spcPts val="0"/>
              </a:spcAft>
              <a:defRPr sz="1620" b="0">
                <a:solidFill>
                  <a:srgbClr val="4D4B46"/>
                </a:solidFill>
                <a:latin typeface="Arial"/>
              </a:defRPr>
            </a:pPr>
            <a:r>
              <a:t>and playful first encounters.</a:t>
            </a:r>
          </a:p>
        </p:txBody>
      </p:sp>
      <p:sp>
        <p:nvSpPr>
          <p:cNvPr id="10" name="TextBox 9"/>
          <p:cNvSpPr txBox="1"/>
          <p:nvPr/>
        </p:nvSpPr>
        <p:spPr>
          <a:xfrm>
            <a:off x="571500" y="5600700"/>
            <a:ext cx="3886200" cy="285292"/>
          </a:xfrm>
          <a:prstGeom prst="rect">
            <a:avLst/>
          </a:prstGeom>
          <a:noFill/>
        </p:spPr>
        <p:txBody>
          <a:bodyPr wrap="none" lIns="0" rIns="0" tIns="0" bIns="0">
            <a:spAutoFit/>
          </a:bodyPr>
          <a:lstStyle/>
          <a:p>
            <a:pPr>
              <a:lnSpc>
                <a:spcPct val="105000"/>
              </a:lnSpc>
              <a:spcAft>
                <a:spcPts val="0"/>
              </a:spcAft>
              <a:defRPr sz="1380" b="0">
                <a:solidFill>
                  <a:srgbClr val="76746E"/>
                </a:solidFill>
                <a:latin typeface="Arial"/>
              </a:defRPr>
            </a:pPr>
            <a:r>
              <a:t>[Your name] · A2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02</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SOCIAL FOCUS</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A small invitation to connect</a:t>
            </a:r>
          </a:p>
        </p:txBody>
      </p:sp>
      <p:sp>
        <p:nvSpPr>
          <p:cNvPr id="6" name="TextBox 5"/>
          <p:cNvSpPr txBox="1"/>
          <p:nvPr/>
        </p:nvSpPr>
        <p:spPr>
          <a:xfrm>
            <a:off x="609600" y="1805940"/>
            <a:ext cx="6400800" cy="1348435"/>
          </a:xfrm>
          <a:prstGeom prst="rect">
            <a:avLst/>
          </a:prstGeom>
          <a:noFill/>
        </p:spPr>
        <p:txBody>
          <a:bodyPr wrap="none" lIns="0" rIns="0" tIns="0" bIns="0">
            <a:spAutoFit/>
          </a:bodyPr>
          <a:lstStyle/>
          <a:p>
            <a:pPr>
              <a:lnSpc>
                <a:spcPct val="105000"/>
              </a:lnSpc>
              <a:spcAft>
                <a:spcPts val="0"/>
              </a:spcAft>
              <a:defRPr sz="2640" b="1">
                <a:solidFill>
                  <a:srgbClr val="303A68"/>
                </a:solidFill>
                <a:latin typeface="Arial"/>
              </a:defRPr>
            </a:pPr>
            <a:r>
              <a:t>How might a shared campus</a:t>
            </a:r>
          </a:p>
          <a:p>
            <a:pPr>
              <a:lnSpc>
                <a:spcPct val="105000"/>
              </a:lnSpc>
              <a:spcAft>
                <a:spcPts val="0"/>
              </a:spcAft>
              <a:defRPr sz="2640" b="1">
                <a:solidFill>
                  <a:srgbClr val="303A68"/>
                </a:solidFill>
                <a:latin typeface="Arial"/>
              </a:defRPr>
            </a:pPr>
            <a:r>
              <a:t>space make a first interaction</a:t>
            </a:r>
          </a:p>
          <a:p>
            <a:pPr>
              <a:lnSpc>
                <a:spcPct val="105000"/>
              </a:lnSpc>
              <a:spcAft>
                <a:spcPts val="0"/>
              </a:spcAft>
              <a:defRPr sz="2640" b="1">
                <a:solidFill>
                  <a:srgbClr val="303A68"/>
                </a:solidFill>
                <a:latin typeface="Arial"/>
              </a:defRPr>
            </a:pPr>
            <a:r>
              <a:t>easier?</a:t>
            </a:r>
          </a:p>
        </p:txBody>
      </p:sp>
      <p:sp>
        <p:nvSpPr>
          <p:cNvPr id="7" name="Rounded Rectangle 6"/>
          <p:cNvSpPr/>
          <p:nvPr/>
        </p:nvSpPr>
        <p:spPr>
          <a:xfrm>
            <a:off x="609600" y="3162300"/>
            <a:ext cx="342900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291840"/>
            <a:ext cx="30937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PRIMARY</a:t>
            </a:r>
          </a:p>
        </p:txBody>
      </p:sp>
      <p:sp>
        <p:nvSpPr>
          <p:cNvPr id="9" name="TextBox 8"/>
          <p:cNvSpPr txBox="1"/>
          <p:nvPr/>
        </p:nvSpPr>
        <p:spPr>
          <a:xfrm>
            <a:off x="777240" y="3543300"/>
            <a:ext cx="30937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Connection</a:t>
            </a:r>
          </a:p>
        </p:txBody>
      </p:sp>
      <p:sp>
        <p:nvSpPr>
          <p:cNvPr id="10" name="TextBox 9"/>
          <p:cNvSpPr txBox="1"/>
          <p:nvPr/>
        </p:nvSpPr>
        <p:spPr>
          <a:xfrm>
            <a:off x="777240" y="3950207"/>
            <a:ext cx="30937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A small shared action before a</a:t>
            </a:r>
          </a:p>
          <a:p>
            <a:pPr>
              <a:lnSpc>
                <a:spcPct val="105000"/>
              </a:lnSpc>
              <a:spcAft>
                <a:spcPts val="0"/>
              </a:spcAft>
              <a:defRPr sz="1500" b="0">
                <a:solidFill>
                  <a:srgbClr val="4D4B46"/>
                </a:solidFill>
                <a:latin typeface="Arial"/>
              </a:defRPr>
            </a:pPr>
            <a:r>
              <a:t>conversation.</a:t>
            </a:r>
          </a:p>
        </p:txBody>
      </p:sp>
      <p:sp>
        <p:nvSpPr>
          <p:cNvPr id="11" name="Rounded Rectangle 10"/>
          <p:cNvSpPr/>
          <p:nvPr/>
        </p:nvSpPr>
        <p:spPr>
          <a:xfrm>
            <a:off x="4381500" y="3162300"/>
            <a:ext cx="3429000" cy="19811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9140" y="3291840"/>
            <a:ext cx="30937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SECONDARY</a:t>
            </a:r>
          </a:p>
        </p:txBody>
      </p:sp>
      <p:sp>
        <p:nvSpPr>
          <p:cNvPr id="13" name="TextBox 12"/>
          <p:cNvSpPr txBox="1"/>
          <p:nvPr/>
        </p:nvSpPr>
        <p:spPr>
          <a:xfrm>
            <a:off x="4549140" y="3543300"/>
            <a:ext cx="30937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Joy</a:t>
            </a:r>
          </a:p>
        </p:txBody>
      </p:sp>
      <p:sp>
        <p:nvSpPr>
          <p:cNvPr id="14" name="TextBox 13"/>
          <p:cNvSpPr txBox="1"/>
          <p:nvPr/>
        </p:nvSpPr>
        <p:spPr>
          <a:xfrm>
            <a:off x="4549140" y="3950207"/>
            <a:ext cx="30937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Playful choices and unexpected</a:t>
            </a:r>
          </a:p>
          <a:p>
            <a:pPr>
              <a:lnSpc>
                <a:spcPct val="105000"/>
              </a:lnSpc>
              <a:spcAft>
                <a:spcPts val="0"/>
              </a:spcAft>
              <a:defRPr sz="1500" b="0">
                <a:solidFill>
                  <a:srgbClr val="4D4B46"/>
                </a:solidFill>
                <a:latin typeface="Arial"/>
              </a:defRPr>
            </a:pPr>
            <a:r>
              <a:t>outcomes.</a:t>
            </a:r>
          </a:p>
        </p:txBody>
      </p:sp>
      <p:sp>
        <p:nvSpPr>
          <p:cNvPr id="15" name="Rounded Rectangle 14"/>
          <p:cNvSpPr/>
          <p:nvPr/>
        </p:nvSpPr>
        <p:spPr>
          <a:xfrm>
            <a:off x="8153399" y="3162300"/>
            <a:ext cx="3429000" cy="1981199"/>
          </a:xfrm>
          <a:prstGeom prst="roundRect">
            <a:avLst>
              <a:gd name="adj" fmla="val 14000"/>
            </a:avLst>
          </a:prstGeom>
          <a:solidFill>
            <a:srgbClr val="DAB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3291840"/>
            <a:ext cx="30937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ALSO</a:t>
            </a:r>
          </a:p>
        </p:txBody>
      </p:sp>
      <p:sp>
        <p:nvSpPr>
          <p:cNvPr id="17" name="TextBox 16"/>
          <p:cNvSpPr txBox="1"/>
          <p:nvPr/>
        </p:nvSpPr>
        <p:spPr>
          <a:xfrm>
            <a:off x="8321040" y="3543300"/>
            <a:ext cx="30937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Reflection</a:t>
            </a:r>
          </a:p>
        </p:txBody>
      </p:sp>
      <p:sp>
        <p:nvSpPr>
          <p:cNvPr id="18" name="TextBox 17"/>
          <p:cNvSpPr txBox="1"/>
          <p:nvPr/>
        </p:nvSpPr>
        <p:spPr>
          <a:xfrm>
            <a:off x="8321040" y="3950207"/>
            <a:ext cx="30937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Leave a wish. Read someone</a:t>
            </a:r>
          </a:p>
          <a:p>
            <a:pPr>
              <a:lnSpc>
                <a:spcPct val="105000"/>
              </a:lnSpc>
              <a:spcAft>
                <a:spcPts val="0"/>
              </a:spcAft>
              <a:defRPr sz="1500" b="0">
                <a:solidFill>
                  <a:srgbClr val="4D4B46"/>
                </a:solidFill>
                <a:latin typeface="Arial"/>
              </a:defRPr>
            </a:pPr>
            <a:r>
              <a:t>else’s.</a:t>
            </a:r>
          </a:p>
        </p:txBody>
      </p:sp>
      <p:sp>
        <p:nvSpPr>
          <p:cNvPr id="19" name="TextBox 18"/>
          <p:cNvSpPr txBox="1"/>
          <p:nvPr/>
        </p:nvSpPr>
        <p:spPr>
          <a:xfrm>
            <a:off x="609600" y="5623560"/>
            <a:ext cx="10668000" cy="334060"/>
          </a:xfrm>
          <a:prstGeom prst="rect">
            <a:avLst/>
          </a:prstGeom>
          <a:noFill/>
        </p:spPr>
        <p:txBody>
          <a:bodyPr wrap="none" lIns="0" rIns="0" tIns="0" bIns="0">
            <a:spAutoFit/>
          </a:bodyPr>
          <a:lstStyle/>
          <a:p>
            <a:pPr>
              <a:lnSpc>
                <a:spcPct val="105000"/>
              </a:lnSpc>
              <a:spcAft>
                <a:spcPts val="0"/>
              </a:spcAft>
              <a:defRPr sz="1680" b="0">
                <a:solidFill>
                  <a:srgbClr val="76746E"/>
                </a:solidFill>
                <a:latin typeface="Arial"/>
              </a:defRPr>
            </a:pPr>
            <a:r>
              <a:t>Audience focus: international students and other campus visitors.</a:t>
            </a:r>
          </a:p>
        </p:txBody>
      </p:sp>
      <p:sp>
        <p:nvSpPr>
          <p:cNvPr id="20" name="TextBox 19"/>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03</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PARTICIPANT JOURNEY</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One shared place. Your own way in.</a:t>
            </a:r>
          </a:p>
        </p:txBody>
      </p:sp>
      <p:sp>
        <p:nvSpPr>
          <p:cNvPr id="6" name="Rounded Rectangle 5"/>
          <p:cNvSpPr/>
          <p:nvPr/>
        </p:nvSpPr>
        <p:spPr>
          <a:xfrm>
            <a:off x="571500" y="1943100"/>
            <a:ext cx="211836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914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01</a:t>
            </a:r>
          </a:p>
        </p:txBody>
      </p:sp>
      <p:sp>
        <p:nvSpPr>
          <p:cNvPr id="8" name="TextBox 7"/>
          <p:cNvSpPr txBox="1"/>
          <p:nvPr/>
        </p:nvSpPr>
        <p:spPr>
          <a:xfrm>
            <a:off x="73914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Scan</a:t>
            </a:r>
          </a:p>
        </p:txBody>
      </p:sp>
      <p:sp>
        <p:nvSpPr>
          <p:cNvPr id="9" name="TextBox 8"/>
          <p:cNvSpPr txBox="1"/>
          <p:nvPr/>
        </p:nvSpPr>
        <p:spPr>
          <a:xfrm>
            <a:off x="73914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Use your own</a:t>
            </a:r>
          </a:p>
          <a:p>
            <a:pPr>
              <a:lnSpc>
                <a:spcPct val="105000"/>
              </a:lnSpc>
              <a:spcAft>
                <a:spcPts val="0"/>
              </a:spcAft>
              <a:defRPr sz="1500" b="0">
                <a:solidFill>
                  <a:srgbClr val="4D4B46"/>
                </a:solidFill>
                <a:latin typeface="Arial"/>
              </a:defRPr>
            </a:pPr>
            <a:r>
              <a:t>phone.</a:t>
            </a:r>
          </a:p>
        </p:txBody>
      </p:sp>
      <p:sp>
        <p:nvSpPr>
          <p:cNvPr id="10" name="Rounded Rectangle 9"/>
          <p:cNvSpPr/>
          <p:nvPr/>
        </p:nvSpPr>
        <p:spPr>
          <a:xfrm>
            <a:off x="2811780" y="1943100"/>
            <a:ext cx="2118360" cy="19811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942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02</a:t>
            </a:r>
          </a:p>
        </p:txBody>
      </p:sp>
      <p:sp>
        <p:nvSpPr>
          <p:cNvPr id="12" name="TextBox 11"/>
          <p:cNvSpPr txBox="1"/>
          <p:nvPr/>
        </p:nvSpPr>
        <p:spPr>
          <a:xfrm>
            <a:off x="297942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Choose</a:t>
            </a:r>
          </a:p>
        </p:txBody>
      </p:sp>
      <p:sp>
        <p:nvSpPr>
          <p:cNvPr id="13" name="TextBox 12"/>
          <p:cNvSpPr txBox="1"/>
          <p:nvPr/>
        </p:nvSpPr>
        <p:spPr>
          <a:xfrm>
            <a:off x="297942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Nickname +</a:t>
            </a:r>
          </a:p>
          <a:p>
            <a:pPr>
              <a:lnSpc>
                <a:spcPct val="105000"/>
              </a:lnSpc>
              <a:spcAft>
                <a:spcPts val="0"/>
              </a:spcAft>
              <a:defRPr sz="1500" b="0">
                <a:solidFill>
                  <a:srgbClr val="4D4B46"/>
                </a:solidFill>
                <a:latin typeface="Arial"/>
              </a:defRPr>
            </a:pPr>
            <a:r>
              <a:t>avatar.</a:t>
            </a:r>
          </a:p>
        </p:txBody>
      </p:sp>
      <p:sp>
        <p:nvSpPr>
          <p:cNvPr id="14" name="Rounded Rectangle 13"/>
          <p:cNvSpPr/>
          <p:nvPr/>
        </p:nvSpPr>
        <p:spPr>
          <a:xfrm>
            <a:off x="5052060" y="1943100"/>
            <a:ext cx="211836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970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03</a:t>
            </a:r>
          </a:p>
        </p:txBody>
      </p:sp>
      <p:sp>
        <p:nvSpPr>
          <p:cNvPr id="16" name="TextBox 15"/>
          <p:cNvSpPr txBox="1"/>
          <p:nvPr/>
        </p:nvSpPr>
        <p:spPr>
          <a:xfrm>
            <a:off x="521970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Explore</a:t>
            </a:r>
          </a:p>
        </p:txBody>
      </p:sp>
      <p:sp>
        <p:nvSpPr>
          <p:cNvPr id="17" name="TextBox 16"/>
          <p:cNvSpPr txBox="1"/>
          <p:nvPr/>
        </p:nvSpPr>
        <p:spPr>
          <a:xfrm>
            <a:off x="521970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See others</a:t>
            </a:r>
          </a:p>
          <a:p>
            <a:pPr>
              <a:lnSpc>
                <a:spcPct val="105000"/>
              </a:lnSpc>
              <a:spcAft>
                <a:spcPts val="0"/>
              </a:spcAft>
              <a:defRPr sz="1500" b="0">
                <a:solidFill>
                  <a:srgbClr val="4D4B46"/>
                </a:solidFill>
                <a:latin typeface="Arial"/>
              </a:defRPr>
            </a:pPr>
            <a:r>
              <a:t>nearby.</a:t>
            </a:r>
          </a:p>
        </p:txBody>
      </p:sp>
      <p:sp>
        <p:nvSpPr>
          <p:cNvPr id="18" name="Rounded Rectangle 17"/>
          <p:cNvSpPr/>
          <p:nvPr/>
        </p:nvSpPr>
        <p:spPr>
          <a:xfrm>
            <a:off x="7292340" y="1943100"/>
            <a:ext cx="2118360" cy="19811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998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04</a:t>
            </a:r>
          </a:p>
        </p:txBody>
      </p:sp>
      <p:sp>
        <p:nvSpPr>
          <p:cNvPr id="20" name="TextBox 19"/>
          <p:cNvSpPr txBox="1"/>
          <p:nvPr/>
        </p:nvSpPr>
        <p:spPr>
          <a:xfrm>
            <a:off x="745998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Notice</a:t>
            </a:r>
          </a:p>
        </p:txBody>
      </p:sp>
      <p:sp>
        <p:nvSpPr>
          <p:cNvPr id="21" name="TextBox 20"/>
          <p:cNvSpPr txBox="1"/>
          <p:nvPr/>
        </p:nvSpPr>
        <p:spPr>
          <a:xfrm>
            <a:off x="745998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Follow a glowing</a:t>
            </a:r>
          </a:p>
          <a:p>
            <a:pPr>
              <a:lnSpc>
                <a:spcPct val="105000"/>
              </a:lnSpc>
              <a:spcAft>
                <a:spcPts val="0"/>
              </a:spcAft>
              <a:defRPr sz="1500" b="0">
                <a:solidFill>
                  <a:srgbClr val="4D4B46"/>
                </a:solidFill>
                <a:latin typeface="Arial"/>
              </a:defRPr>
            </a:pPr>
            <a:r>
              <a:t>invitation.</a:t>
            </a:r>
          </a:p>
        </p:txBody>
      </p:sp>
      <p:sp>
        <p:nvSpPr>
          <p:cNvPr id="22" name="Rounded Rectangle 21"/>
          <p:cNvSpPr/>
          <p:nvPr/>
        </p:nvSpPr>
        <p:spPr>
          <a:xfrm>
            <a:off x="9532620" y="1943100"/>
            <a:ext cx="211836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0026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05</a:t>
            </a:r>
          </a:p>
        </p:txBody>
      </p:sp>
      <p:sp>
        <p:nvSpPr>
          <p:cNvPr id="24" name="TextBox 23"/>
          <p:cNvSpPr txBox="1"/>
          <p:nvPr/>
        </p:nvSpPr>
        <p:spPr>
          <a:xfrm>
            <a:off x="970026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Share</a:t>
            </a:r>
          </a:p>
        </p:txBody>
      </p:sp>
      <p:sp>
        <p:nvSpPr>
          <p:cNvPr id="25" name="TextBox 24"/>
          <p:cNvSpPr txBox="1"/>
          <p:nvPr/>
        </p:nvSpPr>
        <p:spPr>
          <a:xfrm>
            <a:off x="970026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Make, play, wish</a:t>
            </a:r>
          </a:p>
          <a:p>
            <a:pPr>
              <a:lnSpc>
                <a:spcPct val="105000"/>
              </a:lnSpc>
              <a:spcAft>
                <a:spcPts val="0"/>
              </a:spcAft>
              <a:defRPr sz="1500" b="0">
                <a:solidFill>
                  <a:srgbClr val="4D4B46"/>
                </a:solidFill>
                <a:latin typeface="Arial"/>
              </a:defRPr>
            </a:pPr>
            <a:r>
              <a:t>or listen.</a:t>
            </a:r>
          </a:p>
        </p:txBody>
      </p:sp>
      <p:sp>
        <p:nvSpPr>
          <p:cNvPr id="26" name="Rounded Rectangle 25"/>
          <p:cNvSpPr/>
          <p:nvPr/>
        </p:nvSpPr>
        <p:spPr>
          <a:xfrm>
            <a:off x="571500" y="4419600"/>
            <a:ext cx="11049000" cy="1181100"/>
          </a:xfrm>
          <a:prstGeom prst="roundRect">
            <a:avLst>
              <a:gd name="adj" fmla="val 14000"/>
            </a:avLst>
          </a:prstGeom>
          <a:solidFill>
            <a:srgbClr val="30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8200" y="4594860"/>
            <a:ext cx="10439400" cy="431596"/>
          </a:xfrm>
          <a:prstGeom prst="rect">
            <a:avLst/>
          </a:prstGeom>
          <a:noFill/>
        </p:spPr>
        <p:txBody>
          <a:bodyPr wrap="none" lIns="0" rIns="0" tIns="0" bIns="0">
            <a:spAutoFit/>
          </a:bodyPr>
          <a:lstStyle/>
          <a:p>
            <a:pPr>
              <a:lnSpc>
                <a:spcPct val="105000"/>
              </a:lnSpc>
              <a:spcAft>
                <a:spcPts val="0"/>
              </a:spcAft>
              <a:defRPr sz="2280" b="1">
                <a:solidFill>
                  <a:srgbClr val="FFFFFF"/>
                </a:solidFill>
                <a:latin typeface="Arial"/>
              </a:defRPr>
            </a:pPr>
            <a:r>
              <a:t>Exhibition target: join and share one short activity.</a:t>
            </a:r>
          </a:p>
        </p:txBody>
      </p:sp>
      <p:sp>
        <p:nvSpPr>
          <p:cNvPr id="28" name="TextBox 27"/>
          <p:cNvSpPr txBox="1"/>
          <p:nvPr/>
        </p:nvSpPr>
        <p:spPr>
          <a:xfrm>
            <a:off x="838200" y="5052060"/>
            <a:ext cx="10439400" cy="324307"/>
          </a:xfrm>
          <a:prstGeom prst="rect">
            <a:avLst/>
          </a:prstGeom>
          <a:noFill/>
        </p:spPr>
        <p:txBody>
          <a:bodyPr wrap="none" lIns="0" rIns="0" tIns="0" bIns="0">
            <a:spAutoFit/>
          </a:bodyPr>
          <a:lstStyle/>
          <a:p>
            <a:pPr>
              <a:lnSpc>
                <a:spcPct val="105000"/>
              </a:lnSpc>
              <a:spcAft>
                <a:spcPts val="0"/>
              </a:spcAft>
              <a:defRPr sz="1620" b="0">
                <a:solidFill>
                  <a:srgbClr val="EBE6DD"/>
                </a:solidFill>
                <a:latin typeface="Arial"/>
              </a:defRPr>
            </a:pPr>
            <a:r>
              <a:t>Designed for a short encounter, with free exploration afterwards.</a:t>
            </a:r>
          </a:p>
        </p:txBody>
      </p:sp>
      <p:sp>
        <p:nvSpPr>
          <p:cNvPr id="29" name="TextBox 28"/>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04</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EXPERIENCE / EXPRESSION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Meet, speak and leave a little hope</a:t>
            </a:r>
          </a:p>
        </p:txBody>
      </p:sp>
      <p:pic>
        <p:nvPicPr>
          <p:cNvPr id="6" name="Picture 5" descr="wishing-tree.png"/>
          <p:cNvPicPr>
            <a:picLocks noChangeAspect="1"/>
          </p:cNvPicPr>
          <p:nvPr/>
        </p:nvPicPr>
        <p:blipFill>
          <a:blip r:embed="rId2"/>
          <a:stretch>
            <a:fillRect/>
          </a:stretch>
        </p:blipFill>
        <p:spPr>
          <a:xfrm>
            <a:off x="7467599" y="2381250"/>
            <a:ext cx="3886200" cy="2590800"/>
          </a:xfrm>
          <a:prstGeom prst="rect">
            <a:avLst/>
          </a:prstGeom>
        </p:spPr>
      </p:pic>
      <p:sp>
        <p:nvSpPr>
          <p:cNvPr id="7" name="Rounded Rectangle 6"/>
          <p:cNvSpPr/>
          <p:nvPr/>
        </p:nvSpPr>
        <p:spPr>
          <a:xfrm>
            <a:off x="571500" y="1790700"/>
            <a:ext cx="3276600" cy="16764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9140" y="1920240"/>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JOIN + MOVE</a:t>
            </a:r>
          </a:p>
        </p:txBody>
      </p:sp>
      <p:sp>
        <p:nvSpPr>
          <p:cNvPr id="9" name="TextBox 8"/>
          <p:cNvSpPr txBox="1"/>
          <p:nvPr/>
        </p:nvSpPr>
        <p:spPr>
          <a:xfrm>
            <a:off x="739140" y="21717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Be present</a:t>
            </a:r>
          </a:p>
        </p:txBody>
      </p:sp>
      <p:sp>
        <p:nvSpPr>
          <p:cNvPr id="10" name="TextBox 9"/>
          <p:cNvSpPr txBox="1"/>
          <p:nvPr/>
        </p:nvSpPr>
        <p:spPr>
          <a:xfrm>
            <a:off x="739140" y="2578608"/>
            <a:ext cx="2941320" cy="79248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QR entry, nickname, three</a:t>
            </a:r>
          </a:p>
          <a:p>
            <a:pPr>
              <a:lnSpc>
                <a:spcPct val="105000"/>
              </a:lnSpc>
              <a:spcAft>
                <a:spcPts val="0"/>
              </a:spcAft>
              <a:defRPr sz="1500" b="0">
                <a:solidFill>
                  <a:srgbClr val="4D4B46"/>
                </a:solidFill>
                <a:latin typeface="Arial"/>
              </a:defRPr>
            </a:pPr>
            <a:r>
              <a:t>avatars; independent</a:t>
            </a:r>
          </a:p>
          <a:p>
            <a:pPr>
              <a:lnSpc>
                <a:spcPct val="105000"/>
              </a:lnSpc>
              <a:spcAft>
                <a:spcPts val="0"/>
              </a:spcAft>
              <a:defRPr sz="1500" b="0">
                <a:solidFill>
                  <a:srgbClr val="4D4B46"/>
                </a:solidFill>
                <a:latin typeface="Arial"/>
              </a:defRPr>
            </a:pPr>
            <a:r>
              <a:t>movement.</a:t>
            </a:r>
          </a:p>
        </p:txBody>
      </p:sp>
      <p:sp>
        <p:nvSpPr>
          <p:cNvPr id="11" name="Rounded Rectangle 10"/>
          <p:cNvSpPr/>
          <p:nvPr/>
        </p:nvSpPr>
        <p:spPr>
          <a:xfrm>
            <a:off x="4114800" y="1790700"/>
            <a:ext cx="3276600" cy="16764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82440" y="1920240"/>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LIVE CHAT</a:t>
            </a:r>
          </a:p>
        </p:txBody>
      </p:sp>
      <p:sp>
        <p:nvSpPr>
          <p:cNvPr id="13" name="TextBox 12"/>
          <p:cNvSpPr txBox="1"/>
          <p:nvPr/>
        </p:nvSpPr>
        <p:spPr>
          <a:xfrm>
            <a:off x="4282440" y="21717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Speak in the map</a:t>
            </a:r>
          </a:p>
        </p:txBody>
      </p:sp>
      <p:sp>
        <p:nvSpPr>
          <p:cNvPr id="14" name="TextBox 13"/>
          <p:cNvSpPr txBox="1"/>
          <p:nvPr/>
        </p:nvSpPr>
        <p:spPr>
          <a:xfrm>
            <a:off x="4282440" y="2578608"/>
            <a:ext cx="29413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Shared head bubbles</a:t>
            </a:r>
          </a:p>
          <a:p>
            <a:pPr>
              <a:lnSpc>
                <a:spcPct val="105000"/>
              </a:lnSpc>
              <a:spcAft>
                <a:spcPts val="0"/>
              </a:spcAft>
              <a:defRPr sz="1500" b="0">
                <a:solidFill>
                  <a:srgbClr val="4D4B46"/>
                </a:solidFill>
                <a:latin typeface="Arial"/>
              </a:defRPr>
            </a:pPr>
            <a:r>
              <a:t>disappear after 5 seconds.</a:t>
            </a:r>
          </a:p>
        </p:txBody>
      </p:sp>
      <p:sp>
        <p:nvSpPr>
          <p:cNvPr id="15" name="Rounded Rectangle 14"/>
          <p:cNvSpPr/>
          <p:nvPr/>
        </p:nvSpPr>
        <p:spPr>
          <a:xfrm>
            <a:off x="571500" y="3733799"/>
            <a:ext cx="6819900" cy="1943100"/>
          </a:xfrm>
          <a:prstGeom prst="roundRect">
            <a:avLst>
              <a:gd name="adj" fmla="val 14000"/>
            </a:avLst>
          </a:prstGeom>
          <a:solidFill>
            <a:srgbClr val="DAB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9140" y="3863339"/>
            <a:ext cx="64846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WISHING TREE</a:t>
            </a:r>
          </a:p>
        </p:txBody>
      </p:sp>
      <p:sp>
        <p:nvSpPr>
          <p:cNvPr id="17" name="TextBox 16"/>
          <p:cNvSpPr txBox="1"/>
          <p:nvPr/>
        </p:nvSpPr>
        <p:spPr>
          <a:xfrm>
            <a:off x="739140" y="4114800"/>
            <a:ext cx="64846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A message someone can discover</a:t>
            </a:r>
          </a:p>
        </p:txBody>
      </p:sp>
      <p:sp>
        <p:nvSpPr>
          <p:cNvPr id="18" name="TextBox 17"/>
          <p:cNvSpPr txBox="1"/>
          <p:nvPr/>
        </p:nvSpPr>
        <p:spPr>
          <a:xfrm>
            <a:off x="739140" y="4521707"/>
            <a:ext cx="64846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Hang a wish. A 4–5-word preview sways; open the note for</a:t>
            </a:r>
          </a:p>
          <a:p>
            <a:pPr>
              <a:lnSpc>
                <a:spcPct val="105000"/>
              </a:lnSpc>
              <a:spcAft>
                <a:spcPts val="0"/>
              </a:spcAft>
              <a:defRPr sz="1500" b="0">
                <a:solidFill>
                  <a:srgbClr val="4D4B46"/>
                </a:solidFill>
                <a:latin typeface="Arial"/>
              </a:defRPr>
            </a:pPr>
            <a:r>
              <a:t>nickname, date and full text. Bless it once per player.</a:t>
            </a:r>
          </a:p>
        </p:txBody>
      </p:sp>
      <p:sp>
        <p:nvSpPr>
          <p:cNvPr id="19" name="TextBox 18"/>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05</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EXPERIENCE / COOPERATION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Two players. Two kinds of cooperation.</a:t>
            </a:r>
          </a:p>
        </p:txBody>
      </p:sp>
      <p:pic>
        <p:nvPicPr>
          <p:cNvPr id="6" name="Picture 5" descr="drink-maker-online-finished.png"/>
          <p:cNvPicPr>
            <a:picLocks noChangeAspect="1"/>
          </p:cNvPicPr>
          <p:nvPr/>
        </p:nvPicPr>
        <p:blipFill>
          <a:blip r:embed="rId2"/>
          <a:stretch>
            <a:fillRect/>
          </a:stretch>
        </p:blipFill>
        <p:spPr>
          <a:xfrm>
            <a:off x="457561" y="1676400"/>
            <a:ext cx="1866177" cy="4038600"/>
          </a:xfrm>
          <a:prstGeom prst="rect">
            <a:avLst/>
          </a:prstGeom>
        </p:spPr>
      </p:pic>
      <p:sp>
        <p:nvSpPr>
          <p:cNvPr id="7" name="TextBox 6"/>
          <p:cNvSpPr txBox="1"/>
          <p:nvPr/>
        </p:nvSpPr>
        <p:spPr>
          <a:xfrm>
            <a:off x="2514600" y="1828800"/>
            <a:ext cx="3200400" cy="412089"/>
          </a:xfrm>
          <a:prstGeom prst="rect">
            <a:avLst/>
          </a:prstGeom>
          <a:noFill/>
        </p:spPr>
        <p:txBody>
          <a:bodyPr wrap="none" lIns="0" rIns="0" tIns="0" bIns="0">
            <a:spAutoFit/>
          </a:bodyPr>
          <a:lstStyle/>
          <a:p>
            <a:pPr>
              <a:lnSpc>
                <a:spcPct val="105000"/>
              </a:lnSpc>
              <a:spcAft>
                <a:spcPts val="0"/>
              </a:spcAft>
              <a:defRPr sz="2160" b="1">
                <a:solidFill>
                  <a:srgbClr val="303A68"/>
                </a:solidFill>
                <a:latin typeface="Arial"/>
              </a:defRPr>
            </a:pPr>
            <a:r>
              <a:t>Make a drink</a:t>
            </a:r>
          </a:p>
        </p:txBody>
      </p:sp>
      <p:sp>
        <p:nvSpPr>
          <p:cNvPr id="8" name="TextBox 7"/>
          <p:cNvSpPr txBox="1"/>
          <p:nvPr/>
        </p:nvSpPr>
        <p:spPr>
          <a:xfrm>
            <a:off x="2514600" y="2324100"/>
            <a:ext cx="3200400" cy="1328928"/>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Four alternating turns</a:t>
            </a:r>
          </a:p>
          <a:p>
            <a:pPr>
              <a:lnSpc>
                <a:spcPct val="105000"/>
              </a:lnSpc>
              <a:spcAft>
                <a:spcPts val="0"/>
              </a:spcAft>
              <a:defRPr sz="1560" b="0">
                <a:solidFill>
                  <a:srgbClr val="4D4B46"/>
                </a:solidFill>
                <a:latin typeface="Arial"/>
              </a:defRPr>
            </a:pPr>
            <a:r>
              <a:t>Three options per stage</a:t>
            </a:r>
          </a:p>
          <a:p>
            <a:pPr>
              <a:lnSpc>
                <a:spcPct val="105000"/>
              </a:lnSpc>
              <a:spcAft>
                <a:spcPts val="0"/>
              </a:spcAft>
              <a:defRPr sz="1560" b="0">
                <a:solidFill>
                  <a:srgbClr val="4D4B46"/>
                </a:solidFill>
                <a:latin typeface="Arial"/>
              </a:defRPr>
            </a:pPr>
            <a:r>
              <a:t>Both players shape the recipe</a:t>
            </a:r>
          </a:p>
          <a:p>
            <a:pPr>
              <a:lnSpc>
                <a:spcPct val="105000"/>
              </a:lnSpc>
              <a:spcAft>
                <a:spcPts val="0"/>
              </a:spcAft>
              <a:defRPr sz="1560" b="0">
                <a:solidFill>
                  <a:srgbClr val="4D4B46"/>
                </a:solidFill>
                <a:latin typeface="Arial"/>
              </a:defRPr>
            </a:pPr>
            <a:r>
              <a:t>Your turn notification</a:t>
            </a:r>
          </a:p>
          <a:p>
            <a:pPr>
              <a:lnSpc>
                <a:spcPct val="105000"/>
              </a:lnSpc>
              <a:spcAft>
                <a:spcPts val="0"/>
              </a:spcAft>
              <a:defRPr sz="1560" b="0">
                <a:solidFill>
                  <a:srgbClr val="4D4B46"/>
                </a:solidFill>
                <a:latin typeface="Arial"/>
              </a:defRPr>
            </a:pPr>
            <a:r>
              <a:t>One shared, named result</a:t>
            </a:r>
          </a:p>
        </p:txBody>
      </p:sp>
      <p:sp>
        <p:nvSpPr>
          <p:cNvPr id="9" name="TextBox 8"/>
          <p:cNvSpPr txBox="1"/>
          <p:nvPr/>
        </p:nvSpPr>
        <p:spPr>
          <a:xfrm>
            <a:off x="2514600" y="4305300"/>
            <a:ext cx="3200400" cy="548640"/>
          </a:xfrm>
          <a:prstGeom prst="rect">
            <a:avLst/>
          </a:prstGeom>
          <a:noFill/>
        </p:spPr>
        <p:txBody>
          <a:bodyPr wrap="none" lIns="0" rIns="0" tIns="0" bIns="0">
            <a:spAutoFit/>
          </a:bodyPr>
          <a:lstStyle/>
          <a:p>
            <a:pPr>
              <a:lnSpc>
                <a:spcPct val="105000"/>
              </a:lnSpc>
              <a:spcAft>
                <a:spcPts val="0"/>
              </a:spcAft>
              <a:defRPr sz="1500" b="1">
                <a:solidFill>
                  <a:srgbClr val="303A68"/>
                </a:solidFill>
                <a:latin typeface="Arial"/>
              </a:defRPr>
            </a:pPr>
            <a:r>
              <a:t>Base → flavour → topping →</a:t>
            </a:r>
          </a:p>
          <a:p>
            <a:pPr>
              <a:lnSpc>
                <a:spcPct val="105000"/>
              </a:lnSpc>
              <a:spcAft>
                <a:spcPts val="0"/>
              </a:spcAft>
              <a:defRPr sz="1500" b="1">
                <a:solidFill>
                  <a:srgbClr val="303A68"/>
                </a:solidFill>
                <a:latin typeface="Arial"/>
              </a:defRPr>
            </a:pPr>
            <a:r>
              <a:t>decoration</a:t>
            </a:r>
          </a:p>
        </p:txBody>
      </p:sp>
      <p:pic>
        <p:nvPicPr>
          <p:cNvPr id="10" name="Picture 9" descr="fishing-online-a.png"/>
          <p:cNvPicPr>
            <a:picLocks noChangeAspect="1"/>
          </p:cNvPicPr>
          <p:nvPr/>
        </p:nvPicPr>
        <p:blipFill>
          <a:blip r:embed="rId3"/>
          <a:stretch>
            <a:fillRect/>
          </a:stretch>
        </p:blipFill>
        <p:spPr>
          <a:xfrm>
            <a:off x="6096361" y="1676400"/>
            <a:ext cx="1866177" cy="4038600"/>
          </a:xfrm>
          <a:prstGeom prst="rect">
            <a:avLst/>
          </a:prstGeom>
        </p:spPr>
      </p:pic>
      <p:sp>
        <p:nvSpPr>
          <p:cNvPr id="11" name="TextBox 10"/>
          <p:cNvSpPr txBox="1"/>
          <p:nvPr/>
        </p:nvSpPr>
        <p:spPr>
          <a:xfrm>
            <a:off x="8191500" y="1828800"/>
            <a:ext cx="3352800" cy="412089"/>
          </a:xfrm>
          <a:prstGeom prst="rect">
            <a:avLst/>
          </a:prstGeom>
          <a:noFill/>
        </p:spPr>
        <p:txBody>
          <a:bodyPr wrap="none" lIns="0" rIns="0" tIns="0" bIns="0">
            <a:spAutoFit/>
          </a:bodyPr>
          <a:lstStyle/>
          <a:p>
            <a:pPr>
              <a:lnSpc>
                <a:spcPct val="105000"/>
              </a:lnSpc>
              <a:spcAft>
                <a:spcPts val="0"/>
              </a:spcAft>
              <a:defRPr sz="2160" b="1">
                <a:solidFill>
                  <a:srgbClr val="303A68"/>
                </a:solidFill>
                <a:latin typeface="Arial"/>
              </a:defRPr>
            </a:pPr>
            <a:r>
              <a:t>Catch together</a:t>
            </a:r>
          </a:p>
        </p:txBody>
      </p:sp>
      <p:sp>
        <p:nvSpPr>
          <p:cNvPr id="12" name="TextBox 11"/>
          <p:cNvSpPr txBox="1"/>
          <p:nvPr/>
        </p:nvSpPr>
        <p:spPr>
          <a:xfrm>
            <a:off x="8191500" y="2324100"/>
            <a:ext cx="3352800" cy="1328928"/>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Countdown to start</a:t>
            </a:r>
          </a:p>
          <a:p>
            <a:pPr>
              <a:lnSpc>
                <a:spcPct val="105000"/>
              </a:lnSpc>
              <a:spcAft>
                <a:spcPts val="0"/>
              </a:spcAft>
              <a:defRPr sz="1560" b="0">
                <a:solidFill>
                  <a:srgbClr val="4D4B46"/>
                </a:solidFill>
                <a:latin typeface="Arial"/>
              </a:defRPr>
            </a:pPr>
            <a:r>
              <a:t>Split vertical / horizontal control</a:t>
            </a:r>
          </a:p>
          <a:p>
            <a:pPr>
              <a:lnSpc>
                <a:spcPct val="105000"/>
              </a:lnSpc>
              <a:spcAft>
                <a:spcPts val="0"/>
              </a:spcAft>
              <a:defRPr sz="1560" b="0">
                <a:solidFill>
                  <a:srgbClr val="4D4B46"/>
                </a:solidFill>
                <a:latin typeface="Arial"/>
              </a:defRPr>
            </a:pPr>
            <a:r>
              <a:t>Aim the float at ripples</a:t>
            </a:r>
          </a:p>
          <a:p>
            <a:pPr>
              <a:lnSpc>
                <a:spcPct val="105000"/>
              </a:lnSpc>
              <a:spcAft>
                <a:spcPts val="0"/>
              </a:spcAft>
              <a:defRPr sz="1560" b="0">
                <a:solidFill>
                  <a:srgbClr val="4D4B46"/>
                </a:solidFill>
                <a:latin typeface="Arial"/>
              </a:defRPr>
            </a:pPr>
            <a:r>
              <a:t>Progress rises or falls</a:t>
            </a:r>
          </a:p>
          <a:p>
            <a:pPr>
              <a:lnSpc>
                <a:spcPct val="105000"/>
              </a:lnSpc>
              <a:spcAft>
                <a:spcPts val="0"/>
              </a:spcAft>
              <a:defRPr sz="1560" b="0">
                <a:solidFill>
                  <a:srgbClr val="4D4B46"/>
                </a:solidFill>
                <a:latin typeface="Arial"/>
              </a:defRPr>
            </a:pPr>
            <a:r>
              <a:t>Four named catches + retry</a:t>
            </a:r>
          </a:p>
        </p:txBody>
      </p:sp>
      <p:sp>
        <p:nvSpPr>
          <p:cNvPr id="13" name="TextBox 12"/>
          <p:cNvSpPr txBox="1"/>
          <p:nvPr/>
        </p:nvSpPr>
        <p:spPr>
          <a:xfrm>
            <a:off x="8191500" y="4495800"/>
            <a:ext cx="3352800" cy="529132"/>
          </a:xfrm>
          <a:prstGeom prst="rect">
            <a:avLst/>
          </a:prstGeom>
          <a:noFill/>
        </p:spPr>
        <p:txBody>
          <a:bodyPr wrap="none" lIns="0" rIns="0" tIns="0" bIns="0">
            <a:spAutoFit/>
          </a:bodyPr>
          <a:lstStyle/>
          <a:p>
            <a:pPr>
              <a:lnSpc>
                <a:spcPct val="105000"/>
              </a:lnSpc>
              <a:spcAft>
                <a:spcPts val="0"/>
              </a:spcAft>
              <a:defRPr sz="1439" b="1">
                <a:solidFill>
                  <a:srgbClr val="303A68"/>
                </a:solidFill>
                <a:latin typeface="Arial"/>
              </a:defRPr>
            </a:pPr>
            <a:r>
              <a:t>Start 20% · +10% / −4% per</a:t>
            </a:r>
          </a:p>
          <a:p>
            <a:pPr>
              <a:lnSpc>
                <a:spcPct val="105000"/>
              </a:lnSpc>
              <a:spcAft>
                <a:spcPts val="0"/>
              </a:spcAft>
              <a:defRPr sz="1439" b="1">
                <a:solidFill>
                  <a:srgbClr val="303A68"/>
                </a:solidFill>
                <a:latin typeface="Arial"/>
              </a:defRPr>
            </a:pPr>
            <a:r>
              <a:t>second</a:t>
            </a:r>
          </a:p>
        </p:txBody>
      </p:sp>
      <p:sp>
        <p:nvSpPr>
          <p:cNvPr id="14" name="TextBox 13"/>
          <p:cNvSpPr txBox="1"/>
          <p:nvPr/>
        </p:nvSpPr>
        <p:spPr>
          <a:xfrm>
            <a:off x="609600" y="5943600"/>
            <a:ext cx="10972800" cy="236524"/>
          </a:xfrm>
          <a:prstGeom prst="rect">
            <a:avLst/>
          </a:prstGeom>
          <a:noFill/>
        </p:spPr>
        <p:txBody>
          <a:bodyPr wrap="none" lIns="0" rIns="0" tIns="0" bIns="0">
            <a:spAutoFit/>
          </a:bodyPr>
          <a:lstStyle/>
          <a:p>
            <a:pPr>
              <a:lnSpc>
                <a:spcPct val="105000"/>
              </a:lnSpc>
              <a:spcAft>
                <a:spcPts val="0"/>
              </a:spcAft>
              <a:defRPr sz="1080" b="0">
                <a:solidFill>
                  <a:srgbClr val="76746E"/>
                </a:solidFill>
                <a:latin typeface="Arial"/>
              </a:defRPr>
            </a:pPr>
            <a:r>
              <a:t>Drink choices: sparkling water / milk tea / slush; strawberry / matcha / mango; pearls / coconut jelly / red bean; foam / ice cream / lemon.</a:t>
            </a:r>
          </a:p>
        </p:txBody>
      </p:sp>
      <p:sp>
        <p:nvSpPr>
          <p:cNvPr id="15" name="TextBox 14"/>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06</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EXPERIENCE / MUSIC + SHARED ACCESS</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One performer. A shared audience.</a:t>
            </a:r>
          </a:p>
        </p:txBody>
      </p:sp>
      <p:pic>
        <p:nvPicPr>
          <p:cNvPr id="6" name="Picture 5" descr="piano-playing.png"/>
          <p:cNvPicPr>
            <a:picLocks noChangeAspect="1"/>
          </p:cNvPicPr>
          <p:nvPr/>
        </p:nvPicPr>
        <p:blipFill>
          <a:blip r:embed="rId2"/>
          <a:stretch>
            <a:fillRect/>
          </a:stretch>
        </p:blipFill>
        <p:spPr>
          <a:xfrm>
            <a:off x="740286" y="1638300"/>
            <a:ext cx="2024626" cy="4381500"/>
          </a:xfrm>
          <a:prstGeom prst="rect">
            <a:avLst/>
          </a:prstGeom>
        </p:spPr>
      </p:pic>
      <p:pic>
        <p:nvPicPr>
          <p:cNvPr id="7" name="Picture 6" descr="shared-piano.png"/>
          <p:cNvPicPr>
            <a:picLocks noChangeAspect="1"/>
          </p:cNvPicPr>
          <p:nvPr/>
        </p:nvPicPr>
        <p:blipFill>
          <a:blip r:embed="rId3"/>
          <a:stretch>
            <a:fillRect/>
          </a:stretch>
        </p:blipFill>
        <p:spPr>
          <a:xfrm>
            <a:off x="8763000" y="2092770"/>
            <a:ext cx="2590800" cy="2367659"/>
          </a:xfrm>
          <a:prstGeom prst="rect">
            <a:avLst/>
          </a:prstGeom>
        </p:spPr>
      </p:pic>
      <p:sp>
        <p:nvSpPr>
          <p:cNvPr id="8" name="TextBox 7"/>
          <p:cNvSpPr txBox="1"/>
          <p:nvPr/>
        </p:nvSpPr>
        <p:spPr>
          <a:xfrm>
            <a:off x="3352800" y="1905000"/>
            <a:ext cx="5181600" cy="431596"/>
          </a:xfrm>
          <a:prstGeom prst="rect">
            <a:avLst/>
          </a:prstGeom>
          <a:noFill/>
        </p:spPr>
        <p:txBody>
          <a:bodyPr wrap="none" lIns="0" rIns="0" tIns="0" bIns="0">
            <a:spAutoFit/>
          </a:bodyPr>
          <a:lstStyle/>
          <a:p>
            <a:pPr>
              <a:lnSpc>
                <a:spcPct val="105000"/>
              </a:lnSpc>
              <a:spcAft>
                <a:spcPts val="0"/>
              </a:spcAft>
              <a:defRPr sz="2280" b="1">
                <a:solidFill>
                  <a:srgbClr val="303A68"/>
                </a:solidFill>
                <a:latin typeface="Arial"/>
              </a:defRPr>
            </a:pPr>
            <a:r>
              <a:t>Play without leaving the map</a:t>
            </a:r>
          </a:p>
        </p:txBody>
      </p:sp>
      <p:sp>
        <p:nvSpPr>
          <p:cNvPr id="9" name="TextBox 8"/>
          <p:cNvSpPr txBox="1"/>
          <p:nvPr/>
        </p:nvSpPr>
        <p:spPr>
          <a:xfrm>
            <a:off x="3352800" y="2552700"/>
            <a:ext cx="4953000" cy="1699564"/>
          </a:xfrm>
          <a:prstGeom prst="rect">
            <a:avLst/>
          </a:prstGeom>
          <a:noFill/>
        </p:spPr>
        <p:txBody>
          <a:bodyPr wrap="none" lIns="0" rIns="0" tIns="0" bIns="0">
            <a:spAutoFit/>
          </a:bodyPr>
          <a:lstStyle/>
          <a:p>
            <a:pPr>
              <a:lnSpc>
                <a:spcPct val="105000"/>
              </a:lnSpc>
              <a:spcAft>
                <a:spcPts val="0"/>
              </a:spcAft>
              <a:defRPr sz="1680" b="0">
                <a:solidFill>
                  <a:srgbClr val="4D4B46"/>
                </a:solidFill>
                <a:latin typeface="Arial"/>
              </a:defRPr>
            </a:pPr>
            <a:r>
              <a:t>21 keys in an on-map panel</a:t>
            </a:r>
          </a:p>
          <a:p>
            <a:pPr>
              <a:lnSpc>
                <a:spcPct val="105000"/>
              </a:lnSpc>
              <a:spcAft>
                <a:spcPts val="0"/>
              </a:spcAft>
              <a:defRPr sz="1680" b="0">
                <a:solidFill>
                  <a:srgbClr val="4D4B46"/>
                </a:solidFill>
                <a:latin typeface="Arial"/>
              </a:defRPr>
            </a:pPr>
            <a:r>
              <a:t>One performer; others can listen</a:t>
            </a:r>
          </a:p>
          <a:p>
            <a:pPr>
              <a:lnSpc>
                <a:spcPct val="105000"/>
              </a:lnSpc>
              <a:spcAft>
                <a:spcPts val="0"/>
              </a:spcAft>
              <a:defRPr sz="1680" b="0">
                <a:solidFill>
                  <a:srgbClr val="4D4B46"/>
                </a:solidFill>
                <a:latin typeface="Arial"/>
              </a:defRPr>
            </a:pPr>
            <a:r>
              <a:t>Occupied notice shows the nickname</a:t>
            </a:r>
          </a:p>
          <a:p>
            <a:pPr>
              <a:lnSpc>
                <a:spcPct val="105000"/>
              </a:lnSpc>
              <a:spcAft>
                <a:spcPts val="0"/>
              </a:spcAft>
              <a:defRPr sz="1680" b="0">
                <a:solidFill>
                  <a:srgbClr val="4D4B46"/>
                </a:solidFill>
                <a:latin typeface="Arial"/>
              </a:defRPr>
            </a:pPr>
            <a:r>
              <a:t>Playing icon moves with musical notes</a:t>
            </a:r>
          </a:p>
          <a:p>
            <a:pPr>
              <a:lnSpc>
                <a:spcPct val="105000"/>
              </a:lnSpc>
              <a:spcAft>
                <a:spcPts val="0"/>
              </a:spcAft>
              <a:defRPr sz="1680" b="0">
                <a:solidFill>
                  <a:srgbClr val="4D4B46"/>
                </a:solidFill>
                <a:latin typeface="Arial"/>
              </a:defRPr>
            </a:pPr>
            <a:r>
              <a:t>8 seconds idle → seat released</a:t>
            </a:r>
          </a:p>
          <a:p>
            <a:pPr>
              <a:lnSpc>
                <a:spcPct val="105000"/>
              </a:lnSpc>
              <a:spcAft>
                <a:spcPts val="0"/>
              </a:spcAft>
              <a:defRPr sz="1680" b="0">
                <a:solidFill>
                  <a:srgbClr val="4D4B46"/>
                </a:solidFill>
                <a:latin typeface="Arial"/>
              </a:defRPr>
            </a:pPr>
            <a:r>
              <a:t>Sound control and a clear exit</a:t>
            </a:r>
          </a:p>
        </p:txBody>
      </p:sp>
      <p:sp>
        <p:nvSpPr>
          <p:cNvPr id="10" name="Rounded Rectangle 9"/>
          <p:cNvSpPr/>
          <p:nvPr/>
        </p:nvSpPr>
        <p:spPr>
          <a:xfrm>
            <a:off x="3352800" y="5067300"/>
            <a:ext cx="7848600" cy="8001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3300" y="5234940"/>
            <a:ext cx="7429500" cy="587654"/>
          </a:xfrm>
          <a:prstGeom prst="rect">
            <a:avLst/>
          </a:prstGeom>
          <a:noFill/>
        </p:spPr>
        <p:txBody>
          <a:bodyPr wrap="none" lIns="0" rIns="0" tIns="0" bIns="0">
            <a:spAutoFit/>
          </a:bodyPr>
          <a:lstStyle/>
          <a:p>
            <a:pPr>
              <a:lnSpc>
                <a:spcPct val="105000"/>
              </a:lnSpc>
              <a:spcAft>
                <a:spcPts val="0"/>
              </a:spcAft>
              <a:defRPr sz="1620" b="0">
                <a:solidFill>
                  <a:srgbClr val="303A68"/>
                </a:solidFill>
                <a:latin typeface="Arial"/>
              </a:defRPr>
            </a:pPr>
            <a:r>
              <a:t>All activity entrances share proximity cues and a route back to the</a:t>
            </a:r>
          </a:p>
          <a:p>
            <a:pPr>
              <a:lnSpc>
                <a:spcPct val="105000"/>
              </a:lnSpc>
              <a:spcAft>
                <a:spcPts val="0"/>
              </a:spcAft>
              <a:defRPr sz="1620" b="0">
                <a:solidFill>
                  <a:srgbClr val="303A68"/>
                </a:solidFill>
                <a:latin typeface="Arial"/>
              </a:defRPr>
            </a:pPr>
            <a:r>
              <a:t>map.</a:t>
            </a:r>
          </a:p>
        </p:txBody>
      </p:sp>
      <p:sp>
        <p:nvSpPr>
          <p:cNvPr id="12" name="TextBox 11"/>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07</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SHOWCASE FILM</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From noticing to participating</a:t>
            </a:r>
          </a:p>
        </p:txBody>
      </p:sp>
      <p:sp>
        <p:nvSpPr>
          <p:cNvPr id="6" name="Rounded Rectangle 5"/>
          <p:cNvSpPr/>
          <p:nvPr/>
        </p:nvSpPr>
        <p:spPr>
          <a:xfrm>
            <a:off x="571500" y="1638300"/>
            <a:ext cx="11049000" cy="4076699"/>
          </a:xfrm>
          <a:prstGeom prst="roundRect">
            <a:avLst>
              <a:gd name="adj" fmla="val 14000"/>
            </a:avLst>
          </a:prstGeom>
          <a:solidFill>
            <a:srgbClr val="30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900" y="2118360"/>
            <a:ext cx="9906000" cy="431596"/>
          </a:xfrm>
          <a:prstGeom prst="rect">
            <a:avLst/>
          </a:prstGeom>
          <a:noFill/>
        </p:spPr>
        <p:txBody>
          <a:bodyPr wrap="none" lIns="0" rIns="0" tIns="0" bIns="0">
            <a:spAutoFit/>
          </a:bodyPr>
          <a:lstStyle/>
          <a:p>
            <a:pPr>
              <a:lnSpc>
                <a:spcPct val="105000"/>
              </a:lnSpc>
              <a:spcAft>
                <a:spcPts val="0"/>
              </a:spcAft>
              <a:defRPr sz="2280" b="1">
                <a:solidFill>
                  <a:srgbClr val="FFFFFF"/>
                </a:solidFill>
                <a:latin typeface="Arial"/>
              </a:defRPr>
            </a:pPr>
            <a:r>
              <a:t>INSERT YOUR SHOWCASE VIDEO</a:t>
            </a:r>
          </a:p>
        </p:txBody>
      </p:sp>
      <p:sp>
        <p:nvSpPr>
          <p:cNvPr id="8" name="TextBox 7"/>
          <p:cNvSpPr txBox="1"/>
          <p:nvPr/>
        </p:nvSpPr>
        <p:spPr>
          <a:xfrm>
            <a:off x="1104900" y="2705100"/>
            <a:ext cx="9677400" cy="353568"/>
          </a:xfrm>
          <a:prstGeom prst="rect">
            <a:avLst/>
          </a:prstGeom>
          <a:noFill/>
        </p:spPr>
        <p:txBody>
          <a:bodyPr wrap="none" lIns="0" rIns="0" tIns="0" bIns="0">
            <a:spAutoFit/>
          </a:bodyPr>
          <a:lstStyle/>
          <a:p>
            <a:pPr>
              <a:lnSpc>
                <a:spcPct val="105000"/>
              </a:lnSpc>
              <a:spcAft>
                <a:spcPts val="0"/>
              </a:spcAft>
              <a:defRPr sz="1800" b="0">
                <a:solidFill>
                  <a:srgbClr val="EAE4D7"/>
                </a:solidFill>
                <a:latin typeface="Arial"/>
              </a:defRPr>
            </a:pPr>
            <a:r>
              <a:t>75 seconds / two participants + phones + public display</a:t>
            </a:r>
          </a:p>
        </p:txBody>
      </p:sp>
      <p:sp>
        <p:nvSpPr>
          <p:cNvPr id="9" name="TextBox 8"/>
          <p:cNvSpPr txBox="1"/>
          <p:nvPr/>
        </p:nvSpPr>
        <p:spPr>
          <a:xfrm>
            <a:off x="1104900" y="3467100"/>
            <a:ext cx="8991600" cy="470611"/>
          </a:xfrm>
          <a:prstGeom prst="rect">
            <a:avLst/>
          </a:prstGeom>
          <a:noFill/>
        </p:spPr>
        <p:txBody>
          <a:bodyPr wrap="none" lIns="0" rIns="0" tIns="0" bIns="0">
            <a:spAutoFit/>
          </a:bodyPr>
          <a:lstStyle/>
          <a:p>
            <a:pPr>
              <a:lnSpc>
                <a:spcPct val="105000"/>
              </a:lnSpc>
              <a:spcAft>
                <a:spcPts val="0"/>
              </a:spcAft>
              <a:defRPr sz="2520" b="1">
                <a:solidFill>
                  <a:srgbClr val="FFFFFF"/>
                </a:solidFill>
                <a:latin typeface="Arial"/>
              </a:defRPr>
            </a:pPr>
            <a:r>
              <a:t>Join → meet → collaborate → reflect → listen</a:t>
            </a:r>
          </a:p>
        </p:txBody>
      </p:sp>
      <p:sp>
        <p:nvSpPr>
          <p:cNvPr id="10" name="TextBox 9"/>
          <p:cNvSpPr txBox="1"/>
          <p:nvPr/>
        </p:nvSpPr>
        <p:spPr>
          <a:xfrm>
            <a:off x="1104900" y="4457700"/>
            <a:ext cx="9144000" cy="314553"/>
          </a:xfrm>
          <a:prstGeom prst="rect">
            <a:avLst/>
          </a:prstGeom>
          <a:noFill/>
        </p:spPr>
        <p:txBody>
          <a:bodyPr wrap="none" lIns="0" rIns="0" tIns="0" bIns="0">
            <a:spAutoFit/>
          </a:bodyPr>
          <a:lstStyle/>
          <a:p>
            <a:pPr>
              <a:lnSpc>
                <a:spcPct val="105000"/>
              </a:lnSpc>
              <a:spcAft>
                <a:spcPts val="0"/>
              </a:spcAft>
              <a:defRPr sz="1560" b="0">
                <a:solidFill>
                  <a:srgbClr val="EFDAD3"/>
                </a:solidFill>
                <a:latin typeface="Arial"/>
              </a:defRPr>
            </a:pPr>
            <a:r>
              <a:t>Replace this page with real recorded footage before presenting.</a:t>
            </a:r>
          </a:p>
        </p:txBody>
      </p:sp>
      <p:sp>
        <p:nvSpPr>
          <p:cNvPr id="11" name="TextBox 10"/>
          <p:cNvSpPr txBox="1"/>
          <p:nvPr/>
        </p:nvSpPr>
        <p:spPr>
          <a:xfrm>
            <a:off x="609600" y="6019800"/>
            <a:ext cx="10668000" cy="304800"/>
          </a:xfrm>
          <a:prstGeom prst="rect">
            <a:avLst/>
          </a:prstGeom>
          <a:noFill/>
        </p:spPr>
        <p:txBody>
          <a:bodyPr wrap="none" lIns="0" rIns="0" tIns="0" bIns="0">
            <a:spAutoFit/>
          </a:bodyPr>
          <a:lstStyle/>
          <a:p>
            <a:pPr>
              <a:lnSpc>
                <a:spcPct val="105000"/>
              </a:lnSpc>
              <a:spcAft>
                <a:spcPts val="0"/>
              </a:spcAft>
              <a:defRPr sz="1500" b="0">
                <a:solidFill>
                  <a:srgbClr val="76746E"/>
                </a:solidFill>
                <a:latin typeface="Arial"/>
              </a:defRPr>
            </a:pPr>
            <a:r>
              <a:t>Brief requirement: a 1–2 minute showcase video of the experience in use.</a:t>
            </a:r>
          </a:p>
        </p:txBody>
      </p:sp>
      <p:sp>
        <p:nvSpPr>
          <p:cNvPr id="12" name="TextBox 11"/>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08</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LIVE DEMONSTRATION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Two people. Four choices. One shared drink.</a:t>
            </a:r>
          </a:p>
        </p:txBody>
      </p:sp>
      <p:pic>
        <p:nvPicPr>
          <p:cNvPr id="6" name="Picture 5" descr="drink-maker-matching.png"/>
          <p:cNvPicPr>
            <a:picLocks noChangeAspect="1"/>
          </p:cNvPicPr>
          <p:nvPr/>
        </p:nvPicPr>
        <p:blipFill>
          <a:blip r:embed="rId2"/>
          <a:stretch>
            <a:fillRect/>
          </a:stretch>
        </p:blipFill>
        <p:spPr>
          <a:xfrm>
            <a:off x="784300" y="1752600"/>
            <a:ext cx="1936599" cy="4190999"/>
          </a:xfrm>
          <a:prstGeom prst="rect">
            <a:avLst/>
          </a:prstGeom>
        </p:spPr>
      </p:pic>
      <p:pic>
        <p:nvPicPr>
          <p:cNvPr id="7" name="Picture 6" descr="drink-maker-your-turn.png"/>
          <p:cNvPicPr>
            <a:picLocks noChangeAspect="1"/>
          </p:cNvPicPr>
          <p:nvPr/>
        </p:nvPicPr>
        <p:blipFill>
          <a:blip r:embed="rId3"/>
          <a:stretch>
            <a:fillRect/>
          </a:stretch>
        </p:blipFill>
        <p:spPr>
          <a:xfrm>
            <a:off x="3489400" y="1752600"/>
            <a:ext cx="1936599" cy="4190999"/>
          </a:xfrm>
          <a:prstGeom prst="rect">
            <a:avLst/>
          </a:prstGeom>
        </p:spPr>
      </p:pic>
      <p:pic>
        <p:nvPicPr>
          <p:cNvPr id="8" name="Picture 7" descr="drink-maker-online-finished.png"/>
          <p:cNvPicPr>
            <a:picLocks noChangeAspect="1"/>
          </p:cNvPicPr>
          <p:nvPr/>
        </p:nvPicPr>
        <p:blipFill>
          <a:blip r:embed="rId4"/>
          <a:stretch>
            <a:fillRect/>
          </a:stretch>
        </p:blipFill>
        <p:spPr>
          <a:xfrm>
            <a:off x="6194500" y="1752600"/>
            <a:ext cx="1936599" cy="4190999"/>
          </a:xfrm>
          <a:prstGeom prst="rect">
            <a:avLst/>
          </a:prstGeom>
        </p:spPr>
      </p:pic>
      <p:pic>
        <p:nvPicPr>
          <p:cNvPr id="9" name="Picture 8" descr="join-qr.png"/>
          <p:cNvPicPr>
            <a:picLocks noChangeAspect="1"/>
          </p:cNvPicPr>
          <p:nvPr/>
        </p:nvPicPr>
        <p:blipFill>
          <a:blip r:embed="rId5"/>
          <a:stretch>
            <a:fillRect/>
          </a:stretch>
        </p:blipFill>
        <p:spPr>
          <a:xfrm>
            <a:off x="9067800" y="2057400"/>
            <a:ext cx="2209800" cy="2209800"/>
          </a:xfrm>
          <a:prstGeom prst="rect">
            <a:avLst/>
          </a:prstGeom>
        </p:spPr>
      </p:pic>
      <p:sp>
        <p:nvSpPr>
          <p:cNvPr id="10" name="TextBox 9"/>
          <p:cNvSpPr txBox="1"/>
          <p:nvPr/>
        </p:nvSpPr>
        <p:spPr>
          <a:xfrm>
            <a:off x="8915400" y="4572000"/>
            <a:ext cx="2514600" cy="285292"/>
          </a:xfrm>
          <a:prstGeom prst="rect">
            <a:avLst/>
          </a:prstGeom>
          <a:noFill/>
        </p:spPr>
        <p:txBody>
          <a:bodyPr wrap="none" lIns="0" rIns="0" tIns="0" bIns="0">
            <a:spAutoFit/>
          </a:bodyPr>
          <a:lstStyle/>
          <a:p>
            <a:pPr>
              <a:lnSpc>
                <a:spcPct val="105000"/>
              </a:lnSpc>
              <a:spcAft>
                <a:spcPts val="0"/>
              </a:spcAft>
              <a:defRPr sz="1380" b="1">
                <a:solidFill>
                  <a:srgbClr val="303A68"/>
                </a:solidFill>
                <a:latin typeface="Arial"/>
              </a:defRPr>
            </a:pPr>
            <a:r>
              <a:t>LIVE DEMO</a:t>
            </a:r>
          </a:p>
        </p:txBody>
      </p:sp>
      <p:sp>
        <p:nvSpPr>
          <p:cNvPr id="11" name="TextBox 10"/>
          <p:cNvSpPr txBox="1"/>
          <p:nvPr/>
        </p:nvSpPr>
        <p:spPr>
          <a:xfrm>
            <a:off x="8915400" y="4876800"/>
            <a:ext cx="2514600" cy="79248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Room: showcase</a:t>
            </a:r>
          </a:p>
          <a:p>
            <a:pPr>
              <a:lnSpc>
                <a:spcPct val="105000"/>
              </a:lnSpc>
              <a:spcAft>
                <a:spcPts val="0"/>
              </a:spcAft>
              <a:defRPr sz="1500" b="0">
                <a:solidFill>
                  <a:srgbClr val="4D4B46"/>
                </a:solidFill>
                <a:latin typeface="Arial"/>
              </a:defRPr>
            </a:pPr>
            <a:r>
              <a:t>Two phones, one display</a:t>
            </a:r>
          </a:p>
          <a:p>
            <a:pPr>
              <a:lnSpc>
                <a:spcPct val="105000"/>
              </a:lnSpc>
              <a:spcAft>
                <a:spcPts val="0"/>
              </a:spcAft>
              <a:defRPr sz="1500" b="0">
                <a:solidFill>
                  <a:srgbClr val="4D4B46"/>
                </a:solidFill>
                <a:latin typeface="Arial"/>
              </a:defRPr>
            </a:pPr>
            <a:r>
              <a:t>Target: 55 seconds</a:t>
            </a:r>
          </a:p>
        </p:txBody>
      </p:sp>
      <p:sp>
        <p:nvSpPr>
          <p:cNvPr id="12" name="TextBox 11">
            <a:hlinkClick r:id="rId6"/>
          </p:cNvPr>
          <p:cNvSpPr txBox="1"/>
          <p:nvPr/>
        </p:nvSpPr>
        <p:spPr>
          <a:xfrm>
            <a:off x="8915400" y="5791200"/>
            <a:ext cx="2514600" cy="285292"/>
          </a:xfrm>
          <a:prstGeom prst="rect">
            <a:avLst/>
          </a:prstGeom>
          <a:noFill/>
        </p:spPr>
        <p:txBody>
          <a:bodyPr wrap="none" lIns="0" rIns="0" tIns="0" bIns="0">
            <a:spAutoFit/>
          </a:bodyPr>
          <a:lstStyle/>
          <a:p>
            <a:pPr>
              <a:lnSpc>
                <a:spcPct val="105000"/>
              </a:lnSpc>
              <a:spcAft>
                <a:spcPts val="0"/>
              </a:spcAft>
              <a:defRPr sz="1380" b="1">
                <a:solidFill>
                  <a:srgbClr val="303A68"/>
                </a:solidFill>
                <a:latin typeface="Arial"/>
              </a:defRPr>
            </a:pPr>
            <a:r>
              <a:t>Open public display ↗</a:t>
            </a:r>
          </a:p>
        </p:txBody>
      </p:sp>
      <p:sp>
        <p:nvSpPr>
          <p:cNvPr id="13" name="TextBox 12"/>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09</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SOCIAL UX REFLECTION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The six course principles, applied</a:t>
            </a:r>
          </a:p>
        </p:txBody>
      </p:sp>
      <p:sp>
        <p:nvSpPr>
          <p:cNvPr id="6" name="TextBox 5"/>
          <p:cNvSpPr txBox="1"/>
          <p:nvPr/>
        </p:nvSpPr>
        <p:spPr>
          <a:xfrm>
            <a:off x="609600" y="1409700"/>
            <a:ext cx="10668000" cy="295046"/>
          </a:xfrm>
          <a:prstGeom prst="rect">
            <a:avLst/>
          </a:prstGeom>
          <a:noFill/>
        </p:spPr>
        <p:txBody>
          <a:bodyPr wrap="none" lIns="0" rIns="0" tIns="0" bIns="0">
            <a:spAutoFit/>
          </a:bodyPr>
          <a:lstStyle/>
          <a:p>
            <a:pPr>
              <a:lnSpc>
                <a:spcPct val="105000"/>
              </a:lnSpc>
              <a:spcAft>
                <a:spcPts val="0"/>
              </a:spcAft>
              <a:defRPr sz="1439" b="0">
                <a:solidFill>
                  <a:srgbClr val="76746E"/>
                </a:solidFill>
                <a:latin typeface="Arial"/>
              </a:defRPr>
            </a:pPr>
            <a:r>
              <a:t>A course framework connected to concrete design decisions.</a:t>
            </a:r>
          </a:p>
        </p:txBody>
      </p:sp>
      <p:sp>
        <p:nvSpPr>
          <p:cNvPr id="7" name="Rounded Rectangle 6"/>
          <p:cNvSpPr/>
          <p:nvPr/>
        </p:nvSpPr>
        <p:spPr>
          <a:xfrm>
            <a:off x="571500" y="1905000"/>
            <a:ext cx="3581400" cy="17145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9140" y="2034540"/>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01</a:t>
            </a:r>
          </a:p>
        </p:txBody>
      </p:sp>
      <p:sp>
        <p:nvSpPr>
          <p:cNvPr id="9" name="TextBox 8"/>
          <p:cNvSpPr txBox="1"/>
          <p:nvPr/>
        </p:nvSpPr>
        <p:spPr>
          <a:xfrm>
            <a:off x="739140" y="22860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Sensory Feedback</a:t>
            </a:r>
          </a:p>
        </p:txBody>
      </p:sp>
      <p:sp>
        <p:nvSpPr>
          <p:cNvPr id="10" name="TextBox 9"/>
          <p:cNvSpPr txBox="1"/>
          <p:nvPr/>
        </p:nvSpPr>
        <p:spPr>
          <a:xfrm>
            <a:off x="739140" y="2692908"/>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Piano sound responds to touch.</a:t>
            </a:r>
          </a:p>
        </p:txBody>
      </p:sp>
      <p:sp>
        <p:nvSpPr>
          <p:cNvPr id="11" name="Rounded Rectangle 10"/>
          <p:cNvSpPr/>
          <p:nvPr/>
        </p:nvSpPr>
        <p:spPr>
          <a:xfrm>
            <a:off x="4328160" y="1905000"/>
            <a:ext cx="3581400" cy="17145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5800" y="2034540"/>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02</a:t>
            </a:r>
          </a:p>
        </p:txBody>
      </p:sp>
      <p:sp>
        <p:nvSpPr>
          <p:cNvPr id="13" name="TextBox 12"/>
          <p:cNvSpPr txBox="1"/>
          <p:nvPr/>
        </p:nvSpPr>
        <p:spPr>
          <a:xfrm>
            <a:off x="4495800" y="22860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Embodied Interaction</a:t>
            </a:r>
          </a:p>
        </p:txBody>
      </p:sp>
      <p:sp>
        <p:nvSpPr>
          <p:cNvPr id="14" name="TextBox 13"/>
          <p:cNvSpPr txBox="1"/>
          <p:nvPr/>
        </p:nvSpPr>
        <p:spPr>
          <a:xfrm>
            <a:off x="4495800" y="2692908"/>
            <a:ext cx="32461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Touchscreen control; limited</a:t>
            </a:r>
          </a:p>
          <a:p>
            <a:pPr>
              <a:lnSpc>
                <a:spcPct val="105000"/>
              </a:lnSpc>
              <a:spcAft>
                <a:spcPts val="0"/>
              </a:spcAft>
              <a:defRPr sz="1500" b="0">
                <a:solidFill>
                  <a:srgbClr val="4D4B46"/>
                </a:solidFill>
                <a:latin typeface="Arial"/>
              </a:defRPr>
            </a:pPr>
            <a:r>
              <a:t>embodiment.</a:t>
            </a:r>
          </a:p>
        </p:txBody>
      </p:sp>
      <p:sp>
        <p:nvSpPr>
          <p:cNvPr id="15" name="Rounded Rectangle 14"/>
          <p:cNvSpPr/>
          <p:nvPr/>
        </p:nvSpPr>
        <p:spPr>
          <a:xfrm>
            <a:off x="8084820" y="1905000"/>
            <a:ext cx="3581400" cy="17145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2460" y="2034540"/>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03</a:t>
            </a:r>
          </a:p>
        </p:txBody>
      </p:sp>
      <p:sp>
        <p:nvSpPr>
          <p:cNvPr id="17" name="TextBox 16"/>
          <p:cNvSpPr txBox="1"/>
          <p:nvPr/>
        </p:nvSpPr>
        <p:spPr>
          <a:xfrm>
            <a:off x="8252460" y="22860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Social Dynamics</a:t>
            </a:r>
          </a:p>
        </p:txBody>
      </p:sp>
      <p:sp>
        <p:nvSpPr>
          <p:cNvPr id="18" name="TextBox 17"/>
          <p:cNvSpPr txBox="1"/>
          <p:nvPr/>
        </p:nvSpPr>
        <p:spPr>
          <a:xfrm>
            <a:off x="8252460" y="2692908"/>
            <a:ext cx="32461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Split controls make cooperation</a:t>
            </a:r>
          </a:p>
          <a:p>
            <a:pPr>
              <a:lnSpc>
                <a:spcPct val="105000"/>
              </a:lnSpc>
              <a:spcAft>
                <a:spcPts val="0"/>
              </a:spcAft>
              <a:defRPr sz="1500" b="0">
                <a:solidFill>
                  <a:srgbClr val="4D4B46"/>
                </a:solidFill>
                <a:latin typeface="Arial"/>
              </a:defRPr>
            </a:pPr>
            <a:r>
              <a:t>necessary.</a:t>
            </a:r>
          </a:p>
        </p:txBody>
      </p:sp>
      <p:sp>
        <p:nvSpPr>
          <p:cNvPr id="19" name="Rounded Rectangle 18"/>
          <p:cNvSpPr/>
          <p:nvPr/>
        </p:nvSpPr>
        <p:spPr>
          <a:xfrm>
            <a:off x="571500" y="3848099"/>
            <a:ext cx="3581400" cy="17145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9140" y="3977639"/>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04</a:t>
            </a:r>
          </a:p>
        </p:txBody>
      </p:sp>
      <p:sp>
        <p:nvSpPr>
          <p:cNvPr id="21" name="TextBox 20"/>
          <p:cNvSpPr txBox="1"/>
          <p:nvPr/>
        </p:nvSpPr>
        <p:spPr>
          <a:xfrm>
            <a:off x="739140" y="42291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Resilience &amp; Motivation</a:t>
            </a:r>
          </a:p>
        </p:txBody>
      </p:sp>
      <p:sp>
        <p:nvSpPr>
          <p:cNvPr id="22" name="TextBox 21"/>
          <p:cNvSpPr txBox="1"/>
          <p:nvPr/>
        </p:nvSpPr>
        <p:spPr>
          <a:xfrm>
            <a:off x="739140" y="4636007"/>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Gentler fishing and retry.</a:t>
            </a:r>
          </a:p>
        </p:txBody>
      </p:sp>
      <p:sp>
        <p:nvSpPr>
          <p:cNvPr id="23" name="Rounded Rectangle 22"/>
          <p:cNvSpPr/>
          <p:nvPr/>
        </p:nvSpPr>
        <p:spPr>
          <a:xfrm>
            <a:off x="4328160" y="3848099"/>
            <a:ext cx="3581400" cy="17145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5800" y="3977639"/>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05</a:t>
            </a:r>
          </a:p>
        </p:txBody>
      </p:sp>
      <p:sp>
        <p:nvSpPr>
          <p:cNvPr id="25" name="TextBox 24"/>
          <p:cNvSpPr txBox="1"/>
          <p:nvPr/>
        </p:nvSpPr>
        <p:spPr>
          <a:xfrm>
            <a:off x="4495800" y="42291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Proactivity &amp; Clarity</a:t>
            </a:r>
          </a:p>
        </p:txBody>
      </p:sp>
      <p:sp>
        <p:nvSpPr>
          <p:cNvPr id="26" name="TextBox 25"/>
          <p:cNvSpPr txBox="1"/>
          <p:nvPr/>
        </p:nvSpPr>
        <p:spPr>
          <a:xfrm>
            <a:off x="4495800" y="4636007"/>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Proximity glow and turn cues.</a:t>
            </a:r>
          </a:p>
        </p:txBody>
      </p:sp>
      <p:sp>
        <p:nvSpPr>
          <p:cNvPr id="27" name="Rounded Rectangle 26"/>
          <p:cNvSpPr/>
          <p:nvPr/>
        </p:nvSpPr>
        <p:spPr>
          <a:xfrm>
            <a:off x="8084820" y="3848099"/>
            <a:ext cx="3581400" cy="17145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52460" y="3977639"/>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06</a:t>
            </a:r>
          </a:p>
        </p:txBody>
      </p:sp>
      <p:sp>
        <p:nvSpPr>
          <p:cNvPr id="29" name="TextBox 28"/>
          <p:cNvSpPr txBox="1"/>
          <p:nvPr/>
        </p:nvSpPr>
        <p:spPr>
          <a:xfrm>
            <a:off x="8252460" y="42291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Ethics &amp; Inclusion</a:t>
            </a:r>
          </a:p>
        </p:txBody>
      </p:sp>
      <p:sp>
        <p:nvSpPr>
          <p:cNvPr id="30" name="TextBox 29"/>
          <p:cNvSpPr txBox="1"/>
          <p:nvPr/>
        </p:nvSpPr>
        <p:spPr>
          <a:xfrm>
            <a:off x="8252460" y="4636007"/>
            <a:ext cx="32461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Choice and fair access; barriers</a:t>
            </a:r>
          </a:p>
          <a:p>
            <a:pPr>
              <a:lnSpc>
                <a:spcPct val="105000"/>
              </a:lnSpc>
              <a:spcAft>
                <a:spcPts val="0"/>
              </a:spcAft>
              <a:defRPr sz="1500" b="0">
                <a:solidFill>
                  <a:srgbClr val="4D4B46"/>
                </a:solidFill>
                <a:latin typeface="Arial"/>
              </a:defRPr>
            </a:pPr>
            <a:r>
              <a:t>remain.</a:t>
            </a:r>
          </a:p>
        </p:txBody>
      </p:sp>
      <p:sp>
        <p:nvSpPr>
          <p:cNvPr id="31" name="TextBox 30"/>
          <p:cNvSpPr txBox="1"/>
          <p:nvPr/>
        </p:nvSpPr>
        <p:spPr>
          <a:xfrm>
            <a:off x="609600" y="5928360"/>
            <a:ext cx="10668000" cy="246278"/>
          </a:xfrm>
          <a:prstGeom prst="rect">
            <a:avLst/>
          </a:prstGeom>
          <a:noFill/>
        </p:spPr>
        <p:txBody>
          <a:bodyPr wrap="none" lIns="0" rIns="0" tIns="0" bIns="0">
            <a:spAutoFit/>
          </a:bodyPr>
          <a:lstStyle/>
          <a:p>
            <a:pPr>
              <a:lnSpc>
                <a:spcPct val="105000"/>
              </a:lnSpc>
              <a:spcAft>
                <a:spcPts val="0"/>
              </a:spcAft>
              <a:defRPr sz="1140" b="0">
                <a:solidFill>
                  <a:srgbClr val="76746E"/>
                </a:solidFill>
                <a:latin typeface="Arial"/>
              </a:defRPr>
            </a:pPr>
            <a:r>
              <a:t>Framework: Session 2, p. 6; Session 3, p. 8. Grounding: CSCW / affordances / signifiers (Sessions 2 &amp; 5).</a:t>
            </a:r>
          </a:p>
        </p:txBody>
      </p:sp>
      <p:sp>
        <p:nvSpPr>
          <p:cNvPr id="32" name="TextBox 31"/>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10</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ATMOSPHERE + SENSORY EXPERIENCE</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A familiar campus, with small invitations</a:t>
            </a:r>
          </a:p>
        </p:txBody>
      </p:sp>
      <p:pic>
        <p:nvPicPr>
          <p:cNvPr id="6" name="Picture 5" descr="piano-playing.png"/>
          <p:cNvPicPr>
            <a:picLocks noChangeAspect="1"/>
          </p:cNvPicPr>
          <p:nvPr/>
        </p:nvPicPr>
        <p:blipFill>
          <a:blip r:embed="rId2"/>
          <a:stretch>
            <a:fillRect/>
          </a:stretch>
        </p:blipFill>
        <p:spPr>
          <a:xfrm>
            <a:off x="7841467" y="1562100"/>
            <a:ext cx="2147864" cy="4648200"/>
          </a:xfrm>
          <a:prstGeom prst="rect">
            <a:avLst/>
          </a:prstGeom>
        </p:spPr>
      </p:pic>
      <p:sp>
        <p:nvSpPr>
          <p:cNvPr id="7" name="TextBox 6"/>
          <p:cNvSpPr txBox="1"/>
          <p:nvPr/>
        </p:nvSpPr>
        <p:spPr>
          <a:xfrm>
            <a:off x="609600" y="1866899"/>
            <a:ext cx="64770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A narrative setting</a:t>
            </a:r>
          </a:p>
        </p:txBody>
      </p:sp>
      <p:sp>
        <p:nvSpPr>
          <p:cNvPr id="8" name="TextBox 7"/>
          <p:cNvSpPr txBox="1"/>
          <p:nvPr/>
        </p:nvSpPr>
        <p:spPr>
          <a:xfrm>
            <a:off x="609600" y="2301240"/>
            <a:ext cx="6286500" cy="353568"/>
          </a:xfrm>
          <a:prstGeom prst="rect">
            <a:avLst/>
          </a:prstGeom>
          <a:noFill/>
        </p:spPr>
        <p:txBody>
          <a:bodyPr wrap="none" lIns="0" rIns="0" tIns="0" bIns="0">
            <a:spAutoFit/>
          </a:bodyPr>
          <a:lstStyle/>
          <a:p>
            <a:pPr>
              <a:lnSpc>
                <a:spcPct val="105000"/>
              </a:lnSpc>
              <a:spcAft>
                <a:spcPts val="0"/>
              </a:spcAft>
              <a:defRPr sz="1800" b="0">
                <a:solidFill>
                  <a:srgbClr val="4D4B46"/>
                </a:solidFill>
                <a:latin typeface="Arial"/>
              </a:defRPr>
            </a:pPr>
            <a:r>
              <a:t>A shared campus rather than a linear quest.</a:t>
            </a:r>
          </a:p>
        </p:txBody>
      </p:sp>
      <p:sp>
        <p:nvSpPr>
          <p:cNvPr id="9" name="TextBox 8"/>
          <p:cNvSpPr txBox="1"/>
          <p:nvPr/>
        </p:nvSpPr>
        <p:spPr>
          <a:xfrm>
            <a:off x="609600" y="3200400"/>
            <a:ext cx="64770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Visual invitation</a:t>
            </a:r>
          </a:p>
        </p:txBody>
      </p:sp>
      <p:sp>
        <p:nvSpPr>
          <p:cNvPr id="10" name="TextBox 9"/>
          <p:cNvSpPr txBox="1"/>
          <p:nvPr/>
        </p:nvSpPr>
        <p:spPr>
          <a:xfrm>
            <a:off x="609600" y="3634740"/>
            <a:ext cx="6286500" cy="353568"/>
          </a:xfrm>
          <a:prstGeom prst="rect">
            <a:avLst/>
          </a:prstGeom>
          <a:noFill/>
        </p:spPr>
        <p:txBody>
          <a:bodyPr wrap="none" lIns="0" rIns="0" tIns="0" bIns="0">
            <a:spAutoFit/>
          </a:bodyPr>
          <a:lstStyle/>
          <a:p>
            <a:pPr>
              <a:lnSpc>
                <a:spcPct val="105000"/>
              </a:lnSpc>
              <a:spcAft>
                <a:spcPts val="0"/>
              </a:spcAft>
              <a:defRPr sz="1800" b="0">
                <a:solidFill>
                  <a:srgbClr val="4D4B46"/>
                </a:solidFill>
                <a:latin typeface="Arial"/>
              </a:defRPr>
            </a:pPr>
            <a:r>
              <a:t>Consistent icons, soft colours and proximity glow.</a:t>
            </a:r>
          </a:p>
        </p:txBody>
      </p:sp>
      <p:sp>
        <p:nvSpPr>
          <p:cNvPr id="11" name="TextBox 10"/>
          <p:cNvSpPr txBox="1"/>
          <p:nvPr/>
        </p:nvSpPr>
        <p:spPr>
          <a:xfrm>
            <a:off x="609600" y="4533900"/>
            <a:ext cx="64770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Sensory reward</a:t>
            </a:r>
          </a:p>
        </p:txBody>
      </p:sp>
      <p:sp>
        <p:nvSpPr>
          <p:cNvPr id="12" name="TextBox 11"/>
          <p:cNvSpPr txBox="1"/>
          <p:nvPr/>
        </p:nvSpPr>
        <p:spPr>
          <a:xfrm>
            <a:off x="609600" y="4968240"/>
            <a:ext cx="6286500" cy="353568"/>
          </a:xfrm>
          <a:prstGeom prst="rect">
            <a:avLst/>
          </a:prstGeom>
          <a:noFill/>
        </p:spPr>
        <p:txBody>
          <a:bodyPr wrap="none" lIns="0" rIns="0" tIns="0" bIns="0">
            <a:spAutoFit/>
          </a:bodyPr>
          <a:lstStyle/>
          <a:p>
            <a:pPr>
              <a:lnSpc>
                <a:spcPct val="105000"/>
              </a:lnSpc>
              <a:spcAft>
                <a:spcPts val="0"/>
              </a:spcAft>
              <a:defRPr sz="1800" b="0">
                <a:solidFill>
                  <a:srgbClr val="4D4B46"/>
                </a:solidFill>
                <a:latin typeface="Arial"/>
              </a:defRPr>
            </a:pPr>
            <a:r>
              <a:t>A shared result, a surprising fish, a live melody.</a:t>
            </a:r>
          </a:p>
        </p:txBody>
      </p:sp>
      <p:sp>
        <p:nvSpPr>
          <p:cNvPr id="13" name="TextBox 12"/>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11</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DEVELOPMENT + REFINEMENT</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From initial concept to refined interactions</a:t>
            </a:r>
          </a:p>
        </p:txBody>
      </p:sp>
      <p:sp>
        <p:nvSpPr>
          <p:cNvPr id="6" name="Rounded Rectangle 5"/>
          <p:cNvSpPr/>
          <p:nvPr/>
        </p:nvSpPr>
        <p:spPr>
          <a:xfrm>
            <a:off x="571500" y="1752600"/>
            <a:ext cx="11049000" cy="67056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6760" y="19202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Concept shift</a:t>
            </a:r>
          </a:p>
        </p:txBody>
      </p:sp>
      <p:sp>
        <p:nvSpPr>
          <p:cNvPr id="8" name="TextBox 7"/>
          <p:cNvSpPr txBox="1"/>
          <p:nvPr/>
        </p:nvSpPr>
        <p:spPr>
          <a:xfrm>
            <a:off x="2667000" y="19202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Cultural prompts / shared visuals</a:t>
            </a:r>
          </a:p>
        </p:txBody>
      </p:sp>
      <p:sp>
        <p:nvSpPr>
          <p:cNvPr id="9" name="TextBox 8"/>
          <p:cNvSpPr txBox="1"/>
          <p:nvPr/>
        </p:nvSpPr>
        <p:spPr>
          <a:xfrm>
            <a:off x="6858000" y="19202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Free exploration + shared activities</a:t>
            </a:r>
          </a:p>
        </p:txBody>
      </p:sp>
      <p:sp>
        <p:nvSpPr>
          <p:cNvPr id="10" name="Rounded Rectangle 9"/>
          <p:cNvSpPr/>
          <p:nvPr/>
        </p:nvSpPr>
        <p:spPr>
          <a:xfrm>
            <a:off x="571500" y="2552700"/>
            <a:ext cx="11049000" cy="670560"/>
          </a:xfrm>
          <a:prstGeom prst="roundRect">
            <a:avLst>
              <a:gd name="adj" fmla="val 14000"/>
            </a:avLst>
          </a:prstGeom>
          <a:solidFill>
            <a:srgbClr val="F3E9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760" y="27203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Reliability</a:t>
            </a:r>
          </a:p>
        </p:txBody>
      </p:sp>
      <p:sp>
        <p:nvSpPr>
          <p:cNvPr id="12" name="TextBox 11"/>
          <p:cNvSpPr txBox="1"/>
          <p:nvPr/>
        </p:nvSpPr>
        <p:spPr>
          <a:xfrm>
            <a:off x="2667000" y="27203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Missing players / messages</a:t>
            </a:r>
          </a:p>
        </p:txBody>
      </p:sp>
      <p:sp>
        <p:nvSpPr>
          <p:cNvPr id="13" name="TextBox 12"/>
          <p:cNvSpPr txBox="1"/>
          <p:nvPr/>
        </p:nvSpPr>
        <p:spPr>
          <a:xfrm>
            <a:off x="6858000" y="27203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Refined presence + shared state</a:t>
            </a:r>
          </a:p>
        </p:txBody>
      </p:sp>
      <p:sp>
        <p:nvSpPr>
          <p:cNvPr id="14" name="Rounded Rectangle 13"/>
          <p:cNvSpPr/>
          <p:nvPr/>
        </p:nvSpPr>
        <p:spPr>
          <a:xfrm>
            <a:off x="571500" y="3352800"/>
            <a:ext cx="11049000" cy="67056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6760" y="35204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Mobile view</a:t>
            </a:r>
          </a:p>
        </p:txBody>
      </p:sp>
      <p:sp>
        <p:nvSpPr>
          <p:cNvPr id="16" name="TextBox 15"/>
          <p:cNvSpPr txBox="1"/>
          <p:nvPr/>
        </p:nvSpPr>
        <p:spPr>
          <a:xfrm>
            <a:off x="2667000" y="35204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Small avatar / unused space</a:t>
            </a:r>
          </a:p>
        </p:txBody>
      </p:sp>
      <p:sp>
        <p:nvSpPr>
          <p:cNvPr id="17" name="TextBox 16"/>
          <p:cNvSpPr txBox="1"/>
          <p:nvPr/>
        </p:nvSpPr>
        <p:spPr>
          <a:xfrm>
            <a:off x="6858000" y="35204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35% zoom + full viewport</a:t>
            </a:r>
          </a:p>
        </p:txBody>
      </p:sp>
      <p:sp>
        <p:nvSpPr>
          <p:cNvPr id="18" name="Rounded Rectangle 17"/>
          <p:cNvSpPr/>
          <p:nvPr/>
        </p:nvSpPr>
        <p:spPr>
          <a:xfrm>
            <a:off x="571500" y="4152900"/>
            <a:ext cx="11049000" cy="670560"/>
          </a:xfrm>
          <a:prstGeom prst="roundRect">
            <a:avLst>
              <a:gd name="adj" fmla="val 14000"/>
            </a:avLst>
          </a:prstGeom>
          <a:solidFill>
            <a:srgbClr val="F3E9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760" y="43205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Cooperation</a:t>
            </a:r>
          </a:p>
        </p:txBody>
      </p:sp>
      <p:sp>
        <p:nvSpPr>
          <p:cNvPr id="20" name="TextBox 19"/>
          <p:cNvSpPr txBox="1"/>
          <p:nvPr/>
        </p:nvSpPr>
        <p:spPr>
          <a:xfrm>
            <a:off x="2667000" y="43205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Jerky / difficult fishing</a:t>
            </a:r>
          </a:p>
        </p:txBody>
      </p:sp>
      <p:sp>
        <p:nvSpPr>
          <p:cNvPr id="21" name="TextBox 20"/>
          <p:cNvSpPr txBox="1"/>
          <p:nvPr/>
        </p:nvSpPr>
        <p:spPr>
          <a:xfrm>
            <a:off x="6858000" y="43205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Smoothing + gentler timing</a:t>
            </a:r>
          </a:p>
        </p:txBody>
      </p:sp>
      <p:sp>
        <p:nvSpPr>
          <p:cNvPr id="22" name="Rounded Rectangle 21"/>
          <p:cNvSpPr/>
          <p:nvPr/>
        </p:nvSpPr>
        <p:spPr>
          <a:xfrm>
            <a:off x="571500" y="4953000"/>
            <a:ext cx="11049000" cy="67056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760" y="51206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Shared access</a:t>
            </a:r>
          </a:p>
        </p:txBody>
      </p:sp>
      <p:sp>
        <p:nvSpPr>
          <p:cNvPr id="24" name="TextBox 23"/>
          <p:cNvSpPr txBox="1"/>
          <p:nvPr/>
        </p:nvSpPr>
        <p:spPr>
          <a:xfrm>
            <a:off x="2667000" y="51206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Separate piano page / idle use</a:t>
            </a:r>
          </a:p>
        </p:txBody>
      </p:sp>
      <p:sp>
        <p:nvSpPr>
          <p:cNvPr id="25" name="TextBox 24"/>
          <p:cNvSpPr txBox="1"/>
          <p:nvPr/>
        </p:nvSpPr>
        <p:spPr>
          <a:xfrm>
            <a:off x="6858000" y="51206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Map controls + 8-second release</a:t>
            </a:r>
          </a:p>
        </p:txBody>
      </p:sp>
      <p:sp>
        <p:nvSpPr>
          <p:cNvPr id="26" name="TextBox 25"/>
          <p:cNvSpPr txBox="1"/>
          <p:nvPr/>
        </p:nvSpPr>
        <p:spPr>
          <a:xfrm>
            <a:off x="609600" y="5981700"/>
            <a:ext cx="10668000" cy="265785"/>
          </a:xfrm>
          <a:prstGeom prst="rect">
            <a:avLst/>
          </a:prstGeom>
          <a:noFill/>
        </p:spPr>
        <p:txBody>
          <a:bodyPr wrap="none" lIns="0" rIns="0" tIns="0" bIns="0">
            <a:spAutoFit/>
          </a:bodyPr>
          <a:lstStyle/>
          <a:p>
            <a:pPr>
              <a:lnSpc>
                <a:spcPct val="105000"/>
              </a:lnSpc>
              <a:spcAft>
                <a:spcPts val="0"/>
              </a:spcAft>
              <a:defRPr sz="1260" b="0">
                <a:solidFill>
                  <a:srgbClr val="76746E"/>
                </a:solidFill>
                <a:latin typeface="Arial"/>
              </a:defRPr>
            </a:pPr>
            <a:r>
              <a:t>Initial concept: Social Interactive, slides 5, 7–8. Tokens not carried forward; unused streetlight placeholder removed.</a:t>
            </a:r>
          </a:p>
        </p:txBody>
      </p:sp>
      <p:sp>
        <p:nvSpPr>
          <p:cNvPr id="27" name="TextBox 26"/>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12</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TECHNICAL IMPLEMENTATION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A small architecture for shared participation</a:t>
            </a:r>
          </a:p>
        </p:txBody>
      </p:sp>
      <p:sp>
        <p:nvSpPr>
          <p:cNvPr id="6" name="Rounded Rectangle 5"/>
          <p:cNvSpPr/>
          <p:nvPr/>
        </p:nvSpPr>
        <p:spPr>
          <a:xfrm>
            <a:off x="571500" y="1866899"/>
            <a:ext cx="3276600" cy="18668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9140" y="1996439"/>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PERSONAL INPUT</a:t>
            </a:r>
          </a:p>
        </p:txBody>
      </p:sp>
      <p:sp>
        <p:nvSpPr>
          <p:cNvPr id="8" name="TextBox 7"/>
          <p:cNvSpPr txBox="1"/>
          <p:nvPr/>
        </p:nvSpPr>
        <p:spPr>
          <a:xfrm>
            <a:off x="739140" y="22479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Phones</a:t>
            </a:r>
          </a:p>
        </p:txBody>
      </p:sp>
      <p:sp>
        <p:nvSpPr>
          <p:cNvPr id="9" name="TextBox 8"/>
          <p:cNvSpPr txBox="1"/>
          <p:nvPr/>
        </p:nvSpPr>
        <p:spPr>
          <a:xfrm>
            <a:off x="739140" y="2654808"/>
            <a:ext cx="29413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Choose, move and interact.</a:t>
            </a:r>
          </a:p>
        </p:txBody>
      </p:sp>
      <p:sp>
        <p:nvSpPr>
          <p:cNvPr id="10" name="Rounded Rectangle 9"/>
          <p:cNvSpPr/>
          <p:nvPr/>
        </p:nvSpPr>
        <p:spPr>
          <a:xfrm>
            <a:off x="4457700" y="1866899"/>
            <a:ext cx="3276600" cy="18668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5340" y="1996439"/>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SHARED STATE</a:t>
            </a:r>
          </a:p>
        </p:txBody>
      </p:sp>
      <p:sp>
        <p:nvSpPr>
          <p:cNvPr id="12" name="TextBox 11"/>
          <p:cNvSpPr txBox="1"/>
          <p:nvPr/>
        </p:nvSpPr>
        <p:spPr>
          <a:xfrm>
            <a:off x="4625340" y="22479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Firebase</a:t>
            </a:r>
          </a:p>
        </p:txBody>
      </p:sp>
      <p:sp>
        <p:nvSpPr>
          <p:cNvPr id="13" name="TextBox 12"/>
          <p:cNvSpPr txBox="1"/>
          <p:nvPr/>
        </p:nvSpPr>
        <p:spPr>
          <a:xfrm>
            <a:off x="4625340" y="2654808"/>
            <a:ext cx="29413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Positions, turns, notes and</a:t>
            </a:r>
          </a:p>
          <a:p>
            <a:pPr>
              <a:lnSpc>
                <a:spcPct val="105000"/>
              </a:lnSpc>
              <a:spcAft>
                <a:spcPts val="0"/>
              </a:spcAft>
              <a:defRPr sz="1500" b="0">
                <a:solidFill>
                  <a:srgbClr val="4D4B46"/>
                </a:solidFill>
                <a:latin typeface="Arial"/>
              </a:defRPr>
            </a:pPr>
            <a:r>
              <a:t>wishes.</a:t>
            </a:r>
          </a:p>
        </p:txBody>
      </p:sp>
      <p:sp>
        <p:nvSpPr>
          <p:cNvPr id="14" name="Rounded Rectangle 13"/>
          <p:cNvSpPr/>
          <p:nvPr/>
        </p:nvSpPr>
        <p:spPr>
          <a:xfrm>
            <a:off x="8343900" y="1866899"/>
            <a:ext cx="3276600" cy="1866899"/>
          </a:xfrm>
          <a:prstGeom prst="roundRect">
            <a:avLst>
              <a:gd name="adj" fmla="val 14000"/>
            </a:avLst>
          </a:prstGeom>
          <a:solidFill>
            <a:srgbClr val="DAB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11540" y="1996439"/>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COMMON VIEW</a:t>
            </a:r>
          </a:p>
        </p:txBody>
      </p:sp>
      <p:sp>
        <p:nvSpPr>
          <p:cNvPr id="16" name="TextBox 15"/>
          <p:cNvSpPr txBox="1"/>
          <p:nvPr/>
        </p:nvSpPr>
        <p:spPr>
          <a:xfrm>
            <a:off x="8511540" y="22479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Public display</a:t>
            </a:r>
          </a:p>
        </p:txBody>
      </p:sp>
      <p:sp>
        <p:nvSpPr>
          <p:cNvPr id="17" name="TextBox 16"/>
          <p:cNvSpPr txBox="1"/>
          <p:nvPr/>
        </p:nvSpPr>
        <p:spPr>
          <a:xfrm>
            <a:off x="8511540" y="2654808"/>
            <a:ext cx="29413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See co-presence and shared</a:t>
            </a:r>
          </a:p>
          <a:p>
            <a:pPr>
              <a:lnSpc>
                <a:spcPct val="105000"/>
              </a:lnSpc>
              <a:spcAft>
                <a:spcPts val="0"/>
              </a:spcAft>
              <a:defRPr sz="1500" b="0">
                <a:solidFill>
                  <a:srgbClr val="4D4B46"/>
                </a:solidFill>
                <a:latin typeface="Arial"/>
              </a:defRPr>
            </a:pPr>
            <a:r>
              <a:t>outcomes.</a:t>
            </a:r>
          </a:p>
        </p:txBody>
      </p:sp>
      <p:sp>
        <p:nvSpPr>
          <p:cNvPr id="18" name="TextBox 17"/>
          <p:cNvSpPr txBox="1"/>
          <p:nvPr/>
        </p:nvSpPr>
        <p:spPr>
          <a:xfrm>
            <a:off x="3886200" y="2628900"/>
            <a:ext cx="533400" cy="470611"/>
          </a:xfrm>
          <a:prstGeom prst="rect">
            <a:avLst/>
          </a:prstGeom>
          <a:noFill/>
        </p:spPr>
        <p:txBody>
          <a:bodyPr wrap="none" lIns="0" rIns="0" tIns="0" bIns="0">
            <a:spAutoFit/>
          </a:bodyPr>
          <a:lstStyle/>
          <a:p>
            <a:pPr>
              <a:lnSpc>
                <a:spcPct val="105000"/>
              </a:lnSpc>
              <a:spcAft>
                <a:spcPts val="0"/>
              </a:spcAft>
              <a:defRPr sz="2520" b="0">
                <a:solidFill>
                  <a:srgbClr val="303A68"/>
                </a:solidFill>
                <a:latin typeface="Arial"/>
              </a:defRPr>
            </a:pPr>
            <a:r>
              <a:t>↔</a:t>
            </a:r>
          </a:p>
        </p:txBody>
      </p:sp>
      <p:sp>
        <p:nvSpPr>
          <p:cNvPr id="19" name="TextBox 18"/>
          <p:cNvSpPr txBox="1"/>
          <p:nvPr/>
        </p:nvSpPr>
        <p:spPr>
          <a:xfrm>
            <a:off x="7772400" y="2628900"/>
            <a:ext cx="533400" cy="470611"/>
          </a:xfrm>
          <a:prstGeom prst="rect">
            <a:avLst/>
          </a:prstGeom>
          <a:noFill/>
        </p:spPr>
        <p:txBody>
          <a:bodyPr wrap="none" lIns="0" rIns="0" tIns="0" bIns="0">
            <a:spAutoFit/>
          </a:bodyPr>
          <a:lstStyle/>
          <a:p>
            <a:pPr>
              <a:lnSpc>
                <a:spcPct val="105000"/>
              </a:lnSpc>
              <a:spcAft>
                <a:spcPts val="0"/>
              </a:spcAft>
              <a:defRPr sz="2520" b="0">
                <a:solidFill>
                  <a:srgbClr val="303A68"/>
                </a:solidFill>
                <a:latin typeface="Arial"/>
              </a:defRPr>
            </a:pPr>
            <a:r>
              <a:t>↔</a:t>
            </a:r>
          </a:p>
        </p:txBody>
      </p:sp>
      <p:sp>
        <p:nvSpPr>
          <p:cNvPr id="20" name="TextBox 19"/>
          <p:cNvSpPr txBox="1"/>
          <p:nvPr/>
        </p:nvSpPr>
        <p:spPr>
          <a:xfrm>
            <a:off x="609600" y="4267200"/>
            <a:ext cx="105156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p5.js renders the world. GitHub Pages hosts the site.</a:t>
            </a:r>
          </a:p>
        </p:txBody>
      </p:sp>
      <p:sp>
        <p:nvSpPr>
          <p:cNvPr id="21" name="TextBox 20"/>
          <p:cNvSpPr txBox="1"/>
          <p:nvPr/>
        </p:nvSpPr>
        <p:spPr>
          <a:xfrm>
            <a:off x="609600" y="4838700"/>
            <a:ext cx="105156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Checks: shared player visibility, messages, activity state and iPhone sound.</a:t>
            </a:r>
          </a:p>
        </p:txBody>
      </p:sp>
      <p:sp>
        <p:nvSpPr>
          <p:cNvPr id="22" name="TextBox 21"/>
          <p:cNvSpPr txBox="1"/>
          <p:nvPr/>
        </p:nvSpPr>
        <p:spPr>
          <a:xfrm>
            <a:off x="609600" y="5334000"/>
            <a:ext cx="105156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Exhibition needs: stable internet, charged phones and a recorded fallback.</a:t>
            </a:r>
          </a:p>
        </p:txBody>
      </p:sp>
      <p:sp>
        <p:nvSpPr>
          <p:cNvPr id="23" name="TextBox 22"/>
          <p:cNvSpPr txBox="1"/>
          <p:nvPr/>
        </p:nvSpPr>
        <p:spPr>
          <a:xfrm>
            <a:off x="609600" y="5829300"/>
            <a:ext cx="10515600" cy="285292"/>
          </a:xfrm>
          <a:prstGeom prst="rect">
            <a:avLst/>
          </a:prstGeom>
          <a:noFill/>
        </p:spPr>
        <p:txBody>
          <a:bodyPr wrap="none" lIns="0" rIns="0" tIns="0" bIns="0">
            <a:spAutoFit/>
          </a:bodyPr>
          <a:lstStyle/>
          <a:p>
            <a:pPr>
              <a:lnSpc>
                <a:spcPct val="105000"/>
              </a:lnSpc>
              <a:spcAft>
                <a:spcPts val="0"/>
              </a:spcAft>
              <a:defRPr sz="1380" b="0">
                <a:solidFill>
                  <a:srgbClr val="76746E"/>
                </a:solidFill>
                <a:latin typeface="Arial"/>
              </a:defRPr>
            </a:pPr>
            <a:r>
              <a:t>Automated checks are not a substitute for audience evaluation.</a:t>
            </a:r>
          </a:p>
        </p:txBody>
      </p:sp>
      <p:sp>
        <p:nvSpPr>
          <p:cNvPr id="24" name="TextBox 23"/>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13</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REFLECTION + AUTHORSHIP</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Small invitations. Shared experiences.</a:t>
            </a:r>
          </a:p>
        </p:txBody>
      </p:sp>
      <p:sp>
        <p:nvSpPr>
          <p:cNvPr id="6" name="TextBox 5"/>
          <p:cNvSpPr txBox="1"/>
          <p:nvPr/>
        </p:nvSpPr>
        <p:spPr>
          <a:xfrm>
            <a:off x="609600" y="1790700"/>
            <a:ext cx="6858000" cy="977798"/>
          </a:xfrm>
          <a:prstGeom prst="rect">
            <a:avLst/>
          </a:prstGeom>
          <a:noFill/>
        </p:spPr>
        <p:txBody>
          <a:bodyPr wrap="none" lIns="0" rIns="0" tIns="0" bIns="0">
            <a:spAutoFit/>
          </a:bodyPr>
          <a:lstStyle/>
          <a:p>
            <a:pPr>
              <a:lnSpc>
                <a:spcPct val="105000"/>
              </a:lnSpc>
              <a:spcAft>
                <a:spcPts val="0"/>
              </a:spcAft>
              <a:defRPr sz="2820" b="1">
                <a:solidFill>
                  <a:srgbClr val="303A68"/>
                </a:solidFill>
                <a:latin typeface="Georgia"/>
              </a:defRPr>
            </a:pPr>
            <a:r>
              <a:t>Watch. Listen. Leave a wish.</a:t>
            </a:r>
          </a:p>
          <a:p>
            <a:pPr>
              <a:lnSpc>
                <a:spcPct val="105000"/>
              </a:lnSpc>
              <a:spcAft>
                <a:spcPts val="0"/>
              </a:spcAft>
              <a:defRPr sz="2820" b="1">
                <a:solidFill>
                  <a:srgbClr val="303A68"/>
                </a:solidFill>
                <a:latin typeface="Georgia"/>
              </a:defRPr>
            </a:pPr>
            <a:r>
              <a:t>Or do something together.</a:t>
            </a:r>
          </a:p>
        </p:txBody>
      </p:sp>
      <p:sp>
        <p:nvSpPr>
          <p:cNvPr id="7" name="TextBox 6"/>
          <p:cNvSpPr txBox="1"/>
          <p:nvPr/>
        </p:nvSpPr>
        <p:spPr>
          <a:xfrm>
            <a:off x="609600" y="3162300"/>
            <a:ext cx="6858000" cy="724204"/>
          </a:xfrm>
          <a:prstGeom prst="rect">
            <a:avLst/>
          </a:prstGeom>
          <a:noFill/>
        </p:spPr>
        <p:txBody>
          <a:bodyPr wrap="none" lIns="0" rIns="0" tIns="0" bIns="0">
            <a:spAutoFit/>
          </a:bodyPr>
          <a:lstStyle/>
          <a:p>
            <a:pPr>
              <a:lnSpc>
                <a:spcPct val="105000"/>
              </a:lnSpc>
              <a:spcAft>
                <a:spcPts val="0"/>
              </a:spcAft>
              <a:defRPr sz="2039" b="0">
                <a:solidFill>
                  <a:srgbClr val="4D4B46"/>
                </a:solidFill>
                <a:latin typeface="Arial"/>
              </a:defRPr>
            </a:pPr>
            <a:r>
              <a:t>Next evaluation:</a:t>
            </a:r>
          </a:p>
          <a:p>
            <a:pPr>
              <a:lnSpc>
                <a:spcPct val="105000"/>
              </a:lnSpc>
              <a:spcAft>
                <a:spcPts val="0"/>
              </a:spcAft>
              <a:defRPr sz="2039" b="0">
                <a:solidFill>
                  <a:srgbClr val="4D4B46"/>
                </a:solidFill>
                <a:latin typeface="Arial"/>
              </a:defRPr>
            </a:pPr>
            <a:r>
              <a:t>Do shared activities prompt cultural exchange?</a:t>
            </a:r>
          </a:p>
        </p:txBody>
      </p:sp>
      <p:sp>
        <p:nvSpPr>
          <p:cNvPr id="8" name="TextBox 7"/>
          <p:cNvSpPr txBox="1"/>
          <p:nvPr/>
        </p:nvSpPr>
        <p:spPr>
          <a:xfrm>
            <a:off x="609600" y="4457700"/>
            <a:ext cx="6743700" cy="363321"/>
          </a:xfrm>
          <a:prstGeom prst="rect">
            <a:avLst/>
          </a:prstGeom>
          <a:noFill/>
        </p:spPr>
        <p:txBody>
          <a:bodyPr wrap="none" lIns="0" rIns="0" tIns="0" bIns="0">
            <a:spAutoFit/>
          </a:bodyPr>
          <a:lstStyle/>
          <a:p>
            <a:pPr>
              <a:lnSpc>
                <a:spcPct val="105000"/>
              </a:lnSpc>
              <a:spcAft>
                <a:spcPts val="0"/>
              </a:spcAft>
              <a:defRPr sz="1859" b="0">
                <a:solidFill>
                  <a:srgbClr val="4D4B46"/>
                </a:solidFill>
                <a:latin typeface="Arial"/>
              </a:defRPr>
            </a:pPr>
            <a:r>
              <a:t>AI-generated outputs were selected, tested and refined.</a:t>
            </a:r>
          </a:p>
        </p:txBody>
      </p:sp>
      <p:sp>
        <p:nvSpPr>
          <p:cNvPr id="9" name="Rounded Rectangle 8"/>
          <p:cNvSpPr/>
          <p:nvPr/>
        </p:nvSpPr>
        <p:spPr>
          <a:xfrm>
            <a:off x="7924799" y="1752600"/>
            <a:ext cx="3619500" cy="39243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3399" y="1981199"/>
            <a:ext cx="3124200" cy="285292"/>
          </a:xfrm>
          <a:prstGeom prst="rect">
            <a:avLst/>
          </a:prstGeom>
          <a:noFill/>
        </p:spPr>
        <p:txBody>
          <a:bodyPr wrap="none" lIns="0" rIns="0" tIns="0" bIns="0">
            <a:spAutoFit/>
          </a:bodyPr>
          <a:lstStyle/>
          <a:p>
            <a:pPr>
              <a:lnSpc>
                <a:spcPct val="105000"/>
              </a:lnSpc>
              <a:spcAft>
                <a:spcPts val="0"/>
              </a:spcAft>
              <a:defRPr sz="1380" b="1">
                <a:solidFill>
                  <a:srgbClr val="303A68"/>
                </a:solidFill>
                <a:latin typeface="Arial"/>
              </a:defRPr>
            </a:pPr>
            <a:r>
              <a:t>AI USE</a:t>
            </a:r>
          </a:p>
        </p:txBody>
      </p:sp>
      <p:sp>
        <p:nvSpPr>
          <p:cNvPr id="11" name="TextBox 10"/>
          <p:cNvSpPr txBox="1"/>
          <p:nvPr/>
        </p:nvSpPr>
        <p:spPr>
          <a:xfrm>
            <a:off x="8153399" y="2438400"/>
            <a:ext cx="3048000" cy="968044"/>
          </a:xfrm>
          <a:prstGeom prst="rect">
            <a:avLst/>
          </a:prstGeom>
          <a:noFill/>
        </p:spPr>
        <p:txBody>
          <a:bodyPr wrap="none" lIns="0" rIns="0" tIns="0" bIns="0">
            <a:spAutoFit/>
          </a:bodyPr>
          <a:lstStyle/>
          <a:p>
            <a:pPr>
              <a:lnSpc>
                <a:spcPct val="105000"/>
              </a:lnSpc>
              <a:spcAft>
                <a:spcPts val="0"/>
              </a:spcAft>
              <a:defRPr sz="1859" b="0">
                <a:solidFill>
                  <a:srgbClr val="4D4B46"/>
                </a:solidFill>
                <a:latin typeface="Arial"/>
              </a:defRPr>
            </a:pPr>
            <a:r>
              <a:t>Code + debugging</a:t>
            </a:r>
          </a:p>
          <a:p>
            <a:pPr>
              <a:lnSpc>
                <a:spcPct val="105000"/>
              </a:lnSpc>
              <a:spcAft>
                <a:spcPts val="0"/>
              </a:spcAft>
              <a:defRPr sz="1859" b="0">
                <a:solidFill>
                  <a:srgbClr val="4D4B46"/>
                </a:solidFill>
                <a:latin typeface="Arial"/>
              </a:defRPr>
            </a:pPr>
            <a:r>
              <a:t>Some activity artwork</a:t>
            </a:r>
          </a:p>
          <a:p>
            <a:pPr>
              <a:lnSpc>
                <a:spcPct val="105000"/>
              </a:lnSpc>
              <a:spcAft>
                <a:spcPts val="0"/>
              </a:spcAft>
              <a:defRPr sz="1859" b="0">
                <a:solidFill>
                  <a:srgbClr val="4D4B46"/>
                </a:solidFill>
                <a:latin typeface="Arial"/>
              </a:defRPr>
            </a:pPr>
            <a:r>
              <a:t>Presentation drafting</a:t>
            </a:r>
          </a:p>
        </p:txBody>
      </p:sp>
      <p:sp>
        <p:nvSpPr>
          <p:cNvPr id="12" name="TextBox 11"/>
          <p:cNvSpPr txBox="1"/>
          <p:nvPr/>
        </p:nvSpPr>
        <p:spPr>
          <a:xfrm>
            <a:off x="8153399" y="3924300"/>
            <a:ext cx="3048000" cy="79248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My decisions: visual selection,</a:t>
            </a:r>
          </a:p>
          <a:p>
            <a:pPr>
              <a:lnSpc>
                <a:spcPct val="105000"/>
              </a:lnSpc>
              <a:spcAft>
                <a:spcPts val="0"/>
              </a:spcAft>
              <a:defRPr sz="1500" b="0">
                <a:solidFill>
                  <a:srgbClr val="4D4B46"/>
                </a:solidFill>
                <a:latin typeface="Arial"/>
              </a:defRPr>
            </a:pPr>
            <a:r>
              <a:t>interaction refinement and</a:t>
            </a:r>
          </a:p>
          <a:p>
            <a:pPr>
              <a:lnSpc>
                <a:spcPct val="105000"/>
              </a:lnSpc>
              <a:spcAft>
                <a:spcPts val="0"/>
              </a:spcAft>
              <a:defRPr sz="1500" b="0">
                <a:solidFill>
                  <a:srgbClr val="4D4B46"/>
                </a:solidFill>
                <a:latin typeface="Arial"/>
              </a:defRPr>
            </a:pPr>
            <a:r>
              <a:t>device feedback.</a:t>
            </a:r>
          </a:p>
        </p:txBody>
      </p:sp>
      <p:sp>
        <p:nvSpPr>
          <p:cNvPr id="13" name="TextBox 12"/>
          <p:cNvSpPr txBox="1"/>
          <p:nvPr/>
        </p:nvSpPr>
        <p:spPr>
          <a:xfrm>
            <a:off x="609600" y="5829300"/>
            <a:ext cx="10668000" cy="275539"/>
          </a:xfrm>
          <a:prstGeom prst="rect">
            <a:avLst/>
          </a:prstGeom>
          <a:noFill/>
        </p:spPr>
        <p:txBody>
          <a:bodyPr wrap="none" lIns="0" rIns="0" tIns="0" bIns="0">
            <a:spAutoFit/>
          </a:bodyPr>
          <a:lstStyle/>
          <a:p>
            <a:pPr>
              <a:lnSpc>
                <a:spcPct val="105000"/>
              </a:lnSpc>
              <a:spcAft>
                <a:spcPts val="0"/>
              </a:spcAft>
              <a:defRPr sz="1320" b="0">
                <a:solidFill>
                  <a:srgbClr val="76746E"/>
                </a:solidFill>
                <a:latin typeface="Arial"/>
              </a:defRPr>
            </a:pPr>
            <a:r>
              <a:t>Impact on belonging has not yet been established through an independent participant study.</a:t>
            </a:r>
          </a:p>
        </p:txBody>
      </p:sp>
      <p:sp>
        <p:nvSpPr>
          <p:cNvPr id="14" name="TextBox 13"/>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14</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REFERENCES + CREDITS</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Thank you. Try it together.</a:t>
            </a:r>
          </a:p>
        </p:txBody>
      </p:sp>
      <p:sp>
        <p:nvSpPr>
          <p:cNvPr id="6" name="TextBox 5"/>
          <p:cNvSpPr txBox="1"/>
          <p:nvPr/>
        </p:nvSpPr>
        <p:spPr>
          <a:xfrm>
            <a:off x="609600" y="1790700"/>
            <a:ext cx="10515600" cy="363321"/>
          </a:xfrm>
          <a:prstGeom prst="rect">
            <a:avLst/>
          </a:prstGeom>
          <a:noFill/>
        </p:spPr>
        <p:txBody>
          <a:bodyPr wrap="none" lIns="0" rIns="0" tIns="0" bIns="0">
            <a:spAutoFit/>
          </a:bodyPr>
          <a:lstStyle/>
          <a:p>
            <a:pPr>
              <a:lnSpc>
                <a:spcPct val="105000"/>
              </a:lnSpc>
              <a:spcAft>
                <a:spcPts val="0"/>
              </a:spcAft>
              <a:defRPr sz="1859" b="1">
                <a:solidFill>
                  <a:srgbClr val="303A68"/>
                </a:solidFill>
                <a:latin typeface="Arial"/>
              </a:defRPr>
            </a:pPr>
            <a:r>
              <a:t>Course sources</a:t>
            </a:r>
          </a:p>
        </p:txBody>
      </p:sp>
      <p:sp>
        <p:nvSpPr>
          <p:cNvPr id="7" name="TextBox 6"/>
          <p:cNvSpPr txBox="1"/>
          <p:nvPr/>
        </p:nvSpPr>
        <p:spPr>
          <a:xfrm>
            <a:off x="609600" y="2209800"/>
            <a:ext cx="10515600" cy="103632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GRDE2053. A2 assignment brief, pp. 1–5. Supplied course document, n.d.</a:t>
            </a:r>
          </a:p>
          <a:p>
            <a:pPr>
              <a:lnSpc>
                <a:spcPct val="105000"/>
              </a:lnSpc>
              <a:spcAft>
                <a:spcPts val="0"/>
              </a:spcAft>
              <a:defRPr sz="1500" b="0">
                <a:solidFill>
                  <a:srgbClr val="4D4B46"/>
                </a:solidFill>
                <a:latin typeface="Arial"/>
              </a:defRPr>
            </a:pPr>
            <a:r>
              <a:t>GRDE2053. SIE–DCI A2 Exhibition Showcase marking rubric. Supplied course document, n.d.</a:t>
            </a:r>
          </a:p>
          <a:p>
            <a:pPr>
              <a:lnSpc>
                <a:spcPct val="105000"/>
              </a:lnSpc>
              <a:spcAft>
                <a:spcPts val="0"/>
              </a:spcAft>
              <a:defRPr sz="1500" b="0">
                <a:solidFill>
                  <a:srgbClr val="4D4B46"/>
                </a:solidFill>
                <a:latin typeface="Arial"/>
              </a:defRPr>
            </a:pPr>
            <a:r>
              <a:t>GRDE2053. Sessions 2 (p. 6), 3 (p. 8) and 5 (slides 6–10). Course slides, n.d.</a:t>
            </a:r>
          </a:p>
          <a:p>
            <a:pPr>
              <a:lnSpc>
                <a:spcPct val="105000"/>
              </a:lnSpc>
              <a:spcAft>
                <a:spcPts val="0"/>
              </a:spcAft>
              <a:defRPr sz="1500" b="0">
                <a:solidFill>
                  <a:srgbClr val="4D4B46"/>
                </a:solidFill>
                <a:latin typeface="Arial"/>
              </a:defRPr>
            </a:pPr>
            <a:r>
              <a:t>Initial concept: Social Interactive.pptx, slides 5, 7–8. User-supplied concept deck, n.d.</a:t>
            </a:r>
          </a:p>
        </p:txBody>
      </p:sp>
      <p:sp>
        <p:nvSpPr>
          <p:cNvPr id="8" name="TextBox 7"/>
          <p:cNvSpPr txBox="1"/>
          <p:nvPr/>
        </p:nvSpPr>
        <p:spPr>
          <a:xfrm>
            <a:off x="609600" y="3733799"/>
            <a:ext cx="10515600" cy="363321"/>
          </a:xfrm>
          <a:prstGeom prst="rect">
            <a:avLst/>
          </a:prstGeom>
          <a:noFill/>
        </p:spPr>
        <p:txBody>
          <a:bodyPr wrap="none" lIns="0" rIns="0" tIns="0" bIns="0">
            <a:spAutoFit/>
          </a:bodyPr>
          <a:lstStyle/>
          <a:p>
            <a:pPr>
              <a:lnSpc>
                <a:spcPct val="105000"/>
              </a:lnSpc>
              <a:spcAft>
                <a:spcPts val="0"/>
              </a:spcAft>
              <a:defRPr sz="1859" b="1">
                <a:solidFill>
                  <a:srgbClr val="303A68"/>
                </a:solidFill>
                <a:latin typeface="Arial"/>
              </a:defRPr>
            </a:pPr>
            <a:r>
              <a:t>Project media + implementation</a:t>
            </a:r>
          </a:p>
        </p:txBody>
      </p:sp>
      <p:sp>
        <p:nvSpPr>
          <p:cNvPr id="9" name="TextBox 8"/>
          <p:cNvSpPr txBox="1"/>
          <p:nvPr/>
        </p:nvSpPr>
        <p:spPr>
          <a:xfrm>
            <a:off x="609600" y="4152900"/>
            <a:ext cx="10515600" cy="103632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Prototype screens: public-map-project repository, 2026; controlled browser captures.</a:t>
            </a:r>
          </a:p>
          <a:p>
            <a:pPr>
              <a:lnSpc>
                <a:spcPct val="105000"/>
              </a:lnSpc>
              <a:spcAft>
                <a:spcPts val="0"/>
              </a:spcAft>
              <a:defRPr sz="1500" b="0">
                <a:solidFill>
                  <a:srgbClr val="4D4B46"/>
                </a:solidFill>
                <a:latin typeface="Arial"/>
              </a:defRPr>
            </a:pPr>
            <a:r>
              <a:t>Map / avatars: supplied project assets; original attribution pending in source register.</a:t>
            </a:r>
          </a:p>
          <a:p>
            <a:pPr>
              <a:lnSpc>
                <a:spcPct val="105000"/>
              </a:lnSpc>
              <a:spcAft>
                <a:spcPts val="0"/>
              </a:spcAft>
              <a:defRPr sz="1500" b="0">
                <a:solidFill>
                  <a:srgbClr val="4D4B46"/>
                </a:solidFill>
                <a:latin typeface="Arial"/>
              </a:defRPr>
            </a:pPr>
            <a:r>
              <a:t>Activity icons / fish cut-outs: AI-assisted media; see the accompanying source register.</a:t>
            </a:r>
          </a:p>
          <a:p>
            <a:pPr>
              <a:lnSpc>
                <a:spcPct val="105000"/>
              </a:lnSpc>
              <a:spcAft>
                <a:spcPts val="0"/>
              </a:spcAft>
              <a:defRPr sz="1500" b="0">
                <a:solidFill>
                  <a:srgbClr val="4D4B46"/>
                </a:solidFill>
                <a:latin typeface="Arial"/>
              </a:defRPr>
            </a:pPr>
            <a:r>
              <a:t>p5.js • Firebase Realtime Database • GitHub Pages • Web Audio API.</a:t>
            </a:r>
          </a:p>
        </p:txBody>
      </p:sp>
      <p:sp>
        <p:nvSpPr>
          <p:cNvPr id="10" name="TextBox 9"/>
          <p:cNvSpPr txBox="1"/>
          <p:nvPr/>
        </p:nvSpPr>
        <p:spPr>
          <a:xfrm>
            <a:off x="609600" y="5524500"/>
            <a:ext cx="10515600" cy="275539"/>
          </a:xfrm>
          <a:prstGeom prst="rect">
            <a:avLst/>
          </a:prstGeom>
          <a:noFill/>
        </p:spPr>
        <p:txBody>
          <a:bodyPr wrap="none" lIns="0" rIns="0" tIns="0" bIns="0">
            <a:spAutoFit/>
          </a:bodyPr>
          <a:lstStyle/>
          <a:p>
            <a:pPr>
              <a:lnSpc>
                <a:spcPct val="105000"/>
              </a:lnSpc>
              <a:spcAft>
                <a:spcPts val="0"/>
              </a:spcAft>
              <a:defRPr sz="1320" b="0">
                <a:solidFill>
                  <a:srgbClr val="76746E"/>
                </a:solidFill>
                <a:latin typeface="Arial"/>
              </a:defRPr>
            </a:pPr>
            <a:r>
              <a:t>Supporting credits and AI-use details accompany this presentation.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15</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APPENDIX / NOT PART OF THE TIMED TALK</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Before you submit</a:t>
            </a:r>
          </a:p>
        </p:txBody>
      </p:sp>
      <p:sp>
        <p:nvSpPr>
          <p:cNvPr id="6" name="TextBox 5"/>
          <p:cNvSpPr txBox="1"/>
          <p:nvPr/>
        </p:nvSpPr>
        <p:spPr>
          <a:xfrm>
            <a:off x="647700" y="1790700"/>
            <a:ext cx="10744200" cy="343814"/>
          </a:xfrm>
          <a:prstGeom prst="rect">
            <a:avLst/>
          </a:prstGeom>
          <a:noFill/>
        </p:spPr>
        <p:txBody>
          <a:bodyPr wrap="none" lIns="0" rIns="0" tIns="0" bIns="0">
            <a:spAutoFit/>
          </a:bodyPr>
          <a:lstStyle/>
          <a:p>
            <a:pPr>
              <a:lnSpc>
                <a:spcPct val="105000"/>
              </a:lnSpc>
              <a:spcAft>
                <a:spcPts val="0"/>
              </a:spcAft>
              <a:defRPr sz="1739" b="0">
                <a:solidFill>
                  <a:srgbClr val="303A68"/>
                </a:solidFill>
                <a:latin typeface="Arial"/>
              </a:defRPr>
            </a:pPr>
            <a:r>
              <a:t>01 Fill in your name; check the verified theory mapping and initial-concept comparison.</a:t>
            </a:r>
          </a:p>
        </p:txBody>
      </p:sp>
      <p:sp>
        <p:nvSpPr>
          <p:cNvPr id="7" name="TextBox 6"/>
          <p:cNvSpPr txBox="1"/>
          <p:nvPr/>
        </p:nvSpPr>
        <p:spPr>
          <a:xfrm>
            <a:off x="647700" y="2438400"/>
            <a:ext cx="10744200" cy="343814"/>
          </a:xfrm>
          <a:prstGeom prst="rect">
            <a:avLst/>
          </a:prstGeom>
          <a:noFill/>
        </p:spPr>
        <p:txBody>
          <a:bodyPr wrap="none" lIns="0" rIns="0" tIns="0" bIns="0">
            <a:spAutoFit/>
          </a:bodyPr>
          <a:lstStyle/>
          <a:p>
            <a:pPr>
              <a:lnSpc>
                <a:spcPct val="105000"/>
              </a:lnSpc>
              <a:spcAft>
                <a:spcPts val="0"/>
              </a:spcAft>
              <a:defRPr sz="1739" b="0">
                <a:solidFill>
                  <a:srgbClr val="303A68"/>
                </a:solidFill>
                <a:latin typeface="Arial"/>
              </a:defRPr>
            </a:pPr>
            <a:r>
              <a:t>02 Record and insert a real 1–2 minute showcase film.</a:t>
            </a:r>
          </a:p>
        </p:txBody>
      </p:sp>
      <p:sp>
        <p:nvSpPr>
          <p:cNvPr id="8" name="TextBox 7"/>
          <p:cNvSpPr txBox="1"/>
          <p:nvPr/>
        </p:nvSpPr>
        <p:spPr>
          <a:xfrm>
            <a:off x="647700" y="3086100"/>
            <a:ext cx="10744200" cy="343814"/>
          </a:xfrm>
          <a:prstGeom prst="rect">
            <a:avLst/>
          </a:prstGeom>
          <a:noFill/>
        </p:spPr>
        <p:txBody>
          <a:bodyPr wrap="none" lIns="0" rIns="0" tIns="0" bIns="0">
            <a:spAutoFit/>
          </a:bodyPr>
          <a:lstStyle/>
          <a:p>
            <a:pPr>
              <a:lnSpc>
                <a:spcPct val="105000"/>
              </a:lnSpc>
              <a:spcAft>
                <a:spcPts val="0"/>
              </a:spcAft>
              <a:defRPr sz="1739" b="0">
                <a:solidFill>
                  <a:srgbClr val="303A68"/>
                </a:solidFill>
                <a:latin typeface="Arial"/>
              </a:defRPr>
            </a:pPr>
            <a:r>
              <a:t>03 Rehearse a 5–7 minute presentation including video and live demo.</a:t>
            </a:r>
          </a:p>
        </p:txBody>
      </p:sp>
      <p:sp>
        <p:nvSpPr>
          <p:cNvPr id="9" name="TextBox 8"/>
          <p:cNvSpPr txBox="1"/>
          <p:nvPr/>
        </p:nvSpPr>
        <p:spPr>
          <a:xfrm>
            <a:off x="647700" y="3733799"/>
            <a:ext cx="107442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04 Prepare the separate development PDF: maximum 15 pages, excluding title / references.</a:t>
            </a:r>
          </a:p>
        </p:txBody>
      </p:sp>
      <p:sp>
        <p:nvSpPr>
          <p:cNvPr id="10" name="TextBox 9"/>
          <p:cNvSpPr txBox="1"/>
          <p:nvPr/>
        </p:nvSpPr>
        <p:spPr>
          <a:xfrm>
            <a:off x="647700" y="4381500"/>
            <a:ext cx="107442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05 Include coversheet, requested MP4 / SharePoint link and tutor access.</a:t>
            </a:r>
          </a:p>
        </p:txBody>
      </p:sp>
      <p:sp>
        <p:nvSpPr>
          <p:cNvPr id="11" name="TextBox 10"/>
          <p:cNvSpPr txBox="1"/>
          <p:nvPr/>
        </p:nvSpPr>
        <p:spPr>
          <a:xfrm>
            <a:off x="647700" y="5029200"/>
            <a:ext cx="107442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06 Confirm AI approval, declaration and media attribution; check milestone completion.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