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| 0:00–0:20</a:t>
            </a:r>
          </a:p>
          <a:p/>
          <a:p>
            <a:r>
              <a:t>ENGLISH SCRIPT</a:t>
            </a:r>
          </a:p>
          <a:p>
            <a:r>
              <a:t>Hello, today I’m presenting Shared Campus: a multiplayer campus map designed to make a first connection feel less awkward. People join on their own phones, see one another on a public screen, and choose a small activity to share.</a:t>
            </a:r>
          </a:p>
          <a:p/>
          <a:p>
            <a:r>
              <a:t>中文理解版</a:t>
            </a:r>
          </a:p>
          <a:p>
            <a:r>
              <a:t>大家好，今天展示的是 Shared Campus：一个希望降低初次交流压力的多人校园地图。参与者用自己的手机加入，在公共大屏上看见彼此，并选择一个简短的共同活动。</a:t>
            </a:r>
          </a:p>
          <a:p/>
          <a:p>
            <a:r>
              <a:t>PRESENTER CUE</a:t>
            </a:r>
          </a:p>
          <a:p>
            <a:r>
              <a:t>介绍项目，不要逐个列举功能。填上你的名字。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| 0:20–0:55</a:t>
            </a:r>
          </a:p>
          <a:p/>
          <a:p>
            <a:r>
              <a:t>ENGLISH SCRIPT</a:t>
            </a:r>
          </a:p>
          <a:p>
            <a:r>
              <a:t>My social focus is connection, especially the first interaction between international students who may not already know each other. Instead of asking strangers to begin a conversation, I offer something they can do together. The map also supports joy through playful outcomes, and reflection through shared wishes. These are design intentions, rather than measured social outcomes.</a:t>
            </a:r>
          </a:p>
          <a:p/>
          <a:p>
            <a:r>
              <a:t>中文理解版</a:t>
            </a:r>
          </a:p>
          <a:p>
            <a:r>
              <a:t>核心社会目标是连接，特别是不熟悉彼此的国际学生之间的第一次互动。我没有要求陌生人先开口聊天，而是提供可以共同完成的小事。趣味结果带来快乐，许愿树提供表达与反思的空间。这些是设计目标，不代表已经测量并证明能改善孤独感或归属感。</a:t>
            </a:r>
          </a:p>
          <a:p/>
          <a:p>
            <a:r>
              <a:t>PRESENTER CUE</a:t>
            </a:r>
          </a:p>
          <a:p>
            <a:r>
              <a:t>清楚说出 Connection 是主要焦点；不要把设计动机说成调研结论。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| 0:55–1:20</a:t>
            </a:r>
          </a:p>
          <a:p/>
          <a:p>
            <a:r>
              <a:t>ENGLISH SCRIPT</a:t>
            </a:r>
          </a:p>
          <a:p>
            <a:r>
              <a:t>The entry flow is simple: scan the code, choose a nickname and character, and explore. The public display makes other participants visible, while each phone follows its own character. A first encounter is designed to fit within about two minutes. People can collaborate, leave a wish, listen, or observe before joining.</a:t>
            </a:r>
          </a:p>
          <a:p/>
          <a:p>
            <a:r>
              <a:t>中文理解版</a:t>
            </a:r>
          </a:p>
          <a:p>
            <a:r>
              <a:t>入口流程很简单：扫码、选择昵称和角色、进入地图。公共大屏让参与者看见彼此，手机则跟随自己的角色。第一次简短互动以约两分钟内为目标。参与者可以合作、留言许愿、听琴，也可以先观察。</a:t>
            </a:r>
          </a:p>
          <a:p/>
          <a:p>
            <a:r>
              <a:t>PRESENTER CUE</a:t>
            </a:r>
          </a:p>
          <a:p>
            <a:r>
              <a:t>指出“两分钟”指一次简短参与，不是要求在两分钟内体验完全部地图。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| 1:20–2:35</a:t>
            </a:r>
          </a:p>
          <a:p/>
          <a:p>
            <a:r>
              <a:t>ENGLISH SCRIPT</a:t>
            </a:r>
          </a:p>
          <a:p>
            <a:r>
              <a:t>This short film shows how people enter the shared space and move from noticing each other to participating together.</a:t>
            </a:r>
          </a:p>
          <a:p/>
          <a:p>
            <a:r>
              <a:t>中文理解版</a:t>
            </a:r>
          </a:p>
          <a:p>
            <a:r>
              <a:t>这段短片展示参与者如何进入共享空间，并从注意到彼此，走向共同参与。</a:t>
            </a:r>
          </a:p>
          <a:p/>
          <a:p>
            <a:r>
              <a:t>PRESENTER CUE</a:t>
            </a:r>
          </a:p>
          <a:p>
            <a:r>
              <a:t>播放你实拍的75秒展示视频。当前文件没有嵌入真实参与者视频，必须替换此页占位。不要朗读拍摄分镜。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| 2:35–3:35</a:t>
            </a:r>
          </a:p>
          <a:p/>
          <a:p>
            <a:r>
              <a:t>ENGLISH SCRIPT</a:t>
            </a:r>
          </a:p>
          <a:p>
            <a:r>
              <a:t>Now I’ll demonstrate the drink activity with two phones. Each person makes alternating choices, and both receive the drink they created together.</a:t>
            </a:r>
          </a:p>
          <a:p/>
          <a:p>
            <a:r>
              <a:t>中文理解版</a:t>
            </a:r>
          </a:p>
          <a:p>
            <a:r>
              <a:t>现在用两台手机现场演示饮品制作。两人轮流选择，最后共同得到制作完成的饮品。</a:t>
            </a:r>
          </a:p>
          <a:p/>
          <a:p>
            <a:r>
              <a:t>PRESENTER CUE</a:t>
            </a:r>
          </a:p>
          <a:p>
            <a:r>
              <a:t>提前让两台手机加入 showcase 房间并到饮品店附近。进入匹配→A选基底→B选风味→A选配料→B选装饰→同时展示同一饮品结果→返回地图。控制在60秒内。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| 3:35–4:15</a:t>
            </a:r>
          </a:p>
          <a:p/>
          <a:p>
            <a:r>
              <a:t>ENGLISH SCRIPT</a:t>
            </a:r>
          </a:p>
          <a:p>
            <a:r>
              <a:t>Visible avatars help people notice others. QR entry makes joining easy. Alternating drink choices give both players influence, while fishing needs cooperation. Wishes support quieter expression; the piano includes listeners. Clear exits and automatic release help people share access. I will connect these decisions to the six principles using our course’s exact terminology.</a:t>
            </a:r>
          </a:p>
          <a:p/>
          <a:p>
            <a:r>
              <a:t>中文理解版</a:t>
            </a:r>
          </a:p>
          <a:p>
            <a:r>
              <a:t>这个设计提供了多种参与方式。可见的角色让人注意到他人；简短入口降低参与门槛；共同配方让两人都能影响结果，分工钓鱼则需要协作。许愿支持较安静的表达，钢琴让聆听也成为参与。清晰退出与钢琴8秒无操作让位，也帮助大家共享使用机会。正式版需用课堂六原则的准确术语解释这些决定。</a:t>
            </a:r>
          </a:p>
          <a:p/>
          <a:p>
            <a:r>
              <a:t>PRESENTER CUE</a:t>
            </a:r>
          </a:p>
          <a:p>
            <a:r>
              <a:t>待补：请提供课堂六原则名称和课件来源。当前六张卡片是项目设计证据，不是擅自命名的课堂理论。最终演讲替换最后一句，并为每项原则指出一个具体案例。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| 4:15–4:45</a:t>
            </a:r>
          </a:p>
          <a:p/>
          <a:p>
            <a:r>
              <a:t>ENGLISH SCRIPT</a:t>
            </a:r>
          </a:p>
          <a:p>
            <a:r>
              <a:t>Rather than a linear story, the experience uses a familiar campus setting as its narrative frame. Warm colours, illustrated characters and consistent activity icons create a welcoming atmosphere. Nearby objects glow to invite interaction. Shared drinks, unexpected fish and music provide small sensory rewards, while the public screen makes these individual actions part of a collective scene.</a:t>
            </a:r>
          </a:p>
          <a:p/>
          <a:p>
            <a:r>
              <a:t>中文理解版</a:t>
            </a:r>
          </a:p>
          <a:p>
            <a:r>
              <a:t>体验没有使用线性剧情，而是把熟悉的校园作为叙事框架。暖色、插画角色和统一活动图标营造友好的氛围。靠近时发光的入口引导探索；饮品、意外的鱼和音乐带来小小的感官回报，公共大屏则把个人行动呈现在同一个场景里。</a:t>
            </a:r>
          </a:p>
          <a:p/>
          <a:p>
            <a:r>
              <a:t>PRESENTER CUE</a:t>
            </a:r>
          </a:p>
          <a:p>
            <a:r>
              <a:t>结合截图说明视觉和声音怎样服务体验，不只说“好看”。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| 4:45–5:25</a:t>
            </a:r>
          </a:p>
          <a:p/>
          <a:p>
            <a:r>
              <a:t>ENGLISH SCRIPT</a:t>
            </a:r>
          </a:p>
          <a:p>
            <a:r>
              <a:t>Development was iterative. Early multi-device checks exposed missing players and unreliable message visibility, so presence and shared state needed refinement. Phone feedback led to a larger local view, less empty space and slower movement. Fishing feedback led to smoother display and more forgiving timing. The piano changed from a separate-looking screen to controls over the live map, with clearer spacing and automatic release after eight seconds without a note. The unused streetlight placeholder was removed.</a:t>
            </a:r>
          </a:p>
          <a:p/>
          <a:p>
            <a:r>
              <a:t>中文理解版</a:t>
            </a:r>
          </a:p>
          <a:p>
            <a:r>
              <a:t>开发是逐步迭代的。早期多设备检查发现玩家缺失、消息显示不稳定，因此改进了在线状态和共享数据。手机反馈促使我放大局部视角、减少留白并减慢移动；钓鱼反馈带来了更平滑的显示与更宽松的时机；钢琴则从类似独立页面改为地图上的操作面板，并增加按键间距和8秒无音符自动让位。未完成的路灯占位功能最终被删除。</a:t>
            </a:r>
          </a:p>
          <a:p/>
          <a:p>
            <a:r>
              <a:t>PRESENTER CUE</a:t>
            </a:r>
          </a:p>
          <a:p>
            <a:r>
              <a:t>这些是本项目对话和开发记录可支持的迭代，不要称为正式访谈或大样本用户测试。A1原提案未提供；如有不同，应补上一句最重要的变化。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| 5:25–6:00</a:t>
            </a:r>
          </a:p>
          <a:p/>
          <a:p>
            <a:r>
              <a:t>ENGLISH SCRIPT</a:t>
            </a:r>
          </a:p>
          <a:p>
            <a:r>
              <a:t>The original p5.js project remains the foundation. Firebase shares positions and activity state; GitHub Pages hosts the site. Phones provide personal control, and the screen provides a common view. I checked simulated clients, browsers and actual devices, including iPhone sound. Exhibition still needs stable internet, charged devices and a recorded backup.</a:t>
            </a:r>
          </a:p>
          <a:p/>
          <a:p>
            <a:r>
              <a:t>中文理解版</a:t>
            </a:r>
          </a:p>
          <a:p>
            <a:r>
              <a:t>原有p5.js项目仍然是基础。Firebase同步玩家位置和活动状态，GitHub Pages托管页面。手机负责个人操作，大屏提供共同视角。开发检查包括独立模拟客户端与浏览器测试；实际手机测试也在修复后确认了iPhone出声。展览时仍需准备稳定网络、充足电量和录像备份。</a:t>
            </a:r>
          </a:p>
          <a:p/>
          <a:p>
            <a:r>
              <a:t>PRESENTER CUE</a:t>
            </a:r>
          </a:p>
          <a:p>
            <a:r>
              <a:t>不要把26项自动测试说成26位用户；不要声称在所有设备、所有网络环境下都稳定。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| 6:00–6:35</a:t>
            </a:r>
          </a:p>
          <a:p/>
          <a:p>
            <a:r>
              <a:t>ENGLISH SCRIPT</a:t>
            </a:r>
          </a:p>
          <a:p>
            <a:r>
              <a:t>People can watch, listen, leave a wish or cooperate. The value is in these small invitations. I used generative AI for parts of the code, debugging, artwork and presentation, then selected, tested and refined its outputs. Next, I would observe whether unfamiliar participants can begin an interaction independently, rather than adding more activities.</a:t>
            </a:r>
          </a:p>
          <a:p/>
          <a:p>
            <a:r>
              <a:t>中文理解版</a:t>
            </a:r>
          </a:p>
          <a:p>
            <a:r>
              <a:t>最终体验提供不同程度的社交投入：观看、聆听、留下愿望，或共同合作。价值不在功能数量，而在这些功能创造的小邀请。我在部分代码、调试、活动素材及演示准备中使用了生成式AI，再进行选择、测试与调整。下一步更值得观察不熟悉的参与者是否能独立开始有意义的互动，而不是继续堆加功能。</a:t>
            </a:r>
          </a:p>
          <a:p/>
          <a:p>
            <a:r>
              <a:t>PRESENTER CUE</a:t>
            </a:r>
          </a:p>
          <a:p>
            <a:r>
              <a:t>务必核实并补齐AI来源、导师批准和单元允许范围。不要把AI辅助内容宣称为完全独立编写或手绘。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| 6:35–6:40</a:t>
            </a:r>
          </a:p>
          <a:p/>
          <a:p>
            <a:r>
              <a:t>ENGLISH SCRIPT</a:t>
            </a:r>
          </a:p>
          <a:p>
            <a:r>
              <a:t>Thank you. I’d like to invite you to try the map together.</a:t>
            </a:r>
          </a:p>
          <a:p/>
          <a:p>
            <a:r>
              <a:t>中文理解版</a:t>
            </a:r>
          </a:p>
          <a:p>
            <a:r>
              <a:t>谢谢，欢迎大家一起体验这个地图。</a:t>
            </a:r>
          </a:p>
          <a:p/>
          <a:p>
            <a:r>
              <a:t>PRESENTER CUE</a:t>
            </a:r>
          </a:p>
          <a:p>
            <a:r>
              <a:t>参考资料页保留在屏幕上；不逐条朗读参考文献。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| APPENDIX — do not present</a:t>
            </a:r>
          </a:p>
          <a:p/>
          <a:p>
            <a:r>
              <a:t>ENGLISH SCRIPT</a:t>
            </a:r>
          </a:p>
          <a:p/>
          <a:p/>
          <a:p>
            <a:r>
              <a:t>中文理解版</a:t>
            </a:r>
          </a:p>
          <a:p/>
          <a:p/>
          <a:p>
            <a:r>
              <a:t>PRESENTER CUE</a:t>
            </a:r>
          </a:p>
          <a:p>
            <a:r>
              <a:t>备查页，不计入课堂展示。按brief还需封面、独立development documentation PDF、MP4及SharePoint可访问链接；这套PPT不替代过程文档。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itsangelia.github.io/public-map-project/campus-f3cd85c8e3d0eaa9.html?mode=display&amp;room=showcase" TargetMode="Externa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01</a:t>
            </a:r>
          </a:p>
        </p:txBody>
      </p:sp>
      <p:pic>
        <p:nvPicPr>
          <p:cNvPr id="4" name="Picture 3" descr="fishing-map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956733"/>
            <a:ext cx="7010399" cy="48683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4724400" cy="6324600"/>
          </a:xfrm>
          <a:prstGeom prst="rect">
            <a:avLst/>
          </a:prstGeom>
          <a:solidFill>
            <a:srgbClr val="FF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701040"/>
            <a:ext cx="3886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EXHIBITION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371600"/>
            <a:ext cx="4038600" cy="1758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5220" b="1">
                <a:solidFill>
                  <a:srgbClr val="303A68"/>
                </a:solidFill>
                <a:latin typeface="Georgia"/>
              </a:defRPr>
            </a:pPr>
            <a:r>
              <a:t>Shared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5220" b="1">
                <a:solidFill>
                  <a:srgbClr val="303A68"/>
                </a:solidFill>
                <a:latin typeface="Georgia"/>
              </a:defRPr>
            </a:pPr>
            <a:r>
              <a:t>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390900"/>
            <a:ext cx="3657600" cy="802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280" b="0">
                <a:solidFill>
                  <a:srgbClr val="303A68"/>
                </a:solidFill>
                <a:latin typeface="Arial"/>
              </a:defRPr>
            </a:pPr>
            <a:r>
              <a:t>Small moments.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2280" b="0">
                <a:solidFill>
                  <a:srgbClr val="303A68"/>
                </a:solidFill>
                <a:latin typeface="Arial"/>
              </a:defRPr>
            </a:pPr>
            <a:r>
              <a:t>Shared connections.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48200"/>
            <a:ext cx="36576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620" b="0">
                <a:solidFill>
                  <a:srgbClr val="4D4B46"/>
                </a:solidFill>
                <a:latin typeface="Arial"/>
              </a:defRPr>
            </a:pPr>
            <a:r>
              <a:t>A public map, personal phones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620" b="0">
                <a:solidFill>
                  <a:srgbClr val="4D4B46"/>
                </a:solidFill>
                <a:latin typeface="Arial"/>
              </a:defRPr>
            </a:pPr>
            <a:r>
              <a:t>and playful first encounters.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600700"/>
            <a:ext cx="3886200" cy="285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380" b="0">
                <a:solidFill>
                  <a:srgbClr val="76746E"/>
                </a:solidFill>
                <a:latin typeface="Arial"/>
              </a:defRPr>
            </a:pPr>
            <a:r>
              <a:t>[Your name] · A2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01 / SOCIAL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A small invitation to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05940"/>
            <a:ext cx="6400800" cy="134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640" b="1">
                <a:solidFill>
                  <a:srgbClr val="303A68"/>
                </a:solidFill>
                <a:latin typeface="Arial"/>
              </a:defRPr>
            </a:pPr>
            <a:r>
              <a:t>How might a shared campus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2640" b="1">
                <a:solidFill>
                  <a:srgbClr val="303A68"/>
                </a:solidFill>
                <a:latin typeface="Arial"/>
              </a:defRPr>
            </a:pPr>
            <a:r>
              <a:t>space make a first interaction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2640" b="1">
                <a:solidFill>
                  <a:srgbClr val="303A68"/>
                </a:solidFill>
                <a:latin typeface="Arial"/>
              </a:defRPr>
            </a:pPr>
            <a:r>
              <a:t>easier?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3162300"/>
            <a:ext cx="3429000" cy="1981199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3093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43300"/>
            <a:ext cx="30937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50207"/>
            <a:ext cx="3093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A small shared action before a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conversation.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3162300"/>
            <a:ext cx="3429000" cy="1981199"/>
          </a:xfrm>
          <a:prstGeom prst="roundRect">
            <a:avLst>
              <a:gd name="adj" fmla="val 14000"/>
            </a:avLst>
          </a:prstGeom>
          <a:solidFill>
            <a:srgbClr val="EF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9140" y="3291840"/>
            <a:ext cx="3093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SECONDARY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140" y="3543300"/>
            <a:ext cx="30937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Joy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9140" y="3950207"/>
            <a:ext cx="3093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Playful choices and unexpected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399" y="3162300"/>
            <a:ext cx="3429000" cy="1981199"/>
          </a:xfrm>
          <a:prstGeom prst="roundRect">
            <a:avLst>
              <a:gd name="adj" fmla="val 14000"/>
            </a:avLst>
          </a:prstGeom>
          <a:solidFill>
            <a:srgbClr val="DAB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3093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ALSO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543300"/>
            <a:ext cx="30937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Reflection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950207"/>
            <a:ext cx="3093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Leave a wish. Read someone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else’s.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623560"/>
            <a:ext cx="10668000" cy="334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680" b="0">
                <a:solidFill>
                  <a:srgbClr val="76746E"/>
                </a:solidFill>
                <a:latin typeface="Arial"/>
              </a:defRPr>
            </a:pPr>
            <a:r>
              <a:t>Audience focus: international students and other campus visitors.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248400"/>
            <a:ext cx="10668000" cy="1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840" b="0">
                <a:solidFill>
                  <a:srgbClr val="76746E"/>
                </a:solidFill>
                <a:latin typeface="Arial"/>
              </a:defRPr>
            </a:pPr>
            <a:r>
              <a:t>Images: prototype assets / controlled browser screenshots, project repository (2026).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02 / PARTICIPANT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One shared place. Your own way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943100"/>
            <a:ext cx="2118360" cy="1981199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9140" y="2072640"/>
            <a:ext cx="1783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140" y="2324100"/>
            <a:ext cx="178308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140" y="2731007"/>
            <a:ext cx="1783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Use your own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1780" y="1943100"/>
            <a:ext cx="2118360" cy="1981199"/>
          </a:xfrm>
          <a:prstGeom prst="roundRect">
            <a:avLst>
              <a:gd name="adj" fmla="val 14000"/>
            </a:avLst>
          </a:prstGeom>
          <a:solidFill>
            <a:srgbClr val="EF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9420" y="2072640"/>
            <a:ext cx="1783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9420" y="2324100"/>
            <a:ext cx="178308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Choose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9420" y="2731007"/>
            <a:ext cx="1783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Nickname +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avatar.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2060" y="1943100"/>
            <a:ext cx="2118360" cy="1981199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9700" y="2072640"/>
            <a:ext cx="1783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9700" y="2324100"/>
            <a:ext cx="178308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9700" y="2731007"/>
            <a:ext cx="1783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See others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nearby.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2340" y="1943100"/>
            <a:ext cx="2118360" cy="1981199"/>
          </a:xfrm>
          <a:prstGeom prst="roundRect">
            <a:avLst>
              <a:gd name="adj" fmla="val 14000"/>
            </a:avLst>
          </a:prstGeom>
          <a:solidFill>
            <a:srgbClr val="EF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9980" y="2072640"/>
            <a:ext cx="1783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9980" y="2324100"/>
            <a:ext cx="178308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Notice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9980" y="2731007"/>
            <a:ext cx="1783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Follow a glowing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invitation.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32620" y="1943100"/>
            <a:ext cx="2118360" cy="1981199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00260" y="2072640"/>
            <a:ext cx="1783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0260" y="2324100"/>
            <a:ext cx="178308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Share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0260" y="2731007"/>
            <a:ext cx="1783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Make, play, wish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or listen.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4419600"/>
            <a:ext cx="11049000" cy="1181100"/>
          </a:xfrm>
          <a:prstGeom prst="roundRect">
            <a:avLst>
              <a:gd name="adj" fmla="val 14000"/>
            </a:avLst>
          </a:prstGeom>
          <a:solidFill>
            <a:srgbClr val="30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" y="4594860"/>
            <a:ext cx="10439400" cy="431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280" b="1">
                <a:solidFill>
                  <a:srgbClr val="FFFFFF"/>
                </a:solidFill>
                <a:latin typeface="Arial"/>
              </a:defRPr>
            </a:pPr>
            <a:r>
              <a:t>A first encounter in approximately two minutes or less.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5052060"/>
            <a:ext cx="10439400" cy="3243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620" b="0">
                <a:solidFill>
                  <a:srgbClr val="EBE6DD"/>
                </a:solidFill>
                <a:latin typeface="Arial"/>
              </a:defRPr>
            </a:pPr>
            <a:r>
              <a:t>The whole map can be explored at your own pace.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248400"/>
            <a:ext cx="10668000" cy="1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840" b="0">
                <a:solidFill>
                  <a:srgbClr val="76746E"/>
                </a:solidFill>
                <a:latin typeface="Arial"/>
              </a:defRPr>
            </a:pPr>
            <a:r>
              <a:t>Images: prototype assets / controlled browser screenshots, project repository (2026).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03 / SHOWCASE FILM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From noticing to participating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638300"/>
            <a:ext cx="11049000" cy="4076699"/>
          </a:xfrm>
          <a:prstGeom prst="roundRect">
            <a:avLst>
              <a:gd name="adj" fmla="val 14000"/>
            </a:avLst>
          </a:prstGeom>
          <a:solidFill>
            <a:srgbClr val="30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118360"/>
            <a:ext cx="9906000" cy="431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280" b="1">
                <a:solidFill>
                  <a:srgbClr val="FFFFFF"/>
                </a:solidFill>
                <a:latin typeface="Arial"/>
              </a:defRPr>
            </a:pPr>
            <a:r>
              <a:t>INSERT YOUR SHOWCASE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705100"/>
            <a:ext cx="967740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0">
                <a:solidFill>
                  <a:srgbClr val="EAE4D7"/>
                </a:solidFill>
                <a:latin typeface="Arial"/>
              </a:defRPr>
            </a:pPr>
            <a:r>
              <a:t>75 seconds / two participants + phones + public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467100"/>
            <a:ext cx="8991600" cy="4706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520" b="1">
                <a:solidFill>
                  <a:srgbClr val="FFFFFF"/>
                </a:solidFill>
                <a:latin typeface="Arial"/>
              </a:defRPr>
            </a:pPr>
            <a:r>
              <a:t>Join → meet → collaborate → reflect → listen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457700"/>
            <a:ext cx="91440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EFDAD3"/>
                </a:solidFill>
                <a:latin typeface="Arial"/>
              </a:defRPr>
            </a:pPr>
            <a:r>
              <a:t>Replace this page with real recorded footage before presenting.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19800"/>
            <a:ext cx="1066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76746E"/>
                </a:solidFill>
                <a:latin typeface="Arial"/>
              </a:defRPr>
            </a:pPr>
            <a:r>
              <a:t>Brief requirement: a 1–2 minute showcase video of the experience in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48400"/>
            <a:ext cx="10668000" cy="1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840" b="0">
                <a:solidFill>
                  <a:srgbClr val="76746E"/>
                </a:solidFill>
                <a:latin typeface="Arial"/>
              </a:defRPr>
            </a:pPr>
            <a:r>
              <a:t>Images: prototype assets / controlled browser screenshots, project repository (2026).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04 /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Two people. Four choices. One shared drink.</a:t>
            </a:r>
          </a:p>
        </p:txBody>
      </p:sp>
      <p:pic>
        <p:nvPicPr>
          <p:cNvPr id="6" name="Picture 5" descr="drink-maker-ma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00" y="1752600"/>
            <a:ext cx="1936599" cy="4190999"/>
          </a:xfrm>
          <a:prstGeom prst="rect">
            <a:avLst/>
          </a:prstGeom>
        </p:spPr>
      </p:pic>
      <p:pic>
        <p:nvPicPr>
          <p:cNvPr id="7" name="Picture 6" descr="drink-maker-your-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400" y="1752600"/>
            <a:ext cx="1936599" cy="4190999"/>
          </a:xfrm>
          <a:prstGeom prst="rect">
            <a:avLst/>
          </a:prstGeom>
        </p:spPr>
      </p:pic>
      <p:pic>
        <p:nvPicPr>
          <p:cNvPr id="8" name="Picture 7" descr="drink-maker-online-finish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00" y="1752600"/>
            <a:ext cx="1936599" cy="4190999"/>
          </a:xfrm>
          <a:prstGeom prst="rect">
            <a:avLst/>
          </a:prstGeom>
        </p:spPr>
      </p:pic>
      <p:pic>
        <p:nvPicPr>
          <p:cNvPr id="9" name="Picture 8" descr="join-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2057400"/>
            <a:ext cx="2209800" cy="220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15400" y="4572000"/>
            <a:ext cx="2514600" cy="285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380" b="1">
                <a:solidFill>
                  <a:srgbClr val="303A68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876800"/>
            <a:ext cx="2514600" cy="792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Room: showcase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Two phones, one display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Target: 60 seconds</a:t>
            </a:r>
          </a:p>
        </p:txBody>
      </p:sp>
      <p:sp>
        <p:nvSpPr>
          <p:cNvPr id="12" name="TextBox 11">
            <a:hlinkClick r:id="rId6"/>
          </p:cNvPr>
          <p:cNvSpPr txBox="1"/>
          <p:nvPr/>
        </p:nvSpPr>
        <p:spPr>
          <a:xfrm>
            <a:off x="8915400" y="5791200"/>
            <a:ext cx="2514600" cy="285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380" b="1">
                <a:solidFill>
                  <a:srgbClr val="303A68"/>
                </a:solidFill>
                <a:latin typeface="Arial"/>
              </a:defRPr>
            </a:pPr>
            <a:r>
              <a:t>Open public display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48400"/>
            <a:ext cx="10668000" cy="1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840" b="0">
                <a:solidFill>
                  <a:srgbClr val="76746E"/>
                </a:solidFill>
                <a:latin typeface="Arial"/>
              </a:defRPr>
            </a:pPr>
            <a:r>
              <a:t>Images: prototype assets / controlled browser screenshots, project repository (2026).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05 / SOCIAL UX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Turn course principles into design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09700"/>
            <a:ext cx="1066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A05248"/>
                </a:solidFill>
                <a:latin typeface="Arial"/>
              </a:defRPr>
            </a:pPr>
            <a:r>
              <a:t>COURSE TERMS TO CONFIRM — these are design examples, not verified principle names.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905000"/>
            <a:ext cx="3581400" cy="1714500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2034540"/>
            <a:ext cx="3246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140" y="2286000"/>
            <a:ext cx="32461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Notice others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2692908"/>
            <a:ext cx="324612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Visible avatars on a shared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60" y="1905000"/>
            <a:ext cx="3581400" cy="1714500"/>
          </a:xfrm>
          <a:prstGeom prst="roundRect">
            <a:avLst>
              <a:gd name="adj" fmla="val 14000"/>
            </a:avLst>
          </a:prstGeom>
          <a:solidFill>
            <a:srgbClr val="EF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34540"/>
            <a:ext cx="3246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286000"/>
            <a:ext cx="32461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Lower the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800" y="2692908"/>
            <a:ext cx="32461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QR entry and temporary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identities.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4820" y="1905000"/>
            <a:ext cx="3581400" cy="1714500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2460" y="2034540"/>
            <a:ext cx="3246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2460" y="2286000"/>
            <a:ext cx="32461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Share influence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2460" y="2692908"/>
            <a:ext cx="324612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Alternating drink choices.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48099"/>
            <a:ext cx="3581400" cy="1714500"/>
          </a:xfrm>
          <a:prstGeom prst="roundRect">
            <a:avLst>
              <a:gd name="adj" fmla="val 14000"/>
            </a:avLst>
          </a:prstGeom>
          <a:solidFill>
            <a:srgbClr val="EF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140" y="3977639"/>
            <a:ext cx="3246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40" y="4229100"/>
            <a:ext cx="32461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Need one another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40" y="4636007"/>
            <a:ext cx="324612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Split-axis fishing controls.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8160" y="3848099"/>
            <a:ext cx="3581400" cy="1714500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5800" y="3977639"/>
            <a:ext cx="3246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800" y="4229100"/>
            <a:ext cx="3246120" cy="646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Offer quieter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5800" y="4928616"/>
            <a:ext cx="32461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Wishes, observation and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listening.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4820" y="3848099"/>
            <a:ext cx="3581400" cy="1714500"/>
          </a:xfrm>
          <a:prstGeom prst="roundRect">
            <a:avLst>
              <a:gd name="adj" fmla="val 14000"/>
            </a:avLst>
          </a:prstGeom>
          <a:solidFill>
            <a:srgbClr val="EF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2460" y="3977639"/>
            <a:ext cx="3246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2460" y="4229100"/>
            <a:ext cx="32461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Share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2460" y="4636007"/>
            <a:ext cx="32461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Clear exits and 8-second piano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release.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248400"/>
            <a:ext cx="10668000" cy="1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840" b="0">
                <a:solidFill>
                  <a:srgbClr val="76746E"/>
                </a:solidFill>
                <a:latin typeface="Arial"/>
              </a:defRPr>
            </a:pPr>
            <a:r>
              <a:t>Images: prototype assets / controlled browser screenshots, project repository (2026).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06 / ATMOSPHERE + SENSORY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A familiar campus, with small invitations</a:t>
            </a:r>
          </a:p>
        </p:txBody>
      </p:sp>
      <p:pic>
        <p:nvPicPr>
          <p:cNvPr id="6" name="Picture 5" descr="piano-play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467" y="1562100"/>
            <a:ext cx="2147864" cy="4648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866899"/>
            <a:ext cx="64770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100" b="1">
                <a:solidFill>
                  <a:srgbClr val="303A68"/>
                </a:solidFill>
                <a:latin typeface="Arial"/>
              </a:defRPr>
            </a:pPr>
            <a:r>
              <a:t>A narrative 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01240"/>
            <a:ext cx="628650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0">
                <a:solidFill>
                  <a:srgbClr val="4D4B46"/>
                </a:solidFill>
                <a:latin typeface="Arial"/>
              </a:defRPr>
            </a:pPr>
            <a:r>
              <a:t>A shared campus rather than a linear 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00400"/>
            <a:ext cx="64770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100" b="1">
                <a:solidFill>
                  <a:srgbClr val="303A68"/>
                </a:solidFill>
                <a:latin typeface="Arial"/>
              </a:defRPr>
            </a:pPr>
            <a:r>
              <a:t>Visual invitation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634740"/>
            <a:ext cx="628650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0">
                <a:solidFill>
                  <a:srgbClr val="4D4B46"/>
                </a:solidFill>
                <a:latin typeface="Arial"/>
              </a:defRPr>
            </a:pPr>
            <a:r>
              <a:t>Consistent icons, soft colours and proximity glow.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33900"/>
            <a:ext cx="64770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100" b="1">
                <a:solidFill>
                  <a:srgbClr val="303A68"/>
                </a:solidFill>
                <a:latin typeface="Arial"/>
              </a:defRPr>
            </a:pPr>
            <a:r>
              <a:t>Sensory 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968240"/>
            <a:ext cx="628650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0">
                <a:solidFill>
                  <a:srgbClr val="4D4B46"/>
                </a:solidFill>
                <a:latin typeface="Arial"/>
              </a:defRPr>
            </a:pPr>
            <a:r>
              <a:t>A shared result, a surprising fish, a live melody.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48400"/>
            <a:ext cx="10668000" cy="1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840" b="0">
                <a:solidFill>
                  <a:srgbClr val="76746E"/>
                </a:solidFill>
                <a:latin typeface="Arial"/>
              </a:defRPr>
            </a:pPr>
            <a:r>
              <a:t>Images: prototype assets / controlled browser screenshots, project repository (2026).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07 / DEVELOPMENT +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Specific feedback changed specific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752600"/>
            <a:ext cx="11049000" cy="670560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760" y="1920240"/>
            <a:ext cx="1790700" cy="3243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620" b="1">
                <a:solidFill>
                  <a:srgbClr val="303A68"/>
                </a:solidFill>
                <a:latin typeface="Arial"/>
              </a:defRPr>
            </a:pPr>
            <a:r>
              <a:t>Co-presence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1920240"/>
            <a:ext cx="38862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4D4B46"/>
                </a:solidFill>
                <a:latin typeface="Arial"/>
              </a:defRPr>
            </a:pPr>
            <a:r>
              <a:t>Missing players / 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4958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303A68"/>
                </a:solidFill>
                <a:latin typeface="Arial"/>
              </a:defRPr>
            </a:pPr>
            <a:r>
              <a:t>Refined presence and shared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552700"/>
            <a:ext cx="11049000" cy="670560"/>
          </a:xfrm>
          <a:prstGeom prst="roundRect">
            <a:avLst>
              <a:gd name="adj" fmla="val 14000"/>
            </a:avLst>
          </a:prstGeom>
          <a:solidFill>
            <a:srgbClr val="F3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760" y="2720340"/>
            <a:ext cx="1790700" cy="3243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620" b="1">
                <a:solidFill>
                  <a:srgbClr val="303A68"/>
                </a:solidFill>
                <a:latin typeface="Arial"/>
              </a:defRPr>
            </a:pPr>
            <a:r>
              <a:t>Mobile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0" y="2720340"/>
            <a:ext cx="38862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4D4B46"/>
                </a:solidFill>
                <a:latin typeface="Arial"/>
              </a:defRPr>
            </a:pPr>
            <a:r>
              <a:t>Small avatar / unused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720340"/>
            <a:ext cx="44958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303A68"/>
                </a:solidFill>
                <a:latin typeface="Arial"/>
              </a:defRPr>
            </a:pPr>
            <a:r>
              <a:t>35% zoom, full map viewport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352800"/>
            <a:ext cx="11049000" cy="670560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760" y="3520440"/>
            <a:ext cx="1790700" cy="3243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620" b="1">
                <a:solidFill>
                  <a:srgbClr val="303A68"/>
                </a:solidFill>
                <a:latin typeface="Arial"/>
              </a:defRPr>
            </a:pPr>
            <a:r>
              <a:t>Cooperation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0" y="3520440"/>
            <a:ext cx="38862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4D4B46"/>
                </a:solidFill>
                <a:latin typeface="Arial"/>
              </a:defRPr>
            </a:pPr>
            <a:r>
              <a:t>Jerky or difficult fishing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20440"/>
            <a:ext cx="44958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303A68"/>
                </a:solidFill>
                <a:latin typeface="Arial"/>
              </a:defRPr>
            </a:pPr>
            <a:r>
              <a:t>Smoothing + gentler timing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4152900"/>
            <a:ext cx="11049000" cy="670560"/>
          </a:xfrm>
          <a:prstGeom prst="roundRect">
            <a:avLst>
              <a:gd name="adj" fmla="val 14000"/>
            </a:avLst>
          </a:prstGeom>
          <a:solidFill>
            <a:srgbClr val="F3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760" y="4320540"/>
            <a:ext cx="1790700" cy="3243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620" b="1">
                <a:solidFill>
                  <a:srgbClr val="303A68"/>
                </a:solidFill>
                <a:latin typeface="Arial"/>
              </a:defRPr>
            </a:pPr>
            <a:r>
              <a:t>Shared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7000" y="4320540"/>
            <a:ext cx="38862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4D4B46"/>
                </a:solidFill>
                <a:latin typeface="Arial"/>
              </a:defRPr>
            </a:pPr>
            <a:r>
              <a:t>Separate piano screen / idle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20540"/>
            <a:ext cx="44958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303A68"/>
                </a:solidFill>
                <a:latin typeface="Arial"/>
              </a:defRPr>
            </a:pPr>
            <a:r>
              <a:t>Map overlay + 8-second release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953000"/>
            <a:ext cx="11049000" cy="670560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760" y="5120640"/>
            <a:ext cx="1790700" cy="3243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620" b="1">
                <a:solidFill>
                  <a:srgbClr val="303A68"/>
                </a:solidFill>
                <a:latin typeface="Arial"/>
              </a:defRPr>
            </a:pPr>
            <a:r>
              <a:t>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7000" y="5120640"/>
            <a:ext cx="38862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4D4B46"/>
                </a:solidFill>
                <a:latin typeface="Arial"/>
              </a:defRPr>
            </a:pPr>
            <a:r>
              <a:t>Unused streetlight placeholder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120640"/>
            <a:ext cx="4495800" cy="314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60" b="0">
                <a:solidFill>
                  <a:srgbClr val="303A68"/>
                </a:solidFill>
                <a:latin typeface="Arial"/>
              </a:defRPr>
            </a:pPr>
            <a:r>
              <a:t>Removed from final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981700"/>
            <a:ext cx="10668000" cy="2657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60" b="0">
                <a:solidFill>
                  <a:srgbClr val="76746E"/>
                </a:solidFill>
                <a:latin typeface="Arial"/>
              </a:defRPr>
            </a:pPr>
            <a:r>
              <a:t>Evidence: development log, prototype iterations and device feedback — not a formal audience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248400"/>
            <a:ext cx="10668000" cy="1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840" b="0">
                <a:solidFill>
                  <a:srgbClr val="76746E"/>
                </a:solidFill>
                <a:latin typeface="Arial"/>
              </a:defRPr>
            </a:pPr>
            <a:r>
              <a:t>Images: prototype assets / controlled browser screenshots, project repository (2026).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08 / 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A small architecture for shared participation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866899"/>
            <a:ext cx="3276600" cy="1866899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9140" y="1996439"/>
            <a:ext cx="2941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PERSONAL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140" y="2247900"/>
            <a:ext cx="29413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Phones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140" y="2654808"/>
            <a:ext cx="294132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Choose, move and interact.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7700" y="1866899"/>
            <a:ext cx="3276600" cy="1866899"/>
          </a:xfrm>
          <a:prstGeom prst="roundRect">
            <a:avLst>
              <a:gd name="adj" fmla="val 14000"/>
            </a:avLst>
          </a:prstGeom>
          <a:solidFill>
            <a:srgbClr val="EF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1996439"/>
            <a:ext cx="2941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SHARED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2247900"/>
            <a:ext cx="29413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Firebase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2654808"/>
            <a:ext cx="2941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Positions, turns, notes and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wishes.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3900" y="1866899"/>
            <a:ext cx="3276600" cy="1866899"/>
          </a:xfrm>
          <a:prstGeom prst="roundRect">
            <a:avLst>
              <a:gd name="adj" fmla="val 14000"/>
            </a:avLst>
          </a:prstGeom>
          <a:solidFill>
            <a:srgbClr val="DAB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1540" y="1996439"/>
            <a:ext cx="2941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COMMON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1540" y="2247900"/>
            <a:ext cx="2941320" cy="353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303A68"/>
                </a:solidFill>
                <a:latin typeface="Arial"/>
              </a:defRPr>
            </a:pPr>
            <a:r>
              <a:t>Public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1540" y="2654808"/>
            <a:ext cx="2941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See co-presence and shared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outcomes.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628900"/>
            <a:ext cx="533400" cy="4706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520" b="0">
                <a:solidFill>
                  <a:srgbClr val="303A68"/>
                </a:solidFill>
                <a:latin typeface="Arial"/>
              </a:defRPr>
            </a:pPr>
            <a: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628900"/>
            <a:ext cx="533400" cy="4706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520" b="0">
                <a:solidFill>
                  <a:srgbClr val="303A68"/>
                </a:solidFill>
                <a:latin typeface="Arial"/>
              </a:defRPr>
            </a:pPr>
            <a:r>
              <a:t>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267200"/>
            <a:ext cx="1051560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100" b="1">
                <a:solidFill>
                  <a:srgbClr val="303A68"/>
                </a:solidFill>
                <a:latin typeface="Arial"/>
              </a:defRPr>
            </a:pPr>
            <a:r>
              <a:t>p5.js renders the world. GitHub Pages hosts the site.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838700"/>
            <a:ext cx="10515600" cy="3438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739" b="0">
                <a:solidFill>
                  <a:srgbClr val="4D4B46"/>
                </a:solidFill>
                <a:latin typeface="Arial"/>
              </a:defRPr>
            </a:pPr>
            <a:r>
              <a:t>Verification: 26 local checks + browser checks + reported device trials.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334000"/>
            <a:ext cx="10515600" cy="3438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739" b="0">
                <a:solidFill>
                  <a:srgbClr val="4D4B46"/>
                </a:solidFill>
                <a:latin typeface="Arial"/>
              </a:defRPr>
            </a:pPr>
            <a:r>
              <a:t>Exhibition needs: stable internet, charged phones and a recorded fallback.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829300"/>
            <a:ext cx="10515600" cy="285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380" b="0">
                <a:solidFill>
                  <a:srgbClr val="76746E"/>
                </a:solidFill>
                <a:latin typeface="Arial"/>
              </a:defRPr>
            </a:pPr>
            <a:r>
              <a:t>Automated checks are not a substitute for audience evaluation.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248400"/>
            <a:ext cx="10668000" cy="1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840" b="0">
                <a:solidFill>
                  <a:srgbClr val="76746E"/>
                </a:solidFill>
                <a:latin typeface="Arial"/>
              </a:defRPr>
            </a:pPr>
            <a:r>
              <a:t>Images: prototype assets / controlled browser screenshots, project repository (2026).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09 / REFLECTION + AUTHORSHIP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Small invitations. Shared experiences.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90700"/>
            <a:ext cx="6858000" cy="9777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820" b="1">
                <a:solidFill>
                  <a:srgbClr val="303A68"/>
                </a:solidFill>
                <a:latin typeface="Georgia"/>
              </a:defRPr>
            </a:pPr>
            <a:r>
              <a:t>Watch. Listen. Leave a wish.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2820" b="1">
                <a:solidFill>
                  <a:srgbClr val="303A68"/>
                </a:solidFill>
                <a:latin typeface="Georgia"/>
              </a:defRPr>
            </a:pPr>
            <a:r>
              <a:t>Or do something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62300"/>
            <a:ext cx="6858000" cy="7242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2039" b="0">
                <a:solidFill>
                  <a:srgbClr val="4D4B46"/>
                </a:solidFill>
                <a:latin typeface="Arial"/>
              </a:defRPr>
            </a:pPr>
            <a:r>
              <a:t>Next evaluation: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2039" b="0">
                <a:solidFill>
                  <a:srgbClr val="4D4B46"/>
                </a:solidFill>
                <a:latin typeface="Arial"/>
              </a:defRPr>
            </a:pPr>
            <a:r>
              <a:t>Can unfamiliar participants begin independently?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57700"/>
            <a:ext cx="6743700" cy="6656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59" b="0">
                <a:solidFill>
                  <a:srgbClr val="4D4B46"/>
                </a:solidFill>
                <a:latin typeface="Arial"/>
              </a:defRPr>
            </a:pPr>
            <a:r>
              <a:t>AI-assisted development was selected, tested and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859" b="0">
                <a:solidFill>
                  <a:srgbClr val="4D4B46"/>
                </a:solidFill>
                <a:latin typeface="Arial"/>
              </a:defRPr>
            </a:pPr>
            <a:r>
              <a:t>refined — not treated as finished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799" y="1752600"/>
            <a:ext cx="3619500" cy="3924300"/>
          </a:xfrm>
          <a:prstGeom prst="roundRect">
            <a:avLst>
              <a:gd name="adj" fmla="val 14000"/>
            </a:avLst>
          </a:prstGeom>
          <a:solidFill>
            <a:srgbClr val="E0E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3399" y="1981199"/>
            <a:ext cx="3124200" cy="285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380" b="1">
                <a:solidFill>
                  <a:srgbClr val="303A68"/>
                </a:solidFill>
                <a:latin typeface="Arial"/>
              </a:defRPr>
            </a:pPr>
            <a:r>
              <a:t>AI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399" y="2438400"/>
            <a:ext cx="3048000" cy="968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59" b="0">
                <a:solidFill>
                  <a:srgbClr val="4D4B46"/>
                </a:solidFill>
                <a:latin typeface="Arial"/>
              </a:defRPr>
            </a:pPr>
            <a:r>
              <a:t>Code + debugging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859" b="0">
                <a:solidFill>
                  <a:srgbClr val="4D4B46"/>
                </a:solidFill>
                <a:latin typeface="Arial"/>
              </a:defRPr>
            </a:pPr>
            <a:r>
              <a:t>Some activity artwork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859" b="0">
                <a:solidFill>
                  <a:srgbClr val="4D4B46"/>
                </a:solidFill>
                <a:latin typeface="Arial"/>
              </a:defRPr>
            </a:pPr>
            <a:r>
              <a:t>Presentation drafting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399" y="3924300"/>
            <a:ext cx="3048000" cy="792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Confirm tutor approval,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permitted use and the required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declaration before submission.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829300"/>
            <a:ext cx="10668000" cy="2755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320" b="0">
                <a:solidFill>
                  <a:srgbClr val="76746E"/>
                </a:solidFill>
                <a:latin typeface="Arial"/>
              </a:defRPr>
            </a:pPr>
            <a:r>
              <a:t>Impact on belonging has not yet been established through an independent participant study.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10668000" cy="197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840" b="0">
                <a:solidFill>
                  <a:srgbClr val="76746E"/>
                </a:solidFill>
                <a:latin typeface="Arial"/>
              </a:defRPr>
            </a:pPr>
            <a:r>
              <a:t>Images: prototype assets / controlled browser screenshots, project repository (2026).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REFERENCES + 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Thank you. Try it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90700"/>
            <a:ext cx="10515600" cy="363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59" b="1">
                <a:solidFill>
                  <a:srgbClr val="303A68"/>
                </a:solidFill>
                <a:latin typeface="Arial"/>
              </a:defRPr>
            </a:pPr>
            <a:r>
              <a:t>Course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09800"/>
            <a:ext cx="10515600" cy="792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GRDE2053. A2 assignment brief, pp. 1–5. Supplied course document, n.d.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GRDE2053. SIE–DCI A2 Exhibition Showcase marking rubric. Supplied course document, n.d.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[Add lecture source and exact six Social UX principles before submission.]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05200"/>
            <a:ext cx="10515600" cy="363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859" b="1">
                <a:solidFill>
                  <a:srgbClr val="303A68"/>
                </a:solidFill>
                <a:latin typeface="Arial"/>
              </a:defRPr>
            </a:pPr>
            <a:r>
              <a:t>Project media +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24300"/>
            <a:ext cx="10515600" cy="103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Prototype screens: public-map-project repository, 2026; controlled browser captures.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Map / avatars: user-supplied assets; confirm original creators and licences.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Some activity icons / fish cut-outs: AI-generated or AI-refined; list individual assets.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4D4B46"/>
                </a:solidFill>
                <a:latin typeface="Arial"/>
              </a:defRPr>
            </a:pPr>
            <a:r>
              <a:t>p5.js • Firebase Realtime Database • GitHub Pages • Web Audio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524500"/>
            <a:ext cx="10515600" cy="2755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320" b="0">
                <a:solidFill>
                  <a:srgbClr val="76746E"/>
                </a:solidFill>
                <a:latin typeface="Arial"/>
              </a:defRPr>
            </a:pPr>
            <a:r>
              <a:t>References here use a provisional author–date format. Match the referencing style in your unit outline.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6477000"/>
            <a:ext cx="9906000" cy="226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019" b="0">
                <a:solidFill>
                  <a:srgbClr val="76746E"/>
                </a:solidFill>
                <a:latin typeface="Arial"/>
              </a:defRPr>
            </a:pPr>
            <a:r>
              <a:t>SHARED CAMPUS / GRDE2053 Social Interactive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7000"/>
            <a:ext cx="533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303A6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5760"/>
            <a:ext cx="1104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76746E"/>
                </a:solidFill>
                <a:latin typeface="Arial"/>
              </a:defRPr>
            </a:pPr>
            <a:r>
              <a:t>APPENDIX / NOT PART OF THE TIMED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08660"/>
            <a:ext cx="11049000" cy="587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3240" b="1">
                <a:solidFill>
                  <a:srgbClr val="303A68"/>
                </a:solidFill>
                <a:latin typeface="Georgia"/>
              </a:defRPr>
            </a:pPr>
            <a:r>
              <a:t>Before you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1790700"/>
            <a:ext cx="10744200" cy="3438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739" b="0">
                <a:solidFill>
                  <a:srgbClr val="303A68"/>
                </a:solidFill>
                <a:latin typeface="Arial"/>
              </a:defRPr>
            </a:pPr>
            <a:r>
              <a:t>01 Fill in your name and exact six course principles + lecture citations.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438400"/>
            <a:ext cx="10744200" cy="3438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739" b="0">
                <a:solidFill>
                  <a:srgbClr val="303A68"/>
                </a:solidFill>
                <a:latin typeface="Arial"/>
              </a:defRPr>
            </a:pPr>
            <a:r>
              <a:t>02 Record and insert a real 1–2 minute showcase film.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3086100"/>
            <a:ext cx="10744200" cy="3438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739" b="0">
                <a:solidFill>
                  <a:srgbClr val="303A68"/>
                </a:solidFill>
                <a:latin typeface="Arial"/>
              </a:defRPr>
            </a:pPr>
            <a:r>
              <a:t>03 Rehearse a 5–7 minute presentation including video and live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733799"/>
            <a:ext cx="10744200" cy="3438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739" b="0">
                <a:solidFill>
                  <a:srgbClr val="4D4B46"/>
                </a:solidFill>
                <a:latin typeface="Arial"/>
              </a:defRPr>
            </a:pPr>
            <a:r>
              <a:t>04 Prepare the separate development PDF: maximum 15 pages, excluding title / references.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4381500"/>
            <a:ext cx="10744200" cy="3438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739" b="0">
                <a:solidFill>
                  <a:srgbClr val="4D4B46"/>
                </a:solidFill>
                <a:latin typeface="Arial"/>
              </a:defRPr>
            </a:pPr>
            <a:r>
              <a:t>05 Include coversheet, requested MP4 / SharePoint link and tutor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5029200"/>
            <a:ext cx="10744200" cy="3438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1739" b="0">
                <a:solidFill>
                  <a:srgbClr val="4D4B46"/>
                </a:solidFill>
                <a:latin typeface="Arial"/>
              </a:defRPr>
            </a:pPr>
            <a:r>
              <a:t>06 Confirm AI approval, declaration and media attribution; check milestone completion.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